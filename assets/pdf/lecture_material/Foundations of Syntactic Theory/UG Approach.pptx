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90" r:id="rId30"/>
    <p:sldId id="291" r:id="rId31"/>
    <p:sldId id="292" r:id="rId32"/>
    <p:sldId id="288" r:id="rId33"/>
    <p:sldId id="293" r:id="rId34"/>
    <p:sldId id="294" r:id="rId35"/>
    <p:sldId id="295" r:id="rId36"/>
    <p:sldId id="296" r:id="rId37"/>
    <p:sldId id="300" r:id="rId38"/>
    <p:sldId id="301" r:id="rId39"/>
    <p:sldId id="302" r:id="rId40"/>
    <p:sldId id="303" r:id="rId41"/>
    <p:sldId id="297" r:id="rId42"/>
    <p:sldId id="298" r:id="rId43"/>
    <p:sldId id="299" r:id="rId44"/>
    <p:sldId id="304" r:id="rId45"/>
    <p:sldId id="305" r:id="rId46"/>
    <p:sldId id="306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62" autoAdjust="0"/>
    <p:restoredTop sz="94660"/>
  </p:normalViewPr>
  <p:slideViewPr>
    <p:cSldViewPr>
      <p:cViewPr>
        <p:scale>
          <a:sx n="75" d="100"/>
          <a:sy n="75" d="100"/>
        </p:scale>
        <p:origin x="-114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46CD28-F425-4866-B381-5ED986640F20}" type="doc">
      <dgm:prSet loTypeId="urn:microsoft.com/office/officeart/2008/layout/HexagonCluster" loCatId="picture" qsTypeId="urn:microsoft.com/office/officeart/2005/8/quickstyle/simple2" qsCatId="simple" csTypeId="urn:microsoft.com/office/officeart/2005/8/colors/accent1_2" csCatId="accent1" phldr="1"/>
      <dgm:spPr/>
    </dgm:pt>
    <dgm:pt modelId="{B3DD6ED1-E656-4428-BAF0-8FC64DAEEB8B}">
      <dgm:prSet phldrT="[Metin]"/>
      <dgm:spPr/>
      <dgm:t>
        <a:bodyPr/>
        <a:lstStyle/>
        <a:p>
          <a:r>
            <a:rPr lang="tr-TR" dirty="0" err="1" smtClean="0">
              <a:solidFill>
                <a:schemeClr val="tx1"/>
              </a:solidFill>
            </a:rPr>
            <a:t>Noam</a:t>
          </a:r>
          <a:r>
            <a:rPr lang="tr-TR" dirty="0" smtClean="0">
              <a:solidFill>
                <a:schemeClr val="tx1"/>
              </a:solidFill>
            </a:rPr>
            <a:t> </a:t>
          </a:r>
        </a:p>
        <a:p>
          <a:r>
            <a:rPr lang="tr-TR" dirty="0" smtClean="0">
              <a:solidFill>
                <a:schemeClr val="tx1"/>
              </a:solidFill>
            </a:rPr>
            <a:t>Chomsky</a:t>
          </a:r>
          <a:endParaRPr lang="en-GB" dirty="0">
            <a:solidFill>
              <a:schemeClr val="tx1"/>
            </a:solidFill>
          </a:endParaRPr>
        </a:p>
      </dgm:t>
    </dgm:pt>
    <dgm:pt modelId="{A90431B5-734F-424E-AFE6-2CA4B2682B50}" type="parTrans" cxnId="{879F4802-AC58-4DD8-836F-D86D972D5E94}">
      <dgm:prSet/>
      <dgm:spPr/>
      <dgm:t>
        <a:bodyPr/>
        <a:lstStyle/>
        <a:p>
          <a:endParaRPr lang="en-GB"/>
        </a:p>
      </dgm:t>
    </dgm:pt>
    <dgm:pt modelId="{8EBAB623-7EB0-4E7A-952E-87AA6813D136}" type="sibTrans" cxnId="{879F4802-AC58-4DD8-836F-D86D972D5E94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  <dgm:t>
        <a:bodyPr/>
        <a:lstStyle/>
        <a:p>
          <a:endParaRPr lang="en-GB"/>
        </a:p>
      </dgm:t>
      <dgm:extLst>
        <a:ext uri="{E40237B7-FDA0-4F09-8148-C483321AD2D9}">
          <dgm14:cNvPr xmlns:dgm14="http://schemas.microsoft.com/office/drawing/2010/diagram" id="0" name="" descr="C:\Users\ASUS\Desktop\brain-786618.JPG"/>
        </a:ext>
      </dgm:extLst>
    </dgm:pt>
    <dgm:pt modelId="{EA8EA882-8716-4BFB-BEDB-46D8F3FD76B7}" type="pres">
      <dgm:prSet presAssocID="{3546CD28-F425-4866-B381-5ED986640F20}" presName="Name0" presStyleCnt="0">
        <dgm:presLayoutVars>
          <dgm:chMax val="21"/>
          <dgm:chPref val="21"/>
        </dgm:presLayoutVars>
      </dgm:prSet>
      <dgm:spPr/>
    </dgm:pt>
    <dgm:pt modelId="{91A48DA2-8C58-4A62-A34D-A6EB9D8F1541}" type="pres">
      <dgm:prSet presAssocID="{B3DD6ED1-E656-4428-BAF0-8FC64DAEEB8B}" presName="text1" presStyleCnt="0"/>
      <dgm:spPr/>
    </dgm:pt>
    <dgm:pt modelId="{02551CF7-AAD2-4F64-A79B-AB8681B995B9}" type="pres">
      <dgm:prSet presAssocID="{B3DD6ED1-E656-4428-BAF0-8FC64DAEEB8B}" presName="textRepeatNode" presStyleLbl="alignNode1" presStyleIdx="0" presStyleCnt="1" custLinFactNeighborX="-1237" custLinFactNeighborY="1650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CDF9057-0859-4485-A426-0DD657436F3B}" type="pres">
      <dgm:prSet presAssocID="{B3DD6ED1-E656-4428-BAF0-8FC64DAEEB8B}" presName="textaccent1" presStyleCnt="0"/>
      <dgm:spPr/>
    </dgm:pt>
    <dgm:pt modelId="{46D6D9F4-5A40-4BA6-A27C-0D71C49B8C60}" type="pres">
      <dgm:prSet presAssocID="{B3DD6ED1-E656-4428-BAF0-8FC64DAEEB8B}" presName="accentRepeatNode" presStyleLbl="solidAlignAcc1" presStyleIdx="0" presStyleCnt="2"/>
      <dgm:spPr/>
    </dgm:pt>
    <dgm:pt modelId="{5EB0948D-458D-4823-BC63-334AB2EAB32D}" type="pres">
      <dgm:prSet presAssocID="{8EBAB623-7EB0-4E7A-952E-87AA6813D136}" presName="image1" presStyleCnt="0"/>
      <dgm:spPr/>
    </dgm:pt>
    <dgm:pt modelId="{817FAAE1-CEA1-45A1-ACCA-5852A2A6B40B}" type="pres">
      <dgm:prSet presAssocID="{8EBAB623-7EB0-4E7A-952E-87AA6813D136}" presName="imageRepeatNode" presStyleLbl="alignAcc1" presStyleIdx="0" presStyleCnt="1" custScaleX="103919" custScaleY="117021" custLinFactNeighborX="-4527" custLinFactNeighborY="11466"/>
      <dgm:spPr/>
      <dgm:t>
        <a:bodyPr/>
        <a:lstStyle/>
        <a:p>
          <a:endParaRPr lang="en-US"/>
        </a:p>
      </dgm:t>
    </dgm:pt>
    <dgm:pt modelId="{12B4EC90-C797-4F1A-AF27-7686451EFF00}" type="pres">
      <dgm:prSet presAssocID="{8EBAB623-7EB0-4E7A-952E-87AA6813D136}" presName="imageaccent1" presStyleCnt="0"/>
      <dgm:spPr/>
    </dgm:pt>
    <dgm:pt modelId="{92185DD2-1C1B-486C-8C0D-EB02371DDAAC}" type="pres">
      <dgm:prSet presAssocID="{8EBAB623-7EB0-4E7A-952E-87AA6813D136}" presName="accentRepeatNode" presStyleLbl="solidAlignAcc1" presStyleIdx="1" presStyleCnt="2"/>
      <dgm:spPr/>
    </dgm:pt>
  </dgm:ptLst>
  <dgm:cxnLst>
    <dgm:cxn modelId="{38DD41B3-3AD8-49EF-BFE7-1649627B4EB9}" type="presOf" srcId="{8EBAB623-7EB0-4E7A-952E-87AA6813D136}" destId="{817FAAE1-CEA1-45A1-ACCA-5852A2A6B40B}" srcOrd="0" destOrd="0" presId="urn:microsoft.com/office/officeart/2008/layout/HexagonCluster"/>
    <dgm:cxn modelId="{0B063568-833D-4DE4-8309-59615A7D51D9}" type="presOf" srcId="{3546CD28-F425-4866-B381-5ED986640F20}" destId="{EA8EA882-8716-4BFB-BEDB-46D8F3FD76B7}" srcOrd="0" destOrd="0" presId="urn:microsoft.com/office/officeart/2008/layout/HexagonCluster"/>
    <dgm:cxn modelId="{879F4802-AC58-4DD8-836F-D86D972D5E94}" srcId="{3546CD28-F425-4866-B381-5ED986640F20}" destId="{B3DD6ED1-E656-4428-BAF0-8FC64DAEEB8B}" srcOrd="0" destOrd="0" parTransId="{A90431B5-734F-424E-AFE6-2CA4B2682B50}" sibTransId="{8EBAB623-7EB0-4E7A-952E-87AA6813D136}"/>
    <dgm:cxn modelId="{6D1AF891-EE1F-4C38-9046-6A1C4983B701}" type="presOf" srcId="{B3DD6ED1-E656-4428-BAF0-8FC64DAEEB8B}" destId="{02551CF7-AAD2-4F64-A79B-AB8681B995B9}" srcOrd="0" destOrd="0" presId="urn:microsoft.com/office/officeart/2008/layout/HexagonCluster"/>
    <dgm:cxn modelId="{DA23D5D8-85A9-4D33-947A-5F5C843D0F1F}" type="presParOf" srcId="{EA8EA882-8716-4BFB-BEDB-46D8F3FD76B7}" destId="{91A48DA2-8C58-4A62-A34D-A6EB9D8F1541}" srcOrd="0" destOrd="0" presId="urn:microsoft.com/office/officeart/2008/layout/HexagonCluster"/>
    <dgm:cxn modelId="{1DD359C3-95B2-4F25-B45A-BC03C47CEB3F}" type="presParOf" srcId="{91A48DA2-8C58-4A62-A34D-A6EB9D8F1541}" destId="{02551CF7-AAD2-4F64-A79B-AB8681B995B9}" srcOrd="0" destOrd="0" presId="urn:microsoft.com/office/officeart/2008/layout/HexagonCluster"/>
    <dgm:cxn modelId="{97785000-B329-40B6-9872-3B44345F0E7D}" type="presParOf" srcId="{EA8EA882-8716-4BFB-BEDB-46D8F3FD76B7}" destId="{4CDF9057-0859-4485-A426-0DD657436F3B}" srcOrd="1" destOrd="0" presId="urn:microsoft.com/office/officeart/2008/layout/HexagonCluster"/>
    <dgm:cxn modelId="{87CE4613-9743-40E6-8E6B-B79C243989E9}" type="presParOf" srcId="{4CDF9057-0859-4485-A426-0DD657436F3B}" destId="{46D6D9F4-5A40-4BA6-A27C-0D71C49B8C60}" srcOrd="0" destOrd="0" presId="urn:microsoft.com/office/officeart/2008/layout/HexagonCluster"/>
    <dgm:cxn modelId="{63162850-57D5-4777-9BBF-35263707DA65}" type="presParOf" srcId="{EA8EA882-8716-4BFB-BEDB-46D8F3FD76B7}" destId="{5EB0948D-458D-4823-BC63-334AB2EAB32D}" srcOrd="2" destOrd="0" presId="urn:microsoft.com/office/officeart/2008/layout/HexagonCluster"/>
    <dgm:cxn modelId="{370F6254-3468-46E5-A330-18ACDE324299}" type="presParOf" srcId="{5EB0948D-458D-4823-BC63-334AB2EAB32D}" destId="{817FAAE1-CEA1-45A1-ACCA-5852A2A6B40B}" srcOrd="0" destOrd="0" presId="urn:microsoft.com/office/officeart/2008/layout/HexagonCluster"/>
    <dgm:cxn modelId="{48C6AC08-1E78-4882-B4D7-210863686E9F}" type="presParOf" srcId="{EA8EA882-8716-4BFB-BEDB-46D8F3FD76B7}" destId="{12B4EC90-C797-4F1A-AF27-7686451EFF00}" srcOrd="3" destOrd="0" presId="urn:microsoft.com/office/officeart/2008/layout/HexagonCluster"/>
    <dgm:cxn modelId="{2B931C39-D4BC-4455-93DF-1998C9E56C68}" type="presParOf" srcId="{12B4EC90-C797-4F1A-AF27-7686451EFF00}" destId="{92185DD2-1C1B-486C-8C0D-EB02371DDAAC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8A4F5B-EDA8-4900-85E3-78CC00174B8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4C4C7FC-94FE-433C-8C9A-10942B3A6824}">
      <dgm:prSet phldrT="[Metin]"/>
      <dgm:spPr/>
      <dgm:t>
        <a:bodyPr/>
        <a:lstStyle/>
        <a:p>
          <a:r>
            <a:rPr lang="tr-TR" dirty="0" smtClean="0">
              <a:solidFill>
                <a:schemeClr val="tx1"/>
              </a:solidFill>
            </a:rPr>
            <a:t>UG </a:t>
          </a:r>
          <a:r>
            <a:rPr lang="en-US" noProof="0" dirty="0" smtClean="0">
              <a:solidFill>
                <a:schemeClr val="tx1"/>
              </a:solidFill>
            </a:rPr>
            <a:t>arguments from L1 acquisition</a:t>
          </a:r>
          <a:endParaRPr lang="en-US" noProof="0" dirty="0">
            <a:solidFill>
              <a:schemeClr val="tx1"/>
            </a:solidFill>
          </a:endParaRPr>
        </a:p>
      </dgm:t>
    </dgm:pt>
    <dgm:pt modelId="{1461AE06-A3A6-47DF-B41D-92C575172F0B}" type="parTrans" cxnId="{E4DED5CA-3DAB-4EFF-BEFD-61F97B91C32B}">
      <dgm:prSet/>
      <dgm:spPr/>
      <dgm:t>
        <a:bodyPr/>
        <a:lstStyle/>
        <a:p>
          <a:endParaRPr lang="en-GB"/>
        </a:p>
      </dgm:t>
    </dgm:pt>
    <dgm:pt modelId="{58A7ADCA-9680-4BF1-B41A-86D36875EACC}" type="sibTrans" cxnId="{E4DED5CA-3DAB-4EFF-BEFD-61F97B91C32B}">
      <dgm:prSet/>
      <dgm:spPr/>
      <dgm:t>
        <a:bodyPr/>
        <a:lstStyle/>
        <a:p>
          <a:endParaRPr lang="en-GB"/>
        </a:p>
      </dgm:t>
    </dgm:pt>
    <dgm:pt modelId="{874E42F3-C02D-4319-A39B-1F6535C58921}">
      <dgm:prSet phldrT="[Metin]"/>
      <dgm:spPr/>
      <dgm:t>
        <a:bodyPr/>
        <a:lstStyle/>
        <a:p>
          <a:r>
            <a:rPr lang="tr-TR" dirty="0" smtClean="0">
              <a:solidFill>
                <a:schemeClr val="tx1"/>
              </a:solidFill>
            </a:rPr>
            <a:t>UG </a:t>
          </a:r>
          <a:r>
            <a:rPr lang="en-US" noProof="0" dirty="0" smtClean="0">
              <a:solidFill>
                <a:schemeClr val="tx1"/>
              </a:solidFill>
            </a:rPr>
            <a:t>arguments from L2 acquisition</a:t>
          </a:r>
          <a:endParaRPr lang="en-US" noProof="0" dirty="0">
            <a:solidFill>
              <a:schemeClr val="tx1"/>
            </a:solidFill>
          </a:endParaRPr>
        </a:p>
      </dgm:t>
    </dgm:pt>
    <dgm:pt modelId="{B02BA694-B0C1-4E61-A8B4-A2BC21146036}" type="parTrans" cxnId="{6F4CCB30-9DBC-46ED-8BE2-CDD1C72AB70A}">
      <dgm:prSet/>
      <dgm:spPr/>
      <dgm:t>
        <a:bodyPr/>
        <a:lstStyle/>
        <a:p>
          <a:endParaRPr lang="en-GB"/>
        </a:p>
      </dgm:t>
    </dgm:pt>
    <dgm:pt modelId="{04DFA416-EC62-4E68-A88E-E13EB5C990E1}" type="sibTrans" cxnId="{6F4CCB30-9DBC-46ED-8BE2-CDD1C72AB70A}">
      <dgm:prSet/>
      <dgm:spPr/>
      <dgm:t>
        <a:bodyPr/>
        <a:lstStyle/>
        <a:p>
          <a:endParaRPr lang="en-GB"/>
        </a:p>
      </dgm:t>
    </dgm:pt>
    <dgm:pt modelId="{01F9E8F8-17EE-43B8-BDDB-33F81AC386AD}">
      <dgm:prSet phldrT="[Metin]"/>
      <dgm:spPr/>
      <dgm:t>
        <a:bodyPr/>
        <a:lstStyle/>
        <a:p>
          <a:r>
            <a:rPr lang="tr-TR" dirty="0" err="1" smtClean="0">
              <a:solidFill>
                <a:schemeClr val="tx1"/>
              </a:solidFill>
            </a:rPr>
            <a:t>Principles</a:t>
          </a:r>
          <a:r>
            <a:rPr lang="tr-TR" dirty="0" smtClean="0">
              <a:solidFill>
                <a:schemeClr val="tx1"/>
              </a:solidFill>
            </a:rPr>
            <a:t> </a:t>
          </a:r>
          <a:r>
            <a:rPr lang="tr-TR" dirty="0" err="1" smtClean="0">
              <a:solidFill>
                <a:schemeClr val="tx1"/>
              </a:solidFill>
            </a:rPr>
            <a:t>and</a:t>
          </a:r>
          <a:r>
            <a:rPr lang="tr-TR" dirty="0" smtClean="0">
              <a:solidFill>
                <a:schemeClr val="tx1"/>
              </a:solidFill>
            </a:rPr>
            <a:t> </a:t>
          </a:r>
          <a:r>
            <a:rPr lang="tr-TR" dirty="0" err="1" smtClean="0">
              <a:solidFill>
                <a:schemeClr val="tx1"/>
              </a:solidFill>
            </a:rPr>
            <a:t>Parameters</a:t>
          </a:r>
          <a:endParaRPr lang="en-GB" dirty="0">
            <a:solidFill>
              <a:schemeClr val="tx1"/>
            </a:solidFill>
          </a:endParaRPr>
        </a:p>
      </dgm:t>
    </dgm:pt>
    <dgm:pt modelId="{DF0E3B69-237F-41FF-9F76-7EEF13B730D1}" type="parTrans" cxnId="{1C285743-A2ED-4B98-A00B-42F908022C05}">
      <dgm:prSet/>
      <dgm:spPr/>
      <dgm:t>
        <a:bodyPr/>
        <a:lstStyle/>
        <a:p>
          <a:endParaRPr lang="en-GB"/>
        </a:p>
      </dgm:t>
    </dgm:pt>
    <dgm:pt modelId="{BE3F7384-8A80-47EA-9630-E887C7B0F5B3}" type="sibTrans" cxnId="{1C285743-A2ED-4B98-A00B-42F908022C05}">
      <dgm:prSet/>
      <dgm:spPr/>
      <dgm:t>
        <a:bodyPr/>
        <a:lstStyle/>
        <a:p>
          <a:endParaRPr lang="en-GB"/>
        </a:p>
      </dgm:t>
    </dgm:pt>
    <dgm:pt modelId="{BDA840DD-C13F-4836-B556-CD6ED416BBF9}">
      <dgm:prSet phldrT="[Metin]"/>
      <dgm:spPr/>
      <dgm:t>
        <a:bodyPr/>
        <a:lstStyle/>
        <a:p>
          <a:r>
            <a:rPr lang="tr-TR" dirty="0" smtClean="0"/>
            <a:t>  </a:t>
          </a:r>
          <a:r>
            <a:rPr lang="tr-TR" dirty="0" smtClean="0">
              <a:solidFill>
                <a:schemeClr val="tx1"/>
              </a:solidFill>
            </a:rPr>
            <a:t>UG </a:t>
          </a:r>
          <a:r>
            <a:rPr lang="en-US" noProof="0" dirty="0" smtClean="0">
              <a:solidFill>
                <a:schemeClr val="tx1"/>
              </a:solidFill>
            </a:rPr>
            <a:t>access Hypotheses </a:t>
          </a:r>
          <a:endParaRPr lang="en-US" noProof="0" dirty="0">
            <a:solidFill>
              <a:schemeClr val="tx1"/>
            </a:solidFill>
          </a:endParaRPr>
        </a:p>
      </dgm:t>
    </dgm:pt>
    <dgm:pt modelId="{BF487514-6C12-41F4-9A8E-1418BC04BC7D}" type="parTrans" cxnId="{330C4412-8FC2-47DF-9680-A1E44617FBCC}">
      <dgm:prSet/>
      <dgm:spPr/>
      <dgm:t>
        <a:bodyPr/>
        <a:lstStyle/>
        <a:p>
          <a:endParaRPr lang="en-GB"/>
        </a:p>
      </dgm:t>
    </dgm:pt>
    <dgm:pt modelId="{1B3ADAB7-65BA-4325-8E4C-A531806B261B}" type="sibTrans" cxnId="{330C4412-8FC2-47DF-9680-A1E44617FBCC}">
      <dgm:prSet/>
      <dgm:spPr/>
      <dgm:t>
        <a:bodyPr/>
        <a:lstStyle/>
        <a:p>
          <a:endParaRPr lang="en-GB"/>
        </a:p>
      </dgm:t>
    </dgm:pt>
    <dgm:pt modelId="{83AEB156-2DED-4260-8B55-99EE963508DA}">
      <dgm:prSet phldrT="[Metin]"/>
      <dgm:spPr/>
      <dgm:t>
        <a:bodyPr/>
        <a:lstStyle/>
        <a:p>
          <a:r>
            <a:rPr lang="tr-TR" dirty="0" smtClean="0"/>
            <a:t>  </a:t>
          </a:r>
          <a:r>
            <a:rPr lang="en-US" noProof="0" dirty="0" smtClean="0">
              <a:solidFill>
                <a:schemeClr val="tx1"/>
              </a:solidFill>
            </a:rPr>
            <a:t>Parameter setting Hypotheses </a:t>
          </a:r>
          <a:endParaRPr lang="en-US" noProof="0" dirty="0">
            <a:solidFill>
              <a:schemeClr val="tx1"/>
            </a:solidFill>
          </a:endParaRPr>
        </a:p>
      </dgm:t>
    </dgm:pt>
    <dgm:pt modelId="{C8006D01-8EF9-4258-9F0F-D2C151045AD1}" type="parTrans" cxnId="{CF8BE12D-5E64-4214-85B1-EAF53C12AAA7}">
      <dgm:prSet/>
      <dgm:spPr/>
      <dgm:t>
        <a:bodyPr/>
        <a:lstStyle/>
        <a:p>
          <a:endParaRPr lang="en-GB"/>
        </a:p>
      </dgm:t>
    </dgm:pt>
    <dgm:pt modelId="{D3AE9FA7-6304-4077-881B-6E92DAB12B62}" type="sibTrans" cxnId="{CF8BE12D-5E64-4214-85B1-EAF53C12AAA7}">
      <dgm:prSet/>
      <dgm:spPr/>
      <dgm:t>
        <a:bodyPr/>
        <a:lstStyle/>
        <a:p>
          <a:endParaRPr lang="en-GB"/>
        </a:p>
      </dgm:t>
    </dgm:pt>
    <dgm:pt modelId="{14C2D0FC-D2B9-4628-8A2A-6A2E4769B1D3}" type="pres">
      <dgm:prSet presAssocID="{AF8A4F5B-EDA8-4900-85E3-78CC00174B8D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69B88513-C752-4F38-B77D-5905C478B394}" type="pres">
      <dgm:prSet presAssocID="{AF8A4F5B-EDA8-4900-85E3-78CC00174B8D}" presName="Name1" presStyleCnt="0"/>
      <dgm:spPr/>
    </dgm:pt>
    <dgm:pt modelId="{190DB136-F2FA-48F2-9EF7-FEA7411D3745}" type="pres">
      <dgm:prSet presAssocID="{AF8A4F5B-EDA8-4900-85E3-78CC00174B8D}" presName="cycle" presStyleCnt="0"/>
      <dgm:spPr/>
    </dgm:pt>
    <dgm:pt modelId="{9305C0A7-82EB-4E12-90BB-7301AA5E8727}" type="pres">
      <dgm:prSet presAssocID="{AF8A4F5B-EDA8-4900-85E3-78CC00174B8D}" presName="srcNode" presStyleLbl="node1" presStyleIdx="0" presStyleCnt="5"/>
      <dgm:spPr/>
    </dgm:pt>
    <dgm:pt modelId="{C2852643-86D8-4D5D-84F0-6203D52D0F8C}" type="pres">
      <dgm:prSet presAssocID="{AF8A4F5B-EDA8-4900-85E3-78CC00174B8D}" presName="conn" presStyleLbl="parChTrans1D2" presStyleIdx="0" presStyleCnt="1"/>
      <dgm:spPr/>
      <dgm:t>
        <a:bodyPr/>
        <a:lstStyle/>
        <a:p>
          <a:endParaRPr lang="en-US"/>
        </a:p>
      </dgm:t>
    </dgm:pt>
    <dgm:pt modelId="{52843E29-0F1E-4D32-8151-07BB440D014F}" type="pres">
      <dgm:prSet presAssocID="{AF8A4F5B-EDA8-4900-85E3-78CC00174B8D}" presName="extraNode" presStyleLbl="node1" presStyleIdx="0" presStyleCnt="5"/>
      <dgm:spPr/>
    </dgm:pt>
    <dgm:pt modelId="{DE6A6C5A-A79C-4392-85F8-556584846782}" type="pres">
      <dgm:prSet presAssocID="{AF8A4F5B-EDA8-4900-85E3-78CC00174B8D}" presName="dstNode" presStyleLbl="node1" presStyleIdx="0" presStyleCnt="5"/>
      <dgm:spPr/>
    </dgm:pt>
    <dgm:pt modelId="{744E701E-FBB1-4CED-A34C-C30572D97884}" type="pres">
      <dgm:prSet presAssocID="{04C4C7FC-94FE-433C-8C9A-10942B3A6824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8E7BE78-2459-4113-BDA3-A53E2332B8ED}" type="pres">
      <dgm:prSet presAssocID="{04C4C7FC-94FE-433C-8C9A-10942B3A6824}" presName="accent_1" presStyleCnt="0"/>
      <dgm:spPr/>
    </dgm:pt>
    <dgm:pt modelId="{DE28BC9A-6938-46EE-A9DB-FA3DB4809866}" type="pres">
      <dgm:prSet presAssocID="{04C4C7FC-94FE-433C-8C9A-10942B3A6824}" presName="accentRepeatNode" presStyleLbl="solidFgAcc1" presStyleIdx="0" presStyleCnt="5" custLinFactNeighborX="1758" custLinFactNeighborY="-4222"/>
      <dgm:spPr/>
    </dgm:pt>
    <dgm:pt modelId="{F582A48E-86EC-4687-8A26-21C0C9B21980}" type="pres">
      <dgm:prSet presAssocID="{874E42F3-C02D-4319-A39B-1F6535C58921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922E6C-AF0D-4E6A-BAB0-A7DFB56CC266}" type="pres">
      <dgm:prSet presAssocID="{874E42F3-C02D-4319-A39B-1F6535C58921}" presName="accent_2" presStyleCnt="0"/>
      <dgm:spPr/>
    </dgm:pt>
    <dgm:pt modelId="{58CFF6D9-52C2-4F5D-8CAE-516E409D648F}" type="pres">
      <dgm:prSet presAssocID="{874E42F3-C02D-4319-A39B-1F6535C58921}" presName="accentRepeatNode" presStyleLbl="solidFgAcc1" presStyleIdx="1" presStyleCnt="5"/>
      <dgm:spPr/>
    </dgm:pt>
    <dgm:pt modelId="{1B72D67E-BC72-435B-9754-385E2565CE85}" type="pres">
      <dgm:prSet presAssocID="{01F9E8F8-17EE-43B8-BDDB-33F81AC386AD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F148926-C2D5-4782-A735-90AD27D5115C}" type="pres">
      <dgm:prSet presAssocID="{01F9E8F8-17EE-43B8-BDDB-33F81AC386AD}" presName="accent_3" presStyleCnt="0"/>
      <dgm:spPr/>
    </dgm:pt>
    <dgm:pt modelId="{C5B0A3EA-657B-4AA9-BD18-93C78A0E41EF}" type="pres">
      <dgm:prSet presAssocID="{01F9E8F8-17EE-43B8-BDDB-33F81AC386AD}" presName="accentRepeatNode" presStyleLbl="solidFgAcc1" presStyleIdx="2" presStyleCnt="5"/>
      <dgm:spPr/>
    </dgm:pt>
    <dgm:pt modelId="{008950D7-78A3-49FD-8ADD-A1E0027BDDF1}" type="pres">
      <dgm:prSet presAssocID="{BDA840DD-C13F-4836-B556-CD6ED416BBF9}" presName="text_4" presStyleLbl="node1" presStyleIdx="3" presStyleCnt="5" custLinFactNeighborX="427" custLinFactNeighborY="-359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979E9E2-128E-44BA-B096-A88CB840876A}" type="pres">
      <dgm:prSet presAssocID="{BDA840DD-C13F-4836-B556-CD6ED416BBF9}" presName="accent_4" presStyleCnt="0"/>
      <dgm:spPr/>
    </dgm:pt>
    <dgm:pt modelId="{673A5447-7403-49E0-8C84-19C7536A065E}" type="pres">
      <dgm:prSet presAssocID="{BDA840DD-C13F-4836-B556-CD6ED416BBF9}" presName="accentRepeatNode" presStyleLbl="solidFgAcc1" presStyleIdx="3" presStyleCnt="5"/>
      <dgm:spPr/>
    </dgm:pt>
    <dgm:pt modelId="{D795F976-EE01-4D64-B2A8-0F5B30086B53}" type="pres">
      <dgm:prSet presAssocID="{83AEB156-2DED-4260-8B55-99EE963508DA}" presName="text_5" presStyleLbl="node1" presStyleIdx="4" presStyleCnt="5" custLinFactNeighborX="993" custLinFactNeighborY="2459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66F24E9-656F-4E8A-97A0-D64CF8E082DB}" type="pres">
      <dgm:prSet presAssocID="{83AEB156-2DED-4260-8B55-99EE963508DA}" presName="accent_5" presStyleCnt="0"/>
      <dgm:spPr/>
    </dgm:pt>
    <dgm:pt modelId="{8FA3E8BC-BC9A-4BE8-A7A0-0493E7A5531A}" type="pres">
      <dgm:prSet presAssocID="{83AEB156-2DED-4260-8B55-99EE963508DA}" presName="accentRepeatNode" presStyleLbl="solidFgAcc1" presStyleIdx="4" presStyleCnt="5"/>
      <dgm:spPr/>
    </dgm:pt>
  </dgm:ptLst>
  <dgm:cxnLst>
    <dgm:cxn modelId="{FC3CD60B-A2F4-4E9A-8B40-0DB3CDE2D120}" type="presOf" srcId="{01F9E8F8-17EE-43B8-BDDB-33F81AC386AD}" destId="{1B72D67E-BC72-435B-9754-385E2565CE85}" srcOrd="0" destOrd="0" presId="urn:microsoft.com/office/officeart/2008/layout/VerticalCurvedList"/>
    <dgm:cxn modelId="{74597D86-5BEB-49B9-8157-69BD9BAB0565}" type="presOf" srcId="{83AEB156-2DED-4260-8B55-99EE963508DA}" destId="{D795F976-EE01-4D64-B2A8-0F5B30086B53}" srcOrd="0" destOrd="0" presId="urn:microsoft.com/office/officeart/2008/layout/VerticalCurvedList"/>
    <dgm:cxn modelId="{CF8BE12D-5E64-4214-85B1-EAF53C12AAA7}" srcId="{AF8A4F5B-EDA8-4900-85E3-78CC00174B8D}" destId="{83AEB156-2DED-4260-8B55-99EE963508DA}" srcOrd="4" destOrd="0" parTransId="{C8006D01-8EF9-4258-9F0F-D2C151045AD1}" sibTransId="{D3AE9FA7-6304-4077-881B-6E92DAB12B62}"/>
    <dgm:cxn modelId="{1C285743-A2ED-4B98-A00B-42F908022C05}" srcId="{AF8A4F5B-EDA8-4900-85E3-78CC00174B8D}" destId="{01F9E8F8-17EE-43B8-BDDB-33F81AC386AD}" srcOrd="2" destOrd="0" parTransId="{DF0E3B69-237F-41FF-9F76-7EEF13B730D1}" sibTransId="{BE3F7384-8A80-47EA-9630-E887C7B0F5B3}"/>
    <dgm:cxn modelId="{E4DED5CA-3DAB-4EFF-BEFD-61F97B91C32B}" srcId="{AF8A4F5B-EDA8-4900-85E3-78CC00174B8D}" destId="{04C4C7FC-94FE-433C-8C9A-10942B3A6824}" srcOrd="0" destOrd="0" parTransId="{1461AE06-A3A6-47DF-B41D-92C575172F0B}" sibTransId="{58A7ADCA-9680-4BF1-B41A-86D36875EACC}"/>
    <dgm:cxn modelId="{6F4CCB30-9DBC-46ED-8BE2-CDD1C72AB70A}" srcId="{AF8A4F5B-EDA8-4900-85E3-78CC00174B8D}" destId="{874E42F3-C02D-4319-A39B-1F6535C58921}" srcOrd="1" destOrd="0" parTransId="{B02BA694-B0C1-4E61-A8B4-A2BC21146036}" sibTransId="{04DFA416-EC62-4E68-A88E-E13EB5C990E1}"/>
    <dgm:cxn modelId="{CBA1AE5B-066C-443D-8399-C411D24399AF}" type="presOf" srcId="{AF8A4F5B-EDA8-4900-85E3-78CC00174B8D}" destId="{14C2D0FC-D2B9-4628-8A2A-6A2E4769B1D3}" srcOrd="0" destOrd="0" presId="urn:microsoft.com/office/officeart/2008/layout/VerticalCurvedList"/>
    <dgm:cxn modelId="{78502C39-3610-406A-8DF9-746A9B64516B}" type="presOf" srcId="{04C4C7FC-94FE-433C-8C9A-10942B3A6824}" destId="{744E701E-FBB1-4CED-A34C-C30572D97884}" srcOrd="0" destOrd="0" presId="urn:microsoft.com/office/officeart/2008/layout/VerticalCurvedList"/>
    <dgm:cxn modelId="{BDB3A011-E5D1-404D-B1D6-F21DCBA465DD}" type="presOf" srcId="{BDA840DD-C13F-4836-B556-CD6ED416BBF9}" destId="{008950D7-78A3-49FD-8ADD-A1E0027BDDF1}" srcOrd="0" destOrd="0" presId="urn:microsoft.com/office/officeart/2008/layout/VerticalCurvedList"/>
    <dgm:cxn modelId="{4610D4AD-FF75-4708-8249-0AF6AA198D85}" type="presOf" srcId="{874E42F3-C02D-4319-A39B-1F6535C58921}" destId="{F582A48E-86EC-4687-8A26-21C0C9B21980}" srcOrd="0" destOrd="0" presId="urn:microsoft.com/office/officeart/2008/layout/VerticalCurvedList"/>
    <dgm:cxn modelId="{330C4412-8FC2-47DF-9680-A1E44617FBCC}" srcId="{AF8A4F5B-EDA8-4900-85E3-78CC00174B8D}" destId="{BDA840DD-C13F-4836-B556-CD6ED416BBF9}" srcOrd="3" destOrd="0" parTransId="{BF487514-6C12-41F4-9A8E-1418BC04BC7D}" sibTransId="{1B3ADAB7-65BA-4325-8E4C-A531806B261B}"/>
    <dgm:cxn modelId="{E0809094-20DE-40EC-B88D-5C5B9A9AA47B}" type="presOf" srcId="{58A7ADCA-9680-4BF1-B41A-86D36875EACC}" destId="{C2852643-86D8-4D5D-84F0-6203D52D0F8C}" srcOrd="0" destOrd="0" presId="urn:microsoft.com/office/officeart/2008/layout/VerticalCurvedList"/>
    <dgm:cxn modelId="{473CA035-8EB8-4FED-864E-F2E3B6D133B1}" type="presParOf" srcId="{14C2D0FC-D2B9-4628-8A2A-6A2E4769B1D3}" destId="{69B88513-C752-4F38-B77D-5905C478B394}" srcOrd="0" destOrd="0" presId="urn:microsoft.com/office/officeart/2008/layout/VerticalCurvedList"/>
    <dgm:cxn modelId="{E77FD580-B70E-4172-855E-2ED00F337090}" type="presParOf" srcId="{69B88513-C752-4F38-B77D-5905C478B394}" destId="{190DB136-F2FA-48F2-9EF7-FEA7411D3745}" srcOrd="0" destOrd="0" presId="urn:microsoft.com/office/officeart/2008/layout/VerticalCurvedList"/>
    <dgm:cxn modelId="{246D02F6-147B-4C70-A1DD-F4B169870ADC}" type="presParOf" srcId="{190DB136-F2FA-48F2-9EF7-FEA7411D3745}" destId="{9305C0A7-82EB-4E12-90BB-7301AA5E8727}" srcOrd="0" destOrd="0" presId="urn:microsoft.com/office/officeart/2008/layout/VerticalCurvedList"/>
    <dgm:cxn modelId="{C9EFE696-F05D-4F01-8671-5DE2F25EECC6}" type="presParOf" srcId="{190DB136-F2FA-48F2-9EF7-FEA7411D3745}" destId="{C2852643-86D8-4D5D-84F0-6203D52D0F8C}" srcOrd="1" destOrd="0" presId="urn:microsoft.com/office/officeart/2008/layout/VerticalCurvedList"/>
    <dgm:cxn modelId="{EF0E0B85-A530-4618-86BA-8EF907E8D061}" type="presParOf" srcId="{190DB136-F2FA-48F2-9EF7-FEA7411D3745}" destId="{52843E29-0F1E-4D32-8151-07BB440D014F}" srcOrd="2" destOrd="0" presId="urn:microsoft.com/office/officeart/2008/layout/VerticalCurvedList"/>
    <dgm:cxn modelId="{C161D735-B031-46D2-8001-44F9E195C539}" type="presParOf" srcId="{190DB136-F2FA-48F2-9EF7-FEA7411D3745}" destId="{DE6A6C5A-A79C-4392-85F8-556584846782}" srcOrd="3" destOrd="0" presId="urn:microsoft.com/office/officeart/2008/layout/VerticalCurvedList"/>
    <dgm:cxn modelId="{1D9C7F48-B6A4-487B-9753-E037CC85B10E}" type="presParOf" srcId="{69B88513-C752-4F38-B77D-5905C478B394}" destId="{744E701E-FBB1-4CED-A34C-C30572D97884}" srcOrd="1" destOrd="0" presId="urn:microsoft.com/office/officeart/2008/layout/VerticalCurvedList"/>
    <dgm:cxn modelId="{75C351C5-B02B-4288-B8B9-890A5F41A753}" type="presParOf" srcId="{69B88513-C752-4F38-B77D-5905C478B394}" destId="{B8E7BE78-2459-4113-BDA3-A53E2332B8ED}" srcOrd="2" destOrd="0" presId="urn:microsoft.com/office/officeart/2008/layout/VerticalCurvedList"/>
    <dgm:cxn modelId="{E4E67360-1BD7-4AC8-8337-E1F731D643C8}" type="presParOf" srcId="{B8E7BE78-2459-4113-BDA3-A53E2332B8ED}" destId="{DE28BC9A-6938-46EE-A9DB-FA3DB4809866}" srcOrd="0" destOrd="0" presId="urn:microsoft.com/office/officeart/2008/layout/VerticalCurvedList"/>
    <dgm:cxn modelId="{E74A851C-596F-4DB1-8B01-BCB489C2A9C3}" type="presParOf" srcId="{69B88513-C752-4F38-B77D-5905C478B394}" destId="{F582A48E-86EC-4687-8A26-21C0C9B21980}" srcOrd="3" destOrd="0" presId="urn:microsoft.com/office/officeart/2008/layout/VerticalCurvedList"/>
    <dgm:cxn modelId="{1EF5F7B1-3D73-4887-8983-68EA054B9E70}" type="presParOf" srcId="{69B88513-C752-4F38-B77D-5905C478B394}" destId="{8F922E6C-AF0D-4E6A-BAB0-A7DFB56CC266}" srcOrd="4" destOrd="0" presId="urn:microsoft.com/office/officeart/2008/layout/VerticalCurvedList"/>
    <dgm:cxn modelId="{7D2D65C8-604C-4C5D-A3E5-6D743B2F1DC1}" type="presParOf" srcId="{8F922E6C-AF0D-4E6A-BAB0-A7DFB56CC266}" destId="{58CFF6D9-52C2-4F5D-8CAE-516E409D648F}" srcOrd="0" destOrd="0" presId="urn:microsoft.com/office/officeart/2008/layout/VerticalCurvedList"/>
    <dgm:cxn modelId="{4F1794C4-31DD-477C-BE07-BDEED6193293}" type="presParOf" srcId="{69B88513-C752-4F38-B77D-5905C478B394}" destId="{1B72D67E-BC72-435B-9754-385E2565CE85}" srcOrd="5" destOrd="0" presId="urn:microsoft.com/office/officeart/2008/layout/VerticalCurvedList"/>
    <dgm:cxn modelId="{DDAC294B-6CB7-401F-A824-1BC7AD393B93}" type="presParOf" srcId="{69B88513-C752-4F38-B77D-5905C478B394}" destId="{EF148926-C2D5-4782-A735-90AD27D5115C}" srcOrd="6" destOrd="0" presId="urn:microsoft.com/office/officeart/2008/layout/VerticalCurvedList"/>
    <dgm:cxn modelId="{ED0891DF-0560-438F-A9BA-2AF9F6AAAC82}" type="presParOf" srcId="{EF148926-C2D5-4782-A735-90AD27D5115C}" destId="{C5B0A3EA-657B-4AA9-BD18-93C78A0E41EF}" srcOrd="0" destOrd="0" presId="urn:microsoft.com/office/officeart/2008/layout/VerticalCurvedList"/>
    <dgm:cxn modelId="{D4D5D76A-6140-4456-A875-D18807B89175}" type="presParOf" srcId="{69B88513-C752-4F38-B77D-5905C478B394}" destId="{008950D7-78A3-49FD-8ADD-A1E0027BDDF1}" srcOrd="7" destOrd="0" presId="urn:microsoft.com/office/officeart/2008/layout/VerticalCurvedList"/>
    <dgm:cxn modelId="{988E966E-9D5C-4D7B-8B2D-22A8AF34FD37}" type="presParOf" srcId="{69B88513-C752-4F38-B77D-5905C478B394}" destId="{9979E9E2-128E-44BA-B096-A88CB840876A}" srcOrd="8" destOrd="0" presId="urn:microsoft.com/office/officeart/2008/layout/VerticalCurvedList"/>
    <dgm:cxn modelId="{75FF1FE7-9B5F-4FB0-B733-75B613E833D5}" type="presParOf" srcId="{9979E9E2-128E-44BA-B096-A88CB840876A}" destId="{673A5447-7403-49E0-8C84-19C7536A065E}" srcOrd="0" destOrd="0" presId="urn:microsoft.com/office/officeart/2008/layout/VerticalCurvedList"/>
    <dgm:cxn modelId="{10E78ACF-60A2-472F-8A90-B5E7E40E0938}" type="presParOf" srcId="{69B88513-C752-4F38-B77D-5905C478B394}" destId="{D795F976-EE01-4D64-B2A8-0F5B30086B53}" srcOrd="9" destOrd="0" presId="urn:microsoft.com/office/officeart/2008/layout/VerticalCurvedList"/>
    <dgm:cxn modelId="{A8862760-37A1-4CAA-909F-A31B9D25921A}" type="presParOf" srcId="{69B88513-C752-4F38-B77D-5905C478B394}" destId="{366F24E9-656F-4E8A-97A0-D64CF8E082DB}" srcOrd="10" destOrd="0" presId="urn:microsoft.com/office/officeart/2008/layout/VerticalCurvedList"/>
    <dgm:cxn modelId="{720E8CDE-B5EC-4542-905B-D9E1AAF33FFA}" type="presParOf" srcId="{366F24E9-656F-4E8A-97A0-D64CF8E082DB}" destId="{8FA3E8BC-BC9A-4BE8-A7A0-0493E7A5531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926ABB-A933-4836-A68E-E53CB33B05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6C9C04-C44F-4B8B-B688-666C19F42AC2}">
      <dgm:prSet phldrT="[Metin]"/>
      <dgm:spPr/>
      <dgm:t>
        <a:bodyPr/>
        <a:lstStyle/>
        <a:p>
          <a:r>
            <a:rPr lang="tr-TR" dirty="0" smtClean="0">
              <a:solidFill>
                <a:schemeClr val="tx1"/>
              </a:solidFill>
            </a:rPr>
            <a:t>Second </a:t>
          </a:r>
          <a:r>
            <a:rPr lang="tr-TR" dirty="0" err="1" smtClean="0">
              <a:solidFill>
                <a:schemeClr val="tx1"/>
              </a:solidFill>
            </a:rPr>
            <a:t>Languages</a:t>
          </a:r>
          <a:r>
            <a:rPr lang="tr-TR" dirty="0" smtClean="0">
              <a:solidFill>
                <a:schemeClr val="tx1"/>
              </a:solidFill>
            </a:rPr>
            <a:t> </a:t>
          </a:r>
          <a:r>
            <a:rPr lang="tr-TR" dirty="0" err="1" smtClean="0">
              <a:solidFill>
                <a:schemeClr val="tx1"/>
              </a:solidFill>
            </a:rPr>
            <a:t>are</a:t>
          </a:r>
          <a:r>
            <a:rPr lang="tr-TR" dirty="0" smtClean="0">
              <a:solidFill>
                <a:schemeClr val="tx1"/>
              </a:solidFill>
            </a:rPr>
            <a:t> not Universal </a:t>
          </a:r>
          <a:r>
            <a:rPr lang="tr-TR" dirty="0" err="1" smtClean="0">
              <a:solidFill>
                <a:schemeClr val="tx1"/>
              </a:solidFill>
            </a:rPr>
            <a:t>Grammar</a:t>
          </a:r>
          <a:r>
            <a:rPr lang="tr-TR" dirty="0" smtClean="0">
              <a:solidFill>
                <a:schemeClr val="tx1"/>
              </a:solidFill>
            </a:rPr>
            <a:t> –</a:t>
          </a:r>
          <a:r>
            <a:rPr lang="tr-TR" dirty="0" err="1" smtClean="0">
              <a:solidFill>
                <a:schemeClr val="tx1"/>
              </a:solidFill>
            </a:rPr>
            <a:t>constrained</a:t>
          </a:r>
          <a:r>
            <a:rPr lang="tr-TR" dirty="0" smtClean="0">
              <a:solidFill>
                <a:schemeClr val="tx1"/>
              </a:solidFill>
            </a:rPr>
            <a:t> </a:t>
          </a:r>
          <a:endParaRPr lang="en-US" dirty="0">
            <a:solidFill>
              <a:schemeClr val="tx1"/>
            </a:solidFill>
          </a:endParaRPr>
        </a:p>
      </dgm:t>
    </dgm:pt>
    <dgm:pt modelId="{7BE5DA60-C690-45F0-8478-084391C7C6C8}" type="parTrans" cxnId="{B1A0A090-7974-460B-BF0A-D94DB49DB1D7}">
      <dgm:prSet/>
      <dgm:spPr/>
      <dgm:t>
        <a:bodyPr/>
        <a:lstStyle/>
        <a:p>
          <a:endParaRPr lang="en-US"/>
        </a:p>
      </dgm:t>
    </dgm:pt>
    <dgm:pt modelId="{2E0DC573-2395-4F85-A4A7-10979478F160}" type="sibTrans" cxnId="{B1A0A090-7974-460B-BF0A-D94DB49DB1D7}">
      <dgm:prSet/>
      <dgm:spPr/>
      <dgm:t>
        <a:bodyPr/>
        <a:lstStyle/>
        <a:p>
          <a:endParaRPr lang="en-US"/>
        </a:p>
      </dgm:t>
    </dgm:pt>
    <dgm:pt modelId="{3DB59A6F-2662-4EB2-81F3-D1E40409EE54}">
      <dgm:prSet phldrT="[Metin]" custT="1"/>
      <dgm:spPr/>
      <dgm:t>
        <a:bodyPr/>
        <a:lstStyle/>
        <a:p>
          <a:r>
            <a:rPr lang="en-US" sz="2400" b="0" noProof="0" dirty="0" smtClean="0"/>
            <a:t>Second languages  are not constrained by Universal Grammar principles and parameters and they do not behave like natural languages </a:t>
          </a:r>
          <a:endParaRPr lang="en-US" sz="2400" b="0" noProof="0" dirty="0"/>
        </a:p>
      </dgm:t>
    </dgm:pt>
    <dgm:pt modelId="{0163D149-A71C-4684-A220-6E73D5055923}" type="parTrans" cxnId="{CDC3E1F9-BE15-437F-A308-F95B264DDCE9}">
      <dgm:prSet/>
      <dgm:spPr/>
      <dgm:t>
        <a:bodyPr/>
        <a:lstStyle/>
        <a:p>
          <a:endParaRPr lang="en-US"/>
        </a:p>
      </dgm:t>
    </dgm:pt>
    <dgm:pt modelId="{193084A6-39A4-4FB7-AB0E-2754D4BE2E4E}" type="sibTrans" cxnId="{CDC3E1F9-BE15-437F-A308-F95B264DDCE9}">
      <dgm:prSet/>
      <dgm:spPr/>
      <dgm:t>
        <a:bodyPr/>
        <a:lstStyle/>
        <a:p>
          <a:endParaRPr lang="en-US"/>
        </a:p>
      </dgm:t>
    </dgm:pt>
    <dgm:pt modelId="{0038D008-6CB1-4162-943E-544F675369B5}">
      <dgm:prSet phldrT="[Metin]"/>
      <dgm:spPr/>
      <dgm:t>
        <a:bodyPr/>
        <a:lstStyle/>
        <a:p>
          <a:r>
            <a:rPr lang="tr-TR" dirty="0" smtClean="0">
              <a:solidFill>
                <a:schemeClr val="tx1"/>
              </a:solidFill>
            </a:rPr>
            <a:t>Second </a:t>
          </a:r>
          <a:r>
            <a:rPr lang="tr-TR" dirty="0" err="1" smtClean="0">
              <a:solidFill>
                <a:schemeClr val="tx1"/>
              </a:solidFill>
            </a:rPr>
            <a:t>Languages</a:t>
          </a:r>
          <a:r>
            <a:rPr lang="tr-TR" dirty="0" smtClean="0">
              <a:solidFill>
                <a:schemeClr val="tx1"/>
              </a:solidFill>
            </a:rPr>
            <a:t> </a:t>
          </a:r>
          <a:r>
            <a:rPr lang="tr-TR" dirty="0" err="1" smtClean="0">
              <a:solidFill>
                <a:schemeClr val="tx1"/>
              </a:solidFill>
            </a:rPr>
            <a:t>are</a:t>
          </a:r>
          <a:r>
            <a:rPr lang="tr-TR" dirty="0" smtClean="0">
              <a:solidFill>
                <a:schemeClr val="tx1"/>
              </a:solidFill>
            </a:rPr>
            <a:t> Universal </a:t>
          </a:r>
          <a:r>
            <a:rPr lang="tr-TR" dirty="0" err="1" smtClean="0">
              <a:solidFill>
                <a:schemeClr val="tx1"/>
              </a:solidFill>
            </a:rPr>
            <a:t>Grammar</a:t>
          </a:r>
          <a:r>
            <a:rPr lang="tr-TR" dirty="0" smtClean="0">
              <a:solidFill>
                <a:schemeClr val="tx1"/>
              </a:solidFill>
            </a:rPr>
            <a:t> –</a:t>
          </a:r>
          <a:r>
            <a:rPr lang="tr-TR" dirty="0" err="1" smtClean="0">
              <a:solidFill>
                <a:schemeClr val="tx1"/>
              </a:solidFill>
            </a:rPr>
            <a:t>constrained</a:t>
          </a:r>
          <a:r>
            <a:rPr lang="tr-TR" dirty="0" smtClean="0">
              <a:solidFill>
                <a:schemeClr val="tx1"/>
              </a:solidFill>
            </a:rPr>
            <a:t> </a:t>
          </a:r>
          <a:endParaRPr lang="en-US" dirty="0">
            <a:solidFill>
              <a:schemeClr val="tx1"/>
            </a:solidFill>
          </a:endParaRPr>
        </a:p>
      </dgm:t>
    </dgm:pt>
    <dgm:pt modelId="{CB90DEA4-489A-4394-B2A8-C2CF26608427}" type="parTrans" cxnId="{E1C8CE85-4BDC-4E38-A4A7-935798CE0E4B}">
      <dgm:prSet/>
      <dgm:spPr/>
      <dgm:t>
        <a:bodyPr/>
        <a:lstStyle/>
        <a:p>
          <a:endParaRPr lang="en-US"/>
        </a:p>
      </dgm:t>
    </dgm:pt>
    <dgm:pt modelId="{643FBB1C-75F8-4B69-A633-D8C342D0D8BB}" type="sibTrans" cxnId="{E1C8CE85-4BDC-4E38-A4A7-935798CE0E4B}">
      <dgm:prSet/>
      <dgm:spPr/>
      <dgm:t>
        <a:bodyPr/>
        <a:lstStyle/>
        <a:p>
          <a:endParaRPr lang="en-US"/>
        </a:p>
      </dgm:t>
    </dgm:pt>
    <dgm:pt modelId="{E007FC52-18E6-422E-AA7A-D2A35691F67D}">
      <dgm:prSet phldrT="[Metin]"/>
      <dgm:spPr/>
      <dgm:t>
        <a:bodyPr/>
        <a:lstStyle/>
        <a:p>
          <a:r>
            <a:rPr lang="tr-TR" b="1" dirty="0" smtClean="0"/>
            <a:t>Full </a:t>
          </a:r>
          <a:r>
            <a:rPr lang="tr-TR" b="1" dirty="0" err="1" smtClean="0"/>
            <a:t>access</a:t>
          </a:r>
          <a:r>
            <a:rPr lang="tr-TR" smtClean="0"/>
            <a:t>: </a:t>
          </a:r>
          <a:r>
            <a:rPr lang="en-US" noProof="0" dirty="0" smtClean="0"/>
            <a:t>The whole of Universal Grammar is </a:t>
          </a:r>
          <a:r>
            <a:rPr lang="en-US" noProof="0" dirty="0" err="1" smtClean="0"/>
            <a:t>avaliable</a:t>
          </a:r>
          <a:r>
            <a:rPr lang="en-US" noProof="0" dirty="0" smtClean="0"/>
            <a:t> to second language learners , in the same way as it is to first language learners.</a:t>
          </a:r>
          <a:endParaRPr lang="en-US" noProof="0" dirty="0"/>
        </a:p>
      </dgm:t>
    </dgm:pt>
    <dgm:pt modelId="{594ECBE3-E66C-4E19-AB23-F70E43B4CD62}" type="parTrans" cxnId="{D70A8D1C-69DB-476B-838F-02C7751E8A47}">
      <dgm:prSet/>
      <dgm:spPr/>
      <dgm:t>
        <a:bodyPr/>
        <a:lstStyle/>
        <a:p>
          <a:endParaRPr lang="en-US"/>
        </a:p>
      </dgm:t>
    </dgm:pt>
    <dgm:pt modelId="{97B6A221-DCC5-406E-984A-7044C825A543}" type="sibTrans" cxnId="{D70A8D1C-69DB-476B-838F-02C7751E8A47}">
      <dgm:prSet/>
      <dgm:spPr/>
      <dgm:t>
        <a:bodyPr/>
        <a:lstStyle/>
        <a:p>
          <a:endParaRPr lang="en-US"/>
        </a:p>
      </dgm:t>
    </dgm:pt>
    <dgm:pt modelId="{27D0FE4C-C868-40D8-AFFD-E3DD4AAFD59D}">
      <dgm:prSet phldrT="[Metin]"/>
      <dgm:spPr/>
      <dgm:t>
        <a:bodyPr/>
        <a:lstStyle/>
        <a:p>
          <a:r>
            <a:rPr lang="en-US" b="1" noProof="0" dirty="0" smtClean="0"/>
            <a:t>Partial access</a:t>
          </a:r>
          <a:r>
            <a:rPr lang="en-US" noProof="0" dirty="0" smtClean="0"/>
            <a:t>: Some parts of  Universal Grammar is not </a:t>
          </a:r>
          <a:r>
            <a:rPr lang="en-US" noProof="0" dirty="0" err="1" smtClean="0"/>
            <a:t>avaliable</a:t>
          </a:r>
          <a:r>
            <a:rPr lang="en-US" noProof="0" dirty="0" smtClean="0"/>
            <a:t> any longer. For ex: functional features that are not realized in the first language can not be acquired.  </a:t>
          </a:r>
          <a:endParaRPr lang="en-US" noProof="0" dirty="0"/>
        </a:p>
      </dgm:t>
    </dgm:pt>
    <dgm:pt modelId="{772E1B61-D6D5-4EFB-895F-52DC1E010875}" type="parTrans" cxnId="{A6313543-909B-4816-8DB6-E524BAAE270F}">
      <dgm:prSet/>
      <dgm:spPr/>
      <dgm:t>
        <a:bodyPr/>
        <a:lstStyle/>
        <a:p>
          <a:endParaRPr lang="en-US"/>
        </a:p>
      </dgm:t>
    </dgm:pt>
    <dgm:pt modelId="{0B155D34-2F60-4D46-AEF3-7EFA1BA12C14}" type="sibTrans" cxnId="{A6313543-909B-4816-8DB6-E524BAAE270F}">
      <dgm:prSet/>
      <dgm:spPr/>
      <dgm:t>
        <a:bodyPr/>
        <a:lstStyle/>
        <a:p>
          <a:endParaRPr lang="en-US"/>
        </a:p>
      </dgm:t>
    </dgm:pt>
    <dgm:pt modelId="{016C2206-2F27-4012-BB7E-68259F4CDC05}">
      <dgm:prSet phldrT="[Metin]"/>
      <dgm:spPr/>
      <dgm:t>
        <a:bodyPr/>
        <a:lstStyle/>
        <a:p>
          <a:r>
            <a:rPr lang="en-US" noProof="0" dirty="0" smtClean="0"/>
            <a:t>   </a:t>
          </a:r>
          <a:endParaRPr lang="en-US" noProof="0" dirty="0"/>
        </a:p>
      </dgm:t>
    </dgm:pt>
    <dgm:pt modelId="{7154A49C-B7B4-4CB9-A58D-20AA091922B8}" type="parTrans" cxnId="{3B79EF1F-C346-4113-8664-D121902A8569}">
      <dgm:prSet/>
      <dgm:spPr/>
      <dgm:t>
        <a:bodyPr/>
        <a:lstStyle/>
        <a:p>
          <a:endParaRPr lang="en-US"/>
        </a:p>
      </dgm:t>
    </dgm:pt>
    <dgm:pt modelId="{8DFB2C3B-3489-4AF8-9B27-9AE122038057}" type="sibTrans" cxnId="{3B79EF1F-C346-4113-8664-D121902A8569}">
      <dgm:prSet/>
      <dgm:spPr/>
      <dgm:t>
        <a:bodyPr/>
        <a:lstStyle/>
        <a:p>
          <a:endParaRPr lang="en-US"/>
        </a:p>
      </dgm:t>
    </dgm:pt>
    <dgm:pt modelId="{82B881FD-0760-46E5-A8C1-2DFAD9126600}">
      <dgm:prSet phldrT="[Metin]" custT="1"/>
      <dgm:spPr/>
      <dgm:t>
        <a:bodyPr/>
        <a:lstStyle/>
        <a:p>
          <a:endParaRPr lang="en-US" sz="2400" b="0" dirty="0"/>
        </a:p>
      </dgm:t>
    </dgm:pt>
    <dgm:pt modelId="{9F19929A-3A42-4917-8CC6-AD807E2C709F}" type="parTrans" cxnId="{AF61CA2F-D488-4554-BA4C-990161DF0EAF}">
      <dgm:prSet/>
      <dgm:spPr/>
      <dgm:t>
        <a:bodyPr/>
        <a:lstStyle/>
        <a:p>
          <a:endParaRPr lang="en-US"/>
        </a:p>
      </dgm:t>
    </dgm:pt>
    <dgm:pt modelId="{64F42C60-9CFD-454C-8863-CD63446F65D9}" type="sibTrans" cxnId="{AF61CA2F-D488-4554-BA4C-990161DF0EAF}">
      <dgm:prSet/>
      <dgm:spPr/>
      <dgm:t>
        <a:bodyPr/>
        <a:lstStyle/>
        <a:p>
          <a:endParaRPr lang="en-US"/>
        </a:p>
      </dgm:t>
    </dgm:pt>
    <dgm:pt modelId="{4E46C73A-5772-423E-976B-3D982BBE73F9}" type="pres">
      <dgm:prSet presAssocID="{27926ABB-A933-4836-A68E-E53CB33B05B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22B250-4A05-4EEF-8304-3F797CCD3AD4}" type="pres">
      <dgm:prSet presAssocID="{606C9C04-C44F-4B8B-B688-666C19F42AC2}" presName="parentText" presStyleLbl="node1" presStyleIdx="0" presStyleCnt="2" custScaleY="24891" custLinFactNeighborY="868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1E9A6B-337C-4698-88FC-52435C10D9CE}" type="pres">
      <dgm:prSet presAssocID="{606C9C04-C44F-4B8B-B688-666C19F42AC2}" presName="childText" presStyleLbl="revTx" presStyleIdx="0" presStyleCnt="2" custScaleY="23333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A15244-1436-4856-A676-986C37543510}" type="pres">
      <dgm:prSet presAssocID="{0038D008-6CB1-4162-943E-544F675369B5}" presName="parentText" presStyleLbl="node1" presStyleIdx="1" presStyleCnt="2" custScaleY="29849" custLinFactNeighborY="-2242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65003F-409E-4711-99C6-139AD3FD362D}" type="pres">
      <dgm:prSet presAssocID="{0038D008-6CB1-4162-943E-544F675369B5}" presName="childText" presStyleLbl="revTx" presStyleIdx="1" presStyleCnt="2" custFlipVert="0" custScaleY="33531" custLinFactNeighborY="-2349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70A8D1C-69DB-476B-838F-02C7751E8A47}" srcId="{0038D008-6CB1-4162-943E-544F675369B5}" destId="{E007FC52-18E6-422E-AA7A-D2A35691F67D}" srcOrd="0" destOrd="0" parTransId="{594ECBE3-E66C-4E19-AB23-F70E43B4CD62}" sibTransId="{97B6A221-DCC5-406E-984A-7044C825A543}"/>
    <dgm:cxn modelId="{AF61CA2F-D488-4554-BA4C-990161DF0EAF}" srcId="{606C9C04-C44F-4B8B-B688-666C19F42AC2}" destId="{82B881FD-0760-46E5-A8C1-2DFAD9126600}" srcOrd="0" destOrd="0" parTransId="{9F19929A-3A42-4917-8CC6-AD807E2C709F}" sibTransId="{64F42C60-9CFD-454C-8863-CD63446F65D9}"/>
    <dgm:cxn modelId="{E1C8CE85-4BDC-4E38-A4A7-935798CE0E4B}" srcId="{27926ABB-A933-4836-A68E-E53CB33B05B0}" destId="{0038D008-6CB1-4162-943E-544F675369B5}" srcOrd="1" destOrd="0" parTransId="{CB90DEA4-489A-4394-B2A8-C2CF26608427}" sibTransId="{643FBB1C-75F8-4B69-A633-D8C342D0D8BB}"/>
    <dgm:cxn modelId="{CDC3E1F9-BE15-437F-A308-F95B264DDCE9}" srcId="{606C9C04-C44F-4B8B-B688-666C19F42AC2}" destId="{3DB59A6F-2662-4EB2-81F3-D1E40409EE54}" srcOrd="1" destOrd="0" parTransId="{0163D149-A71C-4684-A220-6E73D5055923}" sibTransId="{193084A6-39A4-4FB7-AB0E-2754D4BE2E4E}"/>
    <dgm:cxn modelId="{BF940897-F37B-488D-8B2A-A85CBB0B28EE}" type="presOf" srcId="{27926ABB-A933-4836-A68E-E53CB33B05B0}" destId="{4E46C73A-5772-423E-976B-3D982BBE73F9}" srcOrd="0" destOrd="0" presId="urn:microsoft.com/office/officeart/2005/8/layout/vList2"/>
    <dgm:cxn modelId="{9ADCD9CA-67A2-4FE8-8FAF-A4BD27CD377F}" type="presOf" srcId="{016C2206-2F27-4012-BB7E-68259F4CDC05}" destId="{1065003F-409E-4711-99C6-139AD3FD362D}" srcOrd="0" destOrd="1" presId="urn:microsoft.com/office/officeart/2005/8/layout/vList2"/>
    <dgm:cxn modelId="{4D58513C-8067-4FBA-9C8D-08BADFEFF80B}" type="presOf" srcId="{E007FC52-18E6-422E-AA7A-D2A35691F67D}" destId="{1065003F-409E-4711-99C6-139AD3FD362D}" srcOrd="0" destOrd="0" presId="urn:microsoft.com/office/officeart/2005/8/layout/vList2"/>
    <dgm:cxn modelId="{F7502E0D-4385-4653-BB35-A7B6CD1FB7DE}" type="presOf" srcId="{606C9C04-C44F-4B8B-B688-666C19F42AC2}" destId="{A222B250-4A05-4EEF-8304-3F797CCD3AD4}" srcOrd="0" destOrd="0" presId="urn:microsoft.com/office/officeart/2005/8/layout/vList2"/>
    <dgm:cxn modelId="{A6313543-909B-4816-8DB6-E524BAAE270F}" srcId="{0038D008-6CB1-4162-943E-544F675369B5}" destId="{27D0FE4C-C868-40D8-AFFD-E3DD4AAFD59D}" srcOrd="2" destOrd="0" parTransId="{772E1B61-D6D5-4EFB-895F-52DC1E010875}" sibTransId="{0B155D34-2F60-4D46-AEF3-7EFA1BA12C14}"/>
    <dgm:cxn modelId="{703DFE77-86A1-4FA9-9269-14DADF831840}" type="presOf" srcId="{82B881FD-0760-46E5-A8C1-2DFAD9126600}" destId="{AF1E9A6B-337C-4698-88FC-52435C10D9CE}" srcOrd="0" destOrd="0" presId="urn:microsoft.com/office/officeart/2005/8/layout/vList2"/>
    <dgm:cxn modelId="{ECD327D3-7863-41DE-AD74-5BFBB983EB7C}" type="presOf" srcId="{3DB59A6F-2662-4EB2-81F3-D1E40409EE54}" destId="{AF1E9A6B-337C-4698-88FC-52435C10D9CE}" srcOrd="0" destOrd="1" presId="urn:microsoft.com/office/officeart/2005/8/layout/vList2"/>
    <dgm:cxn modelId="{B1A0A090-7974-460B-BF0A-D94DB49DB1D7}" srcId="{27926ABB-A933-4836-A68E-E53CB33B05B0}" destId="{606C9C04-C44F-4B8B-B688-666C19F42AC2}" srcOrd="0" destOrd="0" parTransId="{7BE5DA60-C690-45F0-8478-084391C7C6C8}" sibTransId="{2E0DC573-2395-4F85-A4A7-10979478F160}"/>
    <dgm:cxn modelId="{699FAE75-1054-4D5F-9E10-F153335C0115}" type="presOf" srcId="{0038D008-6CB1-4162-943E-544F675369B5}" destId="{E9A15244-1436-4856-A676-986C37543510}" srcOrd="0" destOrd="0" presId="urn:microsoft.com/office/officeart/2005/8/layout/vList2"/>
    <dgm:cxn modelId="{3B79EF1F-C346-4113-8664-D121902A8569}" srcId="{0038D008-6CB1-4162-943E-544F675369B5}" destId="{016C2206-2F27-4012-BB7E-68259F4CDC05}" srcOrd="1" destOrd="0" parTransId="{7154A49C-B7B4-4CB9-A58D-20AA091922B8}" sibTransId="{8DFB2C3B-3489-4AF8-9B27-9AE122038057}"/>
    <dgm:cxn modelId="{2BAE3561-0EC2-4831-A61B-AC5CA0EF20C0}" type="presOf" srcId="{27D0FE4C-C868-40D8-AFFD-E3DD4AAFD59D}" destId="{1065003F-409E-4711-99C6-139AD3FD362D}" srcOrd="0" destOrd="2" presId="urn:microsoft.com/office/officeart/2005/8/layout/vList2"/>
    <dgm:cxn modelId="{91C1AAA4-10E3-4907-9345-182AE0E792E2}" type="presParOf" srcId="{4E46C73A-5772-423E-976B-3D982BBE73F9}" destId="{A222B250-4A05-4EEF-8304-3F797CCD3AD4}" srcOrd="0" destOrd="0" presId="urn:microsoft.com/office/officeart/2005/8/layout/vList2"/>
    <dgm:cxn modelId="{899E30B7-B969-4CEA-A8B9-951951D69E72}" type="presParOf" srcId="{4E46C73A-5772-423E-976B-3D982BBE73F9}" destId="{AF1E9A6B-337C-4698-88FC-52435C10D9CE}" srcOrd="1" destOrd="0" presId="urn:microsoft.com/office/officeart/2005/8/layout/vList2"/>
    <dgm:cxn modelId="{4BE831D0-DCF9-4371-BB83-D6BB998A208B}" type="presParOf" srcId="{4E46C73A-5772-423E-976B-3D982BBE73F9}" destId="{E9A15244-1436-4856-A676-986C37543510}" srcOrd="2" destOrd="0" presId="urn:microsoft.com/office/officeart/2005/8/layout/vList2"/>
    <dgm:cxn modelId="{CBF128AD-D765-4C4C-B272-36180EFC10F4}" type="presParOf" srcId="{4E46C73A-5772-423E-976B-3D982BBE73F9}" destId="{1065003F-409E-4711-99C6-139AD3FD362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51CF7-AAD2-4F64-A79B-AB8681B995B9}">
      <dsp:nvSpPr>
        <dsp:cNvPr id="0" name=""/>
        <dsp:cNvSpPr/>
      </dsp:nvSpPr>
      <dsp:spPr>
        <a:xfrm>
          <a:off x="1908834" y="2067128"/>
          <a:ext cx="2316830" cy="199517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50800" dir="5400000" rotWithShape="0">
            <a:srgbClr val="4E3B30">
              <a:alpha val="6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200" kern="1200" dirty="0" err="1" smtClean="0">
              <a:solidFill>
                <a:schemeClr val="tx1"/>
              </a:solidFill>
            </a:rPr>
            <a:t>Noam</a:t>
          </a:r>
          <a:r>
            <a:rPr lang="tr-TR" sz="3200" kern="1200" dirty="0" smtClean="0">
              <a:solidFill>
                <a:schemeClr val="tx1"/>
              </a:solidFill>
            </a:rPr>
            <a:t> 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200" kern="1200" dirty="0" smtClean="0">
              <a:solidFill>
                <a:schemeClr val="tx1"/>
              </a:solidFill>
            </a:rPr>
            <a:t>Chomsky</a:t>
          </a:r>
          <a:endParaRPr lang="en-GB" sz="3200" kern="1200" dirty="0">
            <a:solidFill>
              <a:schemeClr val="tx1"/>
            </a:solidFill>
          </a:endParaRPr>
        </a:p>
      </dsp:txBody>
      <dsp:txXfrm>
        <a:off x="2268167" y="2376573"/>
        <a:ext cx="1598164" cy="1376281"/>
      </dsp:txXfrm>
    </dsp:sp>
    <dsp:sp modelId="{46D6D9F4-5A40-4BA6-A27C-0D71C49B8C60}">
      <dsp:nvSpPr>
        <dsp:cNvPr id="0" name=""/>
        <dsp:cNvSpPr/>
      </dsp:nvSpPr>
      <dsp:spPr>
        <a:xfrm>
          <a:off x="1991235" y="2618833"/>
          <a:ext cx="270402" cy="23338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7FAAE1-CEA1-45A1-ACCA-5852A2A6B40B}">
      <dsp:nvSpPr>
        <dsp:cNvPr id="0" name=""/>
        <dsp:cNvSpPr/>
      </dsp:nvSpPr>
      <dsp:spPr>
        <a:xfrm>
          <a:off x="-22670" y="741185"/>
          <a:ext cx="2404548" cy="2334055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85DD2-1C1B-486C-8C0D-EB02371DDAAC}">
      <dsp:nvSpPr>
        <dsp:cNvPr id="0" name=""/>
        <dsp:cNvSpPr/>
      </dsp:nvSpPr>
      <dsp:spPr>
        <a:xfrm>
          <a:off x="1589228" y="2400707"/>
          <a:ext cx="270402" cy="23338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52643-86D8-4D5D-84F0-6203D52D0F8C}">
      <dsp:nvSpPr>
        <dsp:cNvPr id="0" name=""/>
        <dsp:cNvSpPr/>
      </dsp:nvSpPr>
      <dsp:spPr>
        <a:xfrm>
          <a:off x="-5116991" y="-783865"/>
          <a:ext cx="6093692" cy="6093692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4E701E-FBB1-4CED-A34C-C30572D97884}">
      <dsp:nvSpPr>
        <dsp:cNvPr id="0" name=""/>
        <dsp:cNvSpPr/>
      </dsp:nvSpPr>
      <dsp:spPr>
        <a:xfrm>
          <a:off x="427226" y="282782"/>
          <a:ext cx="7739890" cy="565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204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100" kern="1200" dirty="0" smtClean="0">
              <a:solidFill>
                <a:schemeClr val="tx1"/>
              </a:solidFill>
            </a:rPr>
            <a:t>UG </a:t>
          </a:r>
          <a:r>
            <a:rPr lang="en-US" sz="3100" kern="1200" noProof="0" dirty="0" smtClean="0">
              <a:solidFill>
                <a:schemeClr val="tx1"/>
              </a:solidFill>
            </a:rPr>
            <a:t>arguments from L1 acquisition</a:t>
          </a:r>
          <a:endParaRPr lang="en-US" sz="3100" kern="1200" noProof="0" dirty="0">
            <a:solidFill>
              <a:schemeClr val="tx1"/>
            </a:solidFill>
          </a:endParaRPr>
        </a:p>
      </dsp:txBody>
      <dsp:txXfrm>
        <a:off x="427226" y="282782"/>
        <a:ext cx="7739890" cy="565926"/>
      </dsp:txXfrm>
    </dsp:sp>
    <dsp:sp modelId="{DE28BC9A-6938-46EE-A9DB-FA3DB4809866}">
      <dsp:nvSpPr>
        <dsp:cNvPr id="0" name=""/>
        <dsp:cNvSpPr/>
      </dsp:nvSpPr>
      <dsp:spPr>
        <a:xfrm>
          <a:off x="85958" y="182174"/>
          <a:ext cx="707407" cy="7074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2A48E-86EC-4687-8A26-21C0C9B21980}">
      <dsp:nvSpPr>
        <dsp:cNvPr id="0" name=""/>
        <dsp:cNvSpPr/>
      </dsp:nvSpPr>
      <dsp:spPr>
        <a:xfrm>
          <a:off x="832752" y="1131399"/>
          <a:ext cx="7334364" cy="565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204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100" kern="1200" dirty="0" smtClean="0">
              <a:solidFill>
                <a:schemeClr val="tx1"/>
              </a:solidFill>
            </a:rPr>
            <a:t>UG </a:t>
          </a:r>
          <a:r>
            <a:rPr lang="en-US" sz="3100" kern="1200" noProof="0" dirty="0" smtClean="0">
              <a:solidFill>
                <a:schemeClr val="tx1"/>
              </a:solidFill>
            </a:rPr>
            <a:t>arguments from L2 acquisition</a:t>
          </a:r>
          <a:endParaRPr lang="en-US" sz="3100" kern="1200" noProof="0" dirty="0">
            <a:solidFill>
              <a:schemeClr val="tx1"/>
            </a:solidFill>
          </a:endParaRPr>
        </a:p>
      </dsp:txBody>
      <dsp:txXfrm>
        <a:off x="832752" y="1131399"/>
        <a:ext cx="7334364" cy="565926"/>
      </dsp:txXfrm>
    </dsp:sp>
    <dsp:sp modelId="{58CFF6D9-52C2-4F5D-8CAE-516E409D648F}">
      <dsp:nvSpPr>
        <dsp:cNvPr id="0" name=""/>
        <dsp:cNvSpPr/>
      </dsp:nvSpPr>
      <dsp:spPr>
        <a:xfrm>
          <a:off x="479048" y="1060659"/>
          <a:ext cx="707407" cy="7074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2D67E-BC72-435B-9754-385E2565CE85}">
      <dsp:nvSpPr>
        <dsp:cNvPr id="0" name=""/>
        <dsp:cNvSpPr/>
      </dsp:nvSpPr>
      <dsp:spPr>
        <a:xfrm>
          <a:off x="957216" y="1980017"/>
          <a:ext cx="7209900" cy="565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204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100" kern="1200" dirty="0" err="1" smtClean="0">
              <a:solidFill>
                <a:schemeClr val="tx1"/>
              </a:solidFill>
            </a:rPr>
            <a:t>Principles</a:t>
          </a:r>
          <a:r>
            <a:rPr lang="tr-TR" sz="3100" kern="1200" dirty="0" smtClean="0">
              <a:solidFill>
                <a:schemeClr val="tx1"/>
              </a:solidFill>
            </a:rPr>
            <a:t> </a:t>
          </a:r>
          <a:r>
            <a:rPr lang="tr-TR" sz="3100" kern="1200" dirty="0" err="1" smtClean="0">
              <a:solidFill>
                <a:schemeClr val="tx1"/>
              </a:solidFill>
            </a:rPr>
            <a:t>and</a:t>
          </a:r>
          <a:r>
            <a:rPr lang="tr-TR" sz="3100" kern="1200" dirty="0" smtClean="0">
              <a:solidFill>
                <a:schemeClr val="tx1"/>
              </a:solidFill>
            </a:rPr>
            <a:t> </a:t>
          </a:r>
          <a:r>
            <a:rPr lang="tr-TR" sz="3100" kern="1200" dirty="0" err="1" smtClean="0">
              <a:solidFill>
                <a:schemeClr val="tx1"/>
              </a:solidFill>
            </a:rPr>
            <a:t>Parameters</a:t>
          </a:r>
          <a:endParaRPr lang="en-GB" sz="3100" kern="1200" dirty="0">
            <a:solidFill>
              <a:schemeClr val="tx1"/>
            </a:solidFill>
          </a:endParaRPr>
        </a:p>
      </dsp:txBody>
      <dsp:txXfrm>
        <a:off x="957216" y="1980017"/>
        <a:ext cx="7209900" cy="565926"/>
      </dsp:txXfrm>
    </dsp:sp>
    <dsp:sp modelId="{C5B0A3EA-657B-4AA9-BD18-93C78A0E41EF}">
      <dsp:nvSpPr>
        <dsp:cNvPr id="0" name=""/>
        <dsp:cNvSpPr/>
      </dsp:nvSpPr>
      <dsp:spPr>
        <a:xfrm>
          <a:off x="603512" y="1909277"/>
          <a:ext cx="707407" cy="7074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950D7-78A3-49FD-8ADD-A1E0027BDDF1}">
      <dsp:nvSpPr>
        <dsp:cNvPr id="0" name=""/>
        <dsp:cNvSpPr/>
      </dsp:nvSpPr>
      <dsp:spPr>
        <a:xfrm>
          <a:off x="864070" y="2808313"/>
          <a:ext cx="7334364" cy="565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204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100" kern="1200" dirty="0" smtClean="0"/>
            <a:t>  </a:t>
          </a:r>
          <a:r>
            <a:rPr lang="tr-TR" sz="3100" kern="1200" dirty="0" smtClean="0">
              <a:solidFill>
                <a:schemeClr val="tx1"/>
              </a:solidFill>
            </a:rPr>
            <a:t>UG </a:t>
          </a:r>
          <a:r>
            <a:rPr lang="en-US" sz="3100" kern="1200" noProof="0" dirty="0" smtClean="0">
              <a:solidFill>
                <a:schemeClr val="tx1"/>
              </a:solidFill>
            </a:rPr>
            <a:t>access Hypotheses </a:t>
          </a:r>
          <a:endParaRPr lang="en-US" sz="3100" kern="1200" noProof="0" dirty="0">
            <a:solidFill>
              <a:schemeClr val="tx1"/>
            </a:solidFill>
          </a:endParaRPr>
        </a:p>
      </dsp:txBody>
      <dsp:txXfrm>
        <a:off x="864070" y="2808313"/>
        <a:ext cx="7334364" cy="565926"/>
      </dsp:txXfrm>
    </dsp:sp>
    <dsp:sp modelId="{673A5447-7403-49E0-8C84-19C7536A065E}">
      <dsp:nvSpPr>
        <dsp:cNvPr id="0" name=""/>
        <dsp:cNvSpPr/>
      </dsp:nvSpPr>
      <dsp:spPr>
        <a:xfrm>
          <a:off x="479048" y="2757894"/>
          <a:ext cx="707407" cy="7074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95F976-EE01-4D64-B2A8-0F5B30086B53}">
      <dsp:nvSpPr>
        <dsp:cNvPr id="0" name=""/>
        <dsp:cNvSpPr/>
      </dsp:nvSpPr>
      <dsp:spPr>
        <a:xfrm>
          <a:off x="489709" y="3816426"/>
          <a:ext cx="7739890" cy="565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204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100" kern="1200" dirty="0" smtClean="0"/>
            <a:t>  </a:t>
          </a:r>
          <a:r>
            <a:rPr lang="en-US" sz="3100" kern="1200" noProof="0" dirty="0" smtClean="0">
              <a:solidFill>
                <a:schemeClr val="tx1"/>
              </a:solidFill>
            </a:rPr>
            <a:t>Parameter setting Hypotheses </a:t>
          </a:r>
          <a:endParaRPr lang="en-US" sz="3100" kern="1200" noProof="0" dirty="0">
            <a:solidFill>
              <a:schemeClr val="tx1"/>
            </a:solidFill>
          </a:endParaRPr>
        </a:p>
      </dsp:txBody>
      <dsp:txXfrm>
        <a:off x="489709" y="3816426"/>
        <a:ext cx="7739890" cy="565926"/>
      </dsp:txXfrm>
    </dsp:sp>
    <dsp:sp modelId="{8FA3E8BC-BC9A-4BE8-A7A0-0493E7A5531A}">
      <dsp:nvSpPr>
        <dsp:cNvPr id="0" name=""/>
        <dsp:cNvSpPr/>
      </dsp:nvSpPr>
      <dsp:spPr>
        <a:xfrm>
          <a:off x="73522" y="3606512"/>
          <a:ext cx="707407" cy="7074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2B250-4A05-4EEF-8304-3F797CCD3AD4}">
      <dsp:nvSpPr>
        <dsp:cNvPr id="0" name=""/>
        <dsp:cNvSpPr/>
      </dsp:nvSpPr>
      <dsp:spPr>
        <a:xfrm>
          <a:off x="0" y="332658"/>
          <a:ext cx="8229600" cy="642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400" kern="1200" dirty="0" smtClean="0">
              <a:solidFill>
                <a:schemeClr val="tx1"/>
              </a:solidFill>
            </a:rPr>
            <a:t>Second </a:t>
          </a:r>
          <a:r>
            <a:rPr lang="tr-TR" sz="2400" kern="1200" dirty="0" err="1" smtClean="0">
              <a:solidFill>
                <a:schemeClr val="tx1"/>
              </a:solidFill>
            </a:rPr>
            <a:t>Languages</a:t>
          </a:r>
          <a:r>
            <a:rPr lang="tr-TR" sz="2400" kern="1200" dirty="0" smtClean="0">
              <a:solidFill>
                <a:schemeClr val="tx1"/>
              </a:solidFill>
            </a:rPr>
            <a:t> </a:t>
          </a:r>
          <a:r>
            <a:rPr lang="tr-TR" sz="2400" kern="1200" dirty="0" err="1" smtClean="0">
              <a:solidFill>
                <a:schemeClr val="tx1"/>
              </a:solidFill>
            </a:rPr>
            <a:t>are</a:t>
          </a:r>
          <a:r>
            <a:rPr lang="tr-TR" sz="2400" kern="1200" dirty="0" smtClean="0">
              <a:solidFill>
                <a:schemeClr val="tx1"/>
              </a:solidFill>
            </a:rPr>
            <a:t> not Universal </a:t>
          </a:r>
          <a:r>
            <a:rPr lang="tr-TR" sz="2400" kern="1200" dirty="0" err="1" smtClean="0">
              <a:solidFill>
                <a:schemeClr val="tx1"/>
              </a:solidFill>
            </a:rPr>
            <a:t>Grammar</a:t>
          </a:r>
          <a:r>
            <a:rPr lang="tr-TR" sz="2400" kern="1200" dirty="0" smtClean="0">
              <a:solidFill>
                <a:schemeClr val="tx1"/>
              </a:solidFill>
            </a:rPr>
            <a:t> –</a:t>
          </a:r>
          <a:r>
            <a:rPr lang="tr-TR" sz="2400" kern="1200" dirty="0" err="1" smtClean="0">
              <a:solidFill>
                <a:schemeClr val="tx1"/>
              </a:solidFill>
            </a:rPr>
            <a:t>constrained</a:t>
          </a:r>
          <a:r>
            <a:rPr lang="tr-TR" sz="2400" kern="1200" dirty="0" smtClean="0">
              <a:solidFill>
                <a:schemeClr val="tx1"/>
              </a:solidFill>
            </a:rPr>
            <a:t> 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1347" y="364005"/>
        <a:ext cx="8166906" cy="579456"/>
      </dsp:txXfrm>
    </dsp:sp>
    <dsp:sp modelId="{AF1E9A6B-337C-4698-88FC-52435C10D9CE}">
      <dsp:nvSpPr>
        <dsp:cNvPr id="0" name=""/>
        <dsp:cNvSpPr/>
      </dsp:nvSpPr>
      <dsp:spPr>
        <a:xfrm>
          <a:off x="0" y="853668"/>
          <a:ext cx="8229600" cy="3254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400" b="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400" b="0" kern="1200" noProof="0" dirty="0" smtClean="0"/>
            <a:t>Second languages  are not constrained by Universal Grammar principles and parameters and they do not behave like natural languages </a:t>
          </a:r>
          <a:endParaRPr lang="en-US" sz="2400" b="0" kern="1200" noProof="0" dirty="0"/>
        </a:p>
      </dsp:txBody>
      <dsp:txXfrm>
        <a:off x="0" y="853668"/>
        <a:ext cx="8229600" cy="3254207"/>
      </dsp:txXfrm>
    </dsp:sp>
    <dsp:sp modelId="{E9A15244-1436-4856-A676-986C37543510}">
      <dsp:nvSpPr>
        <dsp:cNvPr id="0" name=""/>
        <dsp:cNvSpPr/>
      </dsp:nvSpPr>
      <dsp:spPr>
        <a:xfrm>
          <a:off x="0" y="2924943"/>
          <a:ext cx="8229600" cy="7700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400" kern="1200" dirty="0" smtClean="0">
              <a:solidFill>
                <a:schemeClr val="tx1"/>
              </a:solidFill>
            </a:rPr>
            <a:t>Second </a:t>
          </a:r>
          <a:r>
            <a:rPr lang="tr-TR" sz="2400" kern="1200" dirty="0" err="1" smtClean="0">
              <a:solidFill>
                <a:schemeClr val="tx1"/>
              </a:solidFill>
            </a:rPr>
            <a:t>Languages</a:t>
          </a:r>
          <a:r>
            <a:rPr lang="tr-TR" sz="2400" kern="1200" dirty="0" smtClean="0">
              <a:solidFill>
                <a:schemeClr val="tx1"/>
              </a:solidFill>
            </a:rPr>
            <a:t> </a:t>
          </a:r>
          <a:r>
            <a:rPr lang="tr-TR" sz="2400" kern="1200" dirty="0" err="1" smtClean="0">
              <a:solidFill>
                <a:schemeClr val="tx1"/>
              </a:solidFill>
            </a:rPr>
            <a:t>are</a:t>
          </a:r>
          <a:r>
            <a:rPr lang="tr-TR" sz="2400" kern="1200" dirty="0" smtClean="0">
              <a:solidFill>
                <a:schemeClr val="tx1"/>
              </a:solidFill>
            </a:rPr>
            <a:t> Universal </a:t>
          </a:r>
          <a:r>
            <a:rPr lang="tr-TR" sz="2400" kern="1200" dirty="0" err="1" smtClean="0">
              <a:solidFill>
                <a:schemeClr val="tx1"/>
              </a:solidFill>
            </a:rPr>
            <a:t>Grammar</a:t>
          </a:r>
          <a:r>
            <a:rPr lang="tr-TR" sz="2400" kern="1200" dirty="0" smtClean="0">
              <a:solidFill>
                <a:schemeClr val="tx1"/>
              </a:solidFill>
            </a:rPr>
            <a:t> –</a:t>
          </a:r>
          <a:r>
            <a:rPr lang="tr-TR" sz="2400" kern="1200" dirty="0" err="1" smtClean="0">
              <a:solidFill>
                <a:schemeClr val="tx1"/>
              </a:solidFill>
            </a:rPr>
            <a:t>constrained</a:t>
          </a:r>
          <a:r>
            <a:rPr lang="tr-TR" sz="2400" kern="1200" dirty="0" smtClean="0">
              <a:solidFill>
                <a:schemeClr val="tx1"/>
              </a:solidFill>
            </a:rPr>
            <a:t> 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7591" y="2962534"/>
        <a:ext cx="8154418" cy="694877"/>
      </dsp:txXfrm>
    </dsp:sp>
    <dsp:sp modelId="{1065003F-409E-4711-99C6-139AD3FD362D}">
      <dsp:nvSpPr>
        <dsp:cNvPr id="0" name=""/>
        <dsp:cNvSpPr/>
      </dsp:nvSpPr>
      <dsp:spPr>
        <a:xfrm>
          <a:off x="0" y="4271774"/>
          <a:ext cx="8229600" cy="1768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tr-TR" sz="1900" b="1" kern="1200" dirty="0" smtClean="0"/>
            <a:t>Full </a:t>
          </a:r>
          <a:r>
            <a:rPr lang="tr-TR" sz="1900" b="1" kern="1200" dirty="0" err="1" smtClean="0"/>
            <a:t>access</a:t>
          </a:r>
          <a:r>
            <a:rPr lang="tr-TR" sz="1900" kern="1200" smtClean="0"/>
            <a:t>: </a:t>
          </a:r>
          <a:r>
            <a:rPr lang="en-US" sz="1900" kern="1200" noProof="0" dirty="0" smtClean="0"/>
            <a:t>The whole of Universal Grammar is </a:t>
          </a:r>
          <a:r>
            <a:rPr lang="en-US" sz="1900" kern="1200" noProof="0" dirty="0" err="1" smtClean="0"/>
            <a:t>avaliable</a:t>
          </a:r>
          <a:r>
            <a:rPr lang="en-US" sz="1900" kern="1200" noProof="0" dirty="0" smtClean="0"/>
            <a:t> to second language learners , in the same way as it is to first language learners.</a:t>
          </a:r>
          <a:endParaRPr lang="en-US" sz="1900" kern="1200" noProof="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noProof="0" dirty="0" smtClean="0"/>
            <a:t>   </a:t>
          </a:r>
          <a:endParaRPr lang="en-US" sz="1900" kern="1200" noProof="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b="1" kern="1200" noProof="0" dirty="0" smtClean="0"/>
            <a:t>Partial access</a:t>
          </a:r>
          <a:r>
            <a:rPr lang="en-US" sz="1900" kern="1200" noProof="0" dirty="0" smtClean="0"/>
            <a:t>: Some parts of  Universal Grammar is not </a:t>
          </a:r>
          <a:r>
            <a:rPr lang="en-US" sz="1900" kern="1200" noProof="0" dirty="0" err="1" smtClean="0"/>
            <a:t>avaliable</a:t>
          </a:r>
          <a:r>
            <a:rPr lang="en-US" sz="1900" kern="1200" noProof="0" dirty="0" smtClean="0"/>
            <a:t> any longer. For ex: functional features that are not realized in the first language can not be acquired.  </a:t>
          </a:r>
          <a:endParaRPr lang="en-US" sz="1900" kern="1200" noProof="0" dirty="0"/>
        </a:p>
      </dsp:txBody>
      <dsp:txXfrm>
        <a:off x="0" y="4271774"/>
        <a:ext cx="8229600" cy="1768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k Üçgen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Başlık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7" name="Alt Başlık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grpSp>
        <p:nvGrpSpPr>
          <p:cNvPr id="2" name="Gr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Serbest 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Serbest 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Serbest 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Düz Bağlayıcı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Veri Yer Tutucusu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19" name="Altbilgi Yer Tutucusu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aşlık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Köşeli Çift Ayraç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Köşeli Çift Ayraç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  <p:sp>
        <p:nvSpPr>
          <p:cNvPr id="8" name="Başlık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  <p:sp>
        <p:nvSpPr>
          <p:cNvPr id="6" name="Başlık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8" name="Serbest 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Serbest 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Dik Üçgen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Düz Bağlayıcı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Köşeli Çift Ayraç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Köşeli Çift Ayraç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rbest 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Serbest 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Dik Üçgen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Düz Bağlayıcı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aşlık Yer Tutucusu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0" name="Metin Yer Tutucusu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0" name="Veri Yer Tutucusu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E91B34E-7ACC-4925-AB72-425C8F960A1B}" type="datetimeFigureOut">
              <a:rPr lang="en-GB" smtClean="0"/>
              <a:t>11/11/2013</a:t>
            </a:fld>
            <a:endParaRPr lang="en-GB"/>
          </a:p>
        </p:txBody>
      </p:sp>
      <p:sp>
        <p:nvSpPr>
          <p:cNvPr id="22" name="Altbilgi Yer Tutucusu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34B49EB-BBDB-417D-99AA-24452E7DB53E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908721"/>
            <a:ext cx="7772400" cy="1656183"/>
          </a:xfrm>
        </p:spPr>
        <p:txBody>
          <a:bodyPr>
            <a:normAutofit/>
          </a:bodyPr>
          <a:lstStyle/>
          <a:p>
            <a:r>
              <a:rPr lang="tr-TR" dirty="0" err="1" smtClean="0"/>
              <a:t>The</a:t>
            </a:r>
            <a:r>
              <a:rPr lang="tr-TR" dirty="0" smtClean="0"/>
              <a:t> Universal </a:t>
            </a:r>
            <a:r>
              <a:rPr lang="tr-TR" dirty="0" err="1" smtClean="0"/>
              <a:t>Grammar</a:t>
            </a:r>
            <a:r>
              <a:rPr lang="tr-TR" dirty="0" smtClean="0"/>
              <a:t> </a:t>
            </a:r>
            <a:r>
              <a:rPr lang="tr-TR" dirty="0" err="1" smtClean="0"/>
              <a:t>Approach</a:t>
            </a:r>
            <a:r>
              <a:rPr lang="tr-TR" dirty="0" smtClean="0"/>
              <a:t>: UG</a:t>
            </a:r>
            <a:endParaRPr lang="en-GB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755576" y="2924944"/>
            <a:ext cx="7772400" cy="3024336"/>
          </a:xfrm>
        </p:spPr>
        <p:txBody>
          <a:bodyPr>
            <a:noAutofit/>
          </a:bodyPr>
          <a:lstStyle/>
          <a:p>
            <a:endParaRPr lang="tr-TR" sz="1600" dirty="0" smtClean="0"/>
          </a:p>
          <a:p>
            <a:endParaRPr lang="tr-TR" sz="1600" dirty="0" smtClean="0"/>
          </a:p>
          <a:p>
            <a:r>
              <a:rPr lang="en-GB" sz="1600" dirty="0" smtClean="0"/>
              <a:t>MARMARA </a:t>
            </a:r>
            <a:r>
              <a:rPr lang="en-GB" sz="1600" dirty="0"/>
              <a:t>UNIVERSITY</a:t>
            </a:r>
          </a:p>
          <a:p>
            <a:r>
              <a:rPr lang="en-GB" sz="1600" dirty="0" smtClean="0"/>
              <a:t>  </a:t>
            </a:r>
            <a:r>
              <a:rPr lang="en-GB" sz="1600" dirty="0"/>
              <a:t>DEPARTMANT OF ELT   </a:t>
            </a:r>
          </a:p>
          <a:p>
            <a:r>
              <a:rPr lang="en-GB" sz="1600" dirty="0"/>
              <a:t> </a:t>
            </a:r>
            <a:r>
              <a:rPr lang="en-GB" sz="1600" dirty="0" smtClean="0"/>
              <a:t>  </a:t>
            </a:r>
            <a:r>
              <a:rPr lang="en-GB" sz="1600" dirty="0"/>
              <a:t>MA PROGRAMME </a:t>
            </a:r>
          </a:p>
          <a:p>
            <a:r>
              <a:rPr lang="tr-TR" sz="1600" dirty="0" smtClean="0"/>
              <a:t>Second Language </a:t>
            </a:r>
            <a:r>
              <a:rPr lang="tr-TR" sz="1600" dirty="0" err="1" smtClean="0"/>
              <a:t>Acqusition</a:t>
            </a:r>
            <a:endParaRPr lang="tr-TR" sz="1600" dirty="0" smtClean="0"/>
          </a:p>
          <a:p>
            <a:r>
              <a:rPr lang="tr-TR" sz="1600" dirty="0" err="1" smtClean="0"/>
              <a:t>Submitted</a:t>
            </a:r>
            <a:r>
              <a:rPr lang="tr-TR" sz="1600" dirty="0" smtClean="0"/>
              <a:t> </a:t>
            </a:r>
            <a:r>
              <a:rPr lang="tr-TR" sz="1600" dirty="0" err="1" smtClean="0"/>
              <a:t>to</a:t>
            </a:r>
            <a:r>
              <a:rPr lang="tr-TR" sz="1600" dirty="0" smtClean="0"/>
              <a:t> </a:t>
            </a:r>
            <a:r>
              <a:rPr lang="tr-TR" sz="1600" dirty="0" err="1" smtClean="0"/>
              <a:t>Assist.Prof</a:t>
            </a:r>
            <a:r>
              <a:rPr lang="tr-TR" sz="1600" dirty="0" smtClean="0"/>
              <a:t>. Dr. Zeynep Çamlıbel-Acar</a:t>
            </a:r>
            <a:r>
              <a:rPr lang="en-GB" sz="1600" dirty="0" smtClean="0"/>
              <a:t>              </a:t>
            </a:r>
            <a:endParaRPr lang="en-GB" sz="1600" dirty="0"/>
          </a:p>
          <a:p>
            <a:r>
              <a:rPr lang="en-GB" sz="1600" dirty="0"/>
              <a:t>Submitted by </a:t>
            </a:r>
            <a:r>
              <a:rPr lang="en-GB" sz="1600" dirty="0" err="1"/>
              <a:t>Buket</a:t>
            </a:r>
            <a:r>
              <a:rPr lang="en-GB" sz="1600" dirty="0"/>
              <a:t> </a:t>
            </a:r>
            <a:r>
              <a:rPr lang="en-GB" sz="1600" dirty="0" err="1"/>
              <a:t>Demirbüken</a:t>
            </a:r>
            <a:endParaRPr lang="en-GB" sz="1600" dirty="0"/>
          </a:p>
          <a:p>
            <a:r>
              <a:rPr lang="en-GB" sz="1600" dirty="0" smtClean="0"/>
              <a:t>Fall </a:t>
            </a:r>
            <a:r>
              <a:rPr lang="en-GB" sz="1600" dirty="0"/>
              <a:t>2013, İstanbul </a:t>
            </a:r>
          </a:p>
        </p:txBody>
      </p:sp>
      <p:graphicFrame>
        <p:nvGraphicFramePr>
          <p:cNvPr id="4" name="Diyagram 3"/>
          <p:cNvGraphicFramePr/>
          <p:nvPr>
            <p:extLst>
              <p:ext uri="{D42A27DB-BD31-4B8C-83A1-F6EECF244321}">
                <p14:modId xmlns:p14="http://schemas.microsoft.com/office/powerpoint/2010/main" val="231224931"/>
              </p:ext>
            </p:extLst>
          </p:nvPr>
        </p:nvGraphicFramePr>
        <p:xfrm>
          <a:off x="142876" y="764704"/>
          <a:ext cx="4231654" cy="4245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803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           </a:t>
            </a:r>
            <a:r>
              <a:rPr lang="tr-TR" dirty="0" err="1" smtClean="0"/>
              <a:t>What</a:t>
            </a:r>
            <a:r>
              <a:rPr lang="tr-TR" dirty="0" smtClean="0"/>
              <a:t> is a </a:t>
            </a:r>
            <a:r>
              <a:rPr lang="tr-TR" dirty="0" err="1" smtClean="0"/>
              <a:t>linguistic</a:t>
            </a:r>
            <a:r>
              <a:rPr lang="tr-TR" dirty="0" smtClean="0"/>
              <a:t> </a:t>
            </a:r>
            <a:r>
              <a:rPr lang="tr-TR" dirty="0" err="1" smtClean="0"/>
              <a:t>theory</a:t>
            </a:r>
            <a:r>
              <a:rPr lang="tr-TR" dirty="0" smtClean="0"/>
              <a:t>? </a:t>
            </a:r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r>
              <a:rPr lang="tr-TR" dirty="0" smtClean="0"/>
              <a:t> </a:t>
            </a:r>
            <a:r>
              <a:rPr lang="tr-TR" dirty="0" err="1" smtClean="0"/>
              <a:t>Descriptive</a:t>
            </a:r>
            <a:r>
              <a:rPr lang="tr-TR" dirty="0" smtClean="0"/>
              <a:t> </a:t>
            </a:r>
            <a:r>
              <a:rPr lang="tr-TR" dirty="0" err="1" smtClean="0"/>
              <a:t>adequacy</a:t>
            </a:r>
            <a:r>
              <a:rPr lang="tr-TR" dirty="0" smtClean="0"/>
              <a:t>            </a:t>
            </a:r>
            <a:r>
              <a:rPr lang="tr-TR" dirty="0" err="1" smtClean="0"/>
              <a:t>Explanatory</a:t>
            </a:r>
            <a:r>
              <a:rPr lang="tr-TR" dirty="0" smtClean="0"/>
              <a:t> </a:t>
            </a:r>
            <a:r>
              <a:rPr lang="tr-TR" dirty="0" err="1" smtClean="0"/>
              <a:t>adequacy</a:t>
            </a:r>
            <a:endParaRPr lang="tr-TR" dirty="0" smtClean="0"/>
          </a:p>
          <a:p>
            <a:pPr marL="109728" indent="0">
              <a:buNone/>
            </a:pPr>
            <a:r>
              <a:rPr lang="tr-TR" sz="1800" dirty="0" smtClean="0"/>
              <a:t>  </a:t>
            </a:r>
            <a:r>
              <a:rPr lang="tr-TR" sz="1800" i="1" dirty="0" smtClean="0"/>
              <a:t>( </a:t>
            </a:r>
            <a:r>
              <a:rPr lang="tr-TR" sz="1800" i="1" dirty="0" err="1" smtClean="0"/>
              <a:t>to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characterize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what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human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languages</a:t>
            </a:r>
            <a:r>
              <a:rPr lang="tr-TR" sz="1800" i="1" dirty="0" smtClean="0"/>
              <a:t>       ( </a:t>
            </a:r>
            <a:r>
              <a:rPr lang="tr-TR" sz="1800" i="1" dirty="0" err="1" smtClean="0"/>
              <a:t>to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explain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why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they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are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that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way</a:t>
            </a:r>
            <a:r>
              <a:rPr lang="tr-TR" sz="1800" i="1" dirty="0" smtClean="0"/>
              <a:t>) </a:t>
            </a:r>
          </a:p>
          <a:p>
            <a:pPr marL="109728" indent="0">
              <a:buNone/>
            </a:pPr>
            <a:r>
              <a:rPr lang="tr-TR" sz="1800" i="1" dirty="0"/>
              <a:t> </a:t>
            </a:r>
            <a:r>
              <a:rPr lang="tr-TR" sz="1800" i="1" dirty="0" smtClean="0"/>
              <a:t>    </a:t>
            </a:r>
            <a:r>
              <a:rPr lang="tr-TR" sz="1800" i="1" dirty="0" err="1" smtClean="0"/>
              <a:t>are</a:t>
            </a:r>
            <a:r>
              <a:rPr lang="tr-TR" sz="1800" i="1" dirty="0" smtClean="0"/>
              <a:t> </a:t>
            </a:r>
            <a:r>
              <a:rPr lang="tr-TR" sz="1800" i="1" dirty="0" err="1" smtClean="0"/>
              <a:t>like</a:t>
            </a:r>
            <a:r>
              <a:rPr lang="tr-TR" sz="1800" i="1" dirty="0" smtClean="0"/>
              <a:t> )</a:t>
            </a:r>
          </a:p>
          <a:p>
            <a:pPr marL="109728" indent="0">
              <a:buNone/>
            </a:pPr>
            <a:endParaRPr lang="tr-TR" sz="1800" i="1" dirty="0" smtClean="0"/>
          </a:p>
          <a:p>
            <a:pPr marL="109728" indent="0">
              <a:buNone/>
            </a:pPr>
            <a:r>
              <a:rPr lang="tr-TR" sz="1800" i="1" dirty="0"/>
              <a:t> </a:t>
            </a:r>
            <a:r>
              <a:rPr lang="tr-TR" sz="2400" i="1" dirty="0" smtClean="0"/>
              <a:t>Universal </a:t>
            </a:r>
            <a:r>
              <a:rPr lang="tr-TR" sz="2400" i="1" dirty="0" err="1" smtClean="0"/>
              <a:t>Grammar</a:t>
            </a:r>
            <a:r>
              <a:rPr lang="tr-TR" sz="2400" i="1" dirty="0" smtClean="0"/>
              <a:t> is </a:t>
            </a:r>
            <a:r>
              <a:rPr lang="tr-TR" sz="2400" i="1" dirty="0" err="1" smtClean="0"/>
              <a:t>therefore</a:t>
            </a:r>
            <a:r>
              <a:rPr lang="tr-TR" sz="2400" i="1" dirty="0" smtClean="0"/>
              <a:t>  a </a:t>
            </a:r>
            <a:r>
              <a:rPr lang="tr-TR" sz="2400" i="1" dirty="0" err="1" smtClean="0"/>
              <a:t>proper</a:t>
            </a:r>
            <a:r>
              <a:rPr lang="tr-TR" sz="2400" i="1" dirty="0" smtClean="0"/>
              <a:t> </a:t>
            </a:r>
            <a:r>
              <a:rPr lang="tr-TR" sz="2400" i="1" dirty="0" err="1" smtClean="0"/>
              <a:t>theory</a:t>
            </a:r>
            <a:r>
              <a:rPr lang="tr-TR" sz="2400" i="1" dirty="0" smtClean="0"/>
              <a:t> as it </a:t>
            </a:r>
            <a:r>
              <a:rPr lang="tr-TR" sz="2400" i="1" dirty="0" err="1" smtClean="0"/>
              <a:t>explains</a:t>
            </a:r>
            <a:r>
              <a:rPr lang="tr-TR" sz="2400" i="1" dirty="0" smtClean="0"/>
              <a:t> </a:t>
            </a:r>
            <a:r>
              <a:rPr lang="tr-TR" sz="2400" i="1" dirty="0" err="1" smtClean="0"/>
              <a:t>the</a:t>
            </a:r>
            <a:r>
              <a:rPr lang="tr-TR" sz="2400" i="1" dirty="0" smtClean="0"/>
              <a:t> </a:t>
            </a:r>
            <a:r>
              <a:rPr lang="tr-TR" sz="2400" i="1" dirty="0" err="1" smtClean="0"/>
              <a:t>underlying</a:t>
            </a:r>
            <a:r>
              <a:rPr lang="tr-TR" sz="2400" i="1" dirty="0" smtClean="0"/>
              <a:t> </a:t>
            </a:r>
            <a:r>
              <a:rPr lang="tr-TR" sz="2400" i="1" dirty="0" err="1" smtClean="0"/>
              <a:t>linguistic</a:t>
            </a:r>
            <a:r>
              <a:rPr lang="tr-TR" sz="2400" i="1" dirty="0" smtClean="0"/>
              <a:t> </a:t>
            </a:r>
            <a:r>
              <a:rPr lang="tr-TR" sz="2400" i="1" dirty="0" err="1" smtClean="0"/>
              <a:t>knowledge</a:t>
            </a:r>
            <a:r>
              <a:rPr lang="tr-TR" sz="2400" i="1" dirty="0" smtClean="0"/>
              <a:t> in </a:t>
            </a:r>
            <a:r>
              <a:rPr lang="tr-TR" sz="2400" i="1" dirty="0" err="1" smtClean="0"/>
              <a:t>second-language</a:t>
            </a:r>
            <a:r>
              <a:rPr lang="tr-TR" sz="2400" i="1" dirty="0" smtClean="0"/>
              <a:t> </a:t>
            </a:r>
            <a:r>
              <a:rPr lang="tr-TR" sz="2400" i="1" dirty="0" err="1" smtClean="0"/>
              <a:t>learners</a:t>
            </a:r>
            <a:r>
              <a:rPr lang="tr-TR" sz="2400" i="1" dirty="0" smtClean="0"/>
              <a:t>’ </a:t>
            </a:r>
            <a:r>
              <a:rPr lang="tr-TR" sz="2400" i="1" dirty="0" err="1" smtClean="0"/>
              <a:t>minds</a:t>
            </a:r>
            <a:r>
              <a:rPr lang="tr-TR" sz="2400" i="1" dirty="0" smtClean="0"/>
              <a:t> </a:t>
            </a:r>
            <a:endParaRPr lang="en-GB" sz="2400" i="1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Introduction</a:t>
            </a:r>
            <a:r>
              <a:rPr lang="tr-TR" dirty="0" smtClean="0"/>
              <a:t> </a:t>
            </a:r>
            <a:endParaRPr lang="en-GB" dirty="0"/>
          </a:p>
        </p:txBody>
      </p:sp>
      <p:sp>
        <p:nvSpPr>
          <p:cNvPr id="4" name="Yuvarlatılmış Dikdörtgen 3"/>
          <p:cNvSpPr/>
          <p:nvPr/>
        </p:nvSpPr>
        <p:spPr>
          <a:xfrm>
            <a:off x="2837829" y="2177422"/>
            <a:ext cx="266429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 err="1" smtClean="0">
                <a:solidFill>
                  <a:schemeClr val="tx1"/>
                </a:solidFill>
              </a:rPr>
              <a:t>Linguistic</a:t>
            </a:r>
            <a:r>
              <a:rPr lang="tr-TR" b="1" dirty="0" smtClean="0">
                <a:solidFill>
                  <a:schemeClr val="tx1"/>
                </a:solidFill>
              </a:rPr>
              <a:t> </a:t>
            </a:r>
            <a:r>
              <a:rPr lang="tr-TR" b="1" dirty="0" err="1" smtClean="0">
                <a:solidFill>
                  <a:schemeClr val="tx1"/>
                </a:solidFill>
              </a:rPr>
              <a:t>Theory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6" name="Düz Ok Bağlayıcısı 5"/>
          <p:cNvCxnSpPr/>
          <p:nvPr/>
        </p:nvCxnSpPr>
        <p:spPr>
          <a:xfrm flipH="1">
            <a:off x="2830755" y="2845741"/>
            <a:ext cx="504056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üz Ok Bağlayıcısı 8"/>
          <p:cNvCxnSpPr/>
          <p:nvPr/>
        </p:nvCxnSpPr>
        <p:spPr>
          <a:xfrm>
            <a:off x="4932040" y="2989757"/>
            <a:ext cx="570085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95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251520" y="1250628"/>
            <a:ext cx="8229600" cy="5232312"/>
            <a:chOff x="251520" y="1250628"/>
            <a:chExt cx="8229600" cy="5232312"/>
          </a:xfrm>
        </p:grpSpPr>
        <p:sp>
          <p:nvSpPr>
            <p:cNvPr id="16" name="Serbest Form 15"/>
            <p:cNvSpPr/>
            <p:nvPr/>
          </p:nvSpPr>
          <p:spPr>
            <a:xfrm>
              <a:off x="889434" y="3131483"/>
              <a:ext cx="1792493" cy="2549884"/>
            </a:xfrm>
            <a:custGeom>
              <a:avLst/>
              <a:gdLst>
                <a:gd name="connsiteX0" fmla="*/ 0 w 1792493"/>
                <a:gd name="connsiteY0" fmla="*/ 0 h 2549884"/>
                <a:gd name="connsiteX1" fmla="*/ 1792493 w 1792493"/>
                <a:gd name="connsiteY1" fmla="*/ 0 h 2549884"/>
                <a:gd name="connsiteX2" fmla="*/ 1792493 w 1792493"/>
                <a:gd name="connsiteY2" fmla="*/ 2549884 h 2549884"/>
                <a:gd name="connsiteX3" fmla="*/ 0 w 1792493"/>
                <a:gd name="connsiteY3" fmla="*/ 2549884 h 2549884"/>
                <a:gd name="connsiteX4" fmla="*/ 0 w 1792493"/>
                <a:gd name="connsiteY4" fmla="*/ 0 h 2549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2493" h="2549884">
                  <a:moveTo>
                    <a:pt x="0" y="0"/>
                  </a:moveTo>
                  <a:lnTo>
                    <a:pt x="1792493" y="0"/>
                  </a:lnTo>
                  <a:lnTo>
                    <a:pt x="1792493" y="2549884"/>
                  </a:lnTo>
                  <a:lnTo>
                    <a:pt x="0" y="254988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tretch>
                <a:fillRect/>
              </a:stretch>
            </a:blip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tr-TR" sz="1800" kern="1200" dirty="0" smtClean="0"/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800" kern="1200" dirty="0"/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251520" y="1250628"/>
              <a:ext cx="8229600" cy="4525962"/>
            </a:xfrm>
            <a:prstGeom prst="rect">
              <a:avLst/>
            </a:prstGeom>
            <a:noFill/>
          </p:spPr>
        </p:sp>
        <p:sp>
          <p:nvSpPr>
            <p:cNvPr id="14" name="Oval 13"/>
            <p:cNvSpPr/>
            <p:nvPr/>
          </p:nvSpPr>
          <p:spPr>
            <a:xfrm>
              <a:off x="252550" y="1250628"/>
              <a:ext cx="605913" cy="605913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Kiriş 14"/>
            <p:cNvSpPr/>
            <p:nvPr/>
          </p:nvSpPr>
          <p:spPr>
            <a:xfrm>
              <a:off x="313142" y="1311219"/>
              <a:ext cx="484730" cy="484730"/>
            </a:xfrm>
            <a:prstGeom prst="chord">
              <a:avLst>
                <a:gd name="adj1" fmla="val 1168272"/>
                <a:gd name="adj2" fmla="val 9631728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Serbest Form 16"/>
            <p:cNvSpPr/>
            <p:nvPr/>
          </p:nvSpPr>
          <p:spPr>
            <a:xfrm>
              <a:off x="984695" y="1250628"/>
              <a:ext cx="1792493" cy="605913"/>
            </a:xfrm>
            <a:custGeom>
              <a:avLst/>
              <a:gdLst>
                <a:gd name="connsiteX0" fmla="*/ 0 w 1792493"/>
                <a:gd name="connsiteY0" fmla="*/ 0 h 605913"/>
                <a:gd name="connsiteX1" fmla="*/ 1792493 w 1792493"/>
                <a:gd name="connsiteY1" fmla="*/ 0 h 605913"/>
                <a:gd name="connsiteX2" fmla="*/ 1792493 w 1792493"/>
                <a:gd name="connsiteY2" fmla="*/ 605913 h 605913"/>
                <a:gd name="connsiteX3" fmla="*/ 0 w 1792493"/>
                <a:gd name="connsiteY3" fmla="*/ 605913 h 605913"/>
                <a:gd name="connsiteX4" fmla="*/ 0 w 1792493"/>
                <a:gd name="connsiteY4" fmla="*/ 0 h 6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2493" h="605913">
                  <a:moveTo>
                    <a:pt x="0" y="0"/>
                  </a:moveTo>
                  <a:lnTo>
                    <a:pt x="1792493" y="0"/>
                  </a:lnTo>
                  <a:lnTo>
                    <a:pt x="1792493" y="605913"/>
                  </a:lnTo>
                  <a:lnTo>
                    <a:pt x="0" y="6059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8260" tIns="48260" rIns="48260" bIns="48260" numCol="1" spcCol="1270" anchor="b" anchorCtr="0">
              <a:noAutofit/>
            </a:bodyPr>
            <a:lstStyle/>
            <a:p>
              <a:pPr lvl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900" kern="1200" dirty="0" smtClean="0"/>
                <a:t>1950s</a:t>
              </a:r>
              <a:endParaRPr lang="en-GB" sz="1900" kern="1200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2903420" y="1250628"/>
              <a:ext cx="605913" cy="605913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19" name="Kiriş 18"/>
            <p:cNvSpPr/>
            <p:nvPr/>
          </p:nvSpPr>
          <p:spPr>
            <a:xfrm>
              <a:off x="2964012" y="1311219"/>
              <a:ext cx="484730" cy="484730"/>
            </a:xfrm>
            <a:prstGeom prst="chord">
              <a:avLst>
                <a:gd name="adj1" fmla="val 20431728"/>
                <a:gd name="adj2" fmla="val 11968272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Serbest Form 20"/>
            <p:cNvSpPr/>
            <p:nvPr/>
          </p:nvSpPr>
          <p:spPr>
            <a:xfrm>
              <a:off x="3635566" y="1250628"/>
              <a:ext cx="1792493" cy="605913"/>
            </a:xfrm>
            <a:custGeom>
              <a:avLst/>
              <a:gdLst>
                <a:gd name="connsiteX0" fmla="*/ 0 w 1792493"/>
                <a:gd name="connsiteY0" fmla="*/ 0 h 605913"/>
                <a:gd name="connsiteX1" fmla="*/ 1792493 w 1792493"/>
                <a:gd name="connsiteY1" fmla="*/ 0 h 605913"/>
                <a:gd name="connsiteX2" fmla="*/ 1792493 w 1792493"/>
                <a:gd name="connsiteY2" fmla="*/ 605913 h 605913"/>
                <a:gd name="connsiteX3" fmla="*/ 0 w 1792493"/>
                <a:gd name="connsiteY3" fmla="*/ 605913 h 605913"/>
                <a:gd name="connsiteX4" fmla="*/ 0 w 1792493"/>
                <a:gd name="connsiteY4" fmla="*/ 0 h 6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2493" h="605913">
                  <a:moveTo>
                    <a:pt x="0" y="0"/>
                  </a:moveTo>
                  <a:lnTo>
                    <a:pt x="1792493" y="0"/>
                  </a:lnTo>
                  <a:lnTo>
                    <a:pt x="1792493" y="605913"/>
                  </a:lnTo>
                  <a:lnTo>
                    <a:pt x="0" y="6059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8260" tIns="48260" rIns="48260" bIns="48260" numCol="1" spcCol="1270" anchor="b" anchorCtr="0">
              <a:noAutofit/>
            </a:bodyPr>
            <a:lstStyle/>
            <a:p>
              <a:pPr lvl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900" kern="1200" dirty="0" err="1" smtClean="0"/>
                <a:t>late</a:t>
              </a:r>
              <a:r>
                <a:rPr lang="tr-TR" sz="1900" kern="1200" dirty="0" smtClean="0"/>
                <a:t> 1950s </a:t>
              </a:r>
              <a:r>
                <a:rPr lang="tr-TR" sz="1900" kern="1200" dirty="0" err="1" smtClean="0"/>
                <a:t>and</a:t>
              </a:r>
              <a:r>
                <a:rPr lang="tr-TR" sz="1900" kern="1200" dirty="0" smtClean="0"/>
                <a:t> </a:t>
              </a:r>
              <a:r>
                <a:rPr lang="tr-TR" sz="1900" kern="1200" dirty="0" err="1" smtClean="0"/>
                <a:t>early</a:t>
              </a:r>
              <a:r>
                <a:rPr lang="tr-TR" sz="1900" kern="1200" dirty="0" smtClean="0"/>
                <a:t> 1960s</a:t>
              </a:r>
              <a:endParaRPr lang="en-GB" sz="1900" kern="1200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5955450" y="1250628"/>
              <a:ext cx="605913" cy="605913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Kiriş 22"/>
            <p:cNvSpPr/>
            <p:nvPr/>
          </p:nvSpPr>
          <p:spPr>
            <a:xfrm>
              <a:off x="6016042" y="1311219"/>
              <a:ext cx="484730" cy="484730"/>
            </a:xfrm>
            <a:prstGeom prst="chord">
              <a:avLst>
                <a:gd name="adj1" fmla="val 16200000"/>
                <a:gd name="adj2" fmla="val 1620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Serbest Form 23"/>
            <p:cNvSpPr/>
            <p:nvPr/>
          </p:nvSpPr>
          <p:spPr>
            <a:xfrm>
              <a:off x="6687596" y="2109511"/>
              <a:ext cx="1792493" cy="2296914"/>
            </a:xfrm>
            <a:custGeom>
              <a:avLst/>
              <a:gdLst>
                <a:gd name="connsiteX0" fmla="*/ 0 w 1792493"/>
                <a:gd name="connsiteY0" fmla="*/ 0 h 2549884"/>
                <a:gd name="connsiteX1" fmla="*/ 1792493 w 1792493"/>
                <a:gd name="connsiteY1" fmla="*/ 0 h 2549884"/>
                <a:gd name="connsiteX2" fmla="*/ 1792493 w 1792493"/>
                <a:gd name="connsiteY2" fmla="*/ 2549884 h 2549884"/>
                <a:gd name="connsiteX3" fmla="*/ 0 w 1792493"/>
                <a:gd name="connsiteY3" fmla="*/ 2549884 h 2549884"/>
                <a:gd name="connsiteX4" fmla="*/ 0 w 1792493"/>
                <a:gd name="connsiteY4" fmla="*/ 0 h 2549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2493" h="2549884">
                  <a:moveTo>
                    <a:pt x="0" y="0"/>
                  </a:moveTo>
                  <a:lnTo>
                    <a:pt x="1792493" y="0"/>
                  </a:lnTo>
                  <a:lnTo>
                    <a:pt x="1792493" y="2549884"/>
                  </a:lnTo>
                  <a:lnTo>
                    <a:pt x="0" y="25498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800" kern="1200" dirty="0" smtClean="0"/>
                <a:t>Universal </a:t>
              </a:r>
              <a:r>
                <a:rPr lang="tr-TR" sz="1800" kern="1200" dirty="0" err="1" smtClean="0"/>
                <a:t>Grammar</a:t>
              </a:r>
              <a:r>
                <a:rPr lang="tr-TR" sz="1800" kern="1200" dirty="0" smtClean="0"/>
                <a:t> UG</a:t>
              </a:r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800" kern="1200" dirty="0" err="1" smtClean="0"/>
                <a:t>Noam</a:t>
              </a:r>
              <a:r>
                <a:rPr lang="tr-TR" sz="1800" kern="1200" dirty="0" smtClean="0"/>
                <a:t> </a:t>
              </a:r>
              <a:endParaRPr lang="tr-TR" sz="1800" kern="1200" dirty="0" smtClean="0"/>
            </a:p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800" kern="1200" dirty="0" smtClean="0"/>
                <a:t>Chomsky </a:t>
              </a:r>
              <a:endParaRPr lang="en-GB" sz="1800" kern="1200" dirty="0"/>
            </a:p>
          </p:txBody>
        </p:sp>
        <p:sp>
          <p:nvSpPr>
            <p:cNvPr id="25" name="Serbest Form 24"/>
            <p:cNvSpPr/>
            <p:nvPr/>
          </p:nvSpPr>
          <p:spPr>
            <a:xfrm>
              <a:off x="6687596" y="1250628"/>
              <a:ext cx="1792493" cy="605913"/>
            </a:xfrm>
            <a:custGeom>
              <a:avLst/>
              <a:gdLst>
                <a:gd name="connsiteX0" fmla="*/ 0 w 1792493"/>
                <a:gd name="connsiteY0" fmla="*/ 0 h 605913"/>
                <a:gd name="connsiteX1" fmla="*/ 1792493 w 1792493"/>
                <a:gd name="connsiteY1" fmla="*/ 0 h 605913"/>
                <a:gd name="connsiteX2" fmla="*/ 1792493 w 1792493"/>
                <a:gd name="connsiteY2" fmla="*/ 605913 h 605913"/>
                <a:gd name="connsiteX3" fmla="*/ 0 w 1792493"/>
                <a:gd name="connsiteY3" fmla="*/ 605913 h 605913"/>
                <a:gd name="connsiteX4" fmla="*/ 0 w 1792493"/>
                <a:gd name="connsiteY4" fmla="*/ 0 h 6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2493" h="605913">
                  <a:moveTo>
                    <a:pt x="0" y="0"/>
                  </a:moveTo>
                  <a:lnTo>
                    <a:pt x="1792493" y="0"/>
                  </a:lnTo>
                  <a:lnTo>
                    <a:pt x="1792493" y="605913"/>
                  </a:lnTo>
                  <a:lnTo>
                    <a:pt x="0" y="6059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8260" tIns="48260" rIns="48260" bIns="48260" numCol="1" spcCol="1270" anchor="b" anchorCtr="0">
              <a:noAutofit/>
            </a:bodyPr>
            <a:lstStyle/>
            <a:p>
              <a:pPr lvl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900" kern="1200" dirty="0" smtClean="0"/>
                <a:t>1960s</a:t>
              </a:r>
              <a:endParaRPr lang="en-GB" sz="1900" kern="1200" dirty="0"/>
            </a:p>
          </p:txBody>
        </p:sp>
        <p:sp>
          <p:nvSpPr>
            <p:cNvPr id="20" name="Serbest Form 19"/>
            <p:cNvSpPr/>
            <p:nvPr/>
          </p:nvSpPr>
          <p:spPr>
            <a:xfrm>
              <a:off x="3169692" y="3933056"/>
              <a:ext cx="2785758" cy="2549884"/>
            </a:xfrm>
            <a:custGeom>
              <a:avLst/>
              <a:gdLst>
                <a:gd name="connsiteX0" fmla="*/ 0 w 2594813"/>
                <a:gd name="connsiteY0" fmla="*/ 0 h 2549884"/>
                <a:gd name="connsiteX1" fmla="*/ 2594813 w 2594813"/>
                <a:gd name="connsiteY1" fmla="*/ 0 h 2549884"/>
                <a:gd name="connsiteX2" fmla="*/ 2594813 w 2594813"/>
                <a:gd name="connsiteY2" fmla="*/ 2549884 h 2549884"/>
                <a:gd name="connsiteX3" fmla="*/ 0 w 2594813"/>
                <a:gd name="connsiteY3" fmla="*/ 2549884 h 2549884"/>
                <a:gd name="connsiteX4" fmla="*/ 0 w 2594813"/>
                <a:gd name="connsiteY4" fmla="*/ 0 h 2549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4813" h="2549884">
                  <a:moveTo>
                    <a:pt x="0" y="0"/>
                  </a:moveTo>
                  <a:lnTo>
                    <a:pt x="2594813" y="0"/>
                  </a:lnTo>
                  <a:lnTo>
                    <a:pt x="2594813" y="2549884"/>
                  </a:lnTo>
                  <a:lnTo>
                    <a:pt x="0" y="254988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tretch>
                <a:fillRect/>
              </a:stretch>
            </a:blip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t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tr-TR" sz="1800" kern="1200" dirty="0" smtClean="0"/>
                <a:t>»</a:t>
              </a:r>
              <a:endParaRPr lang="en-GB" sz="1800" kern="1200" dirty="0"/>
            </a:p>
          </p:txBody>
        </p:sp>
      </p:grp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Background </a:t>
            </a:r>
            <a:endParaRPr lang="en-GB" dirty="0"/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899592" y="2060848"/>
            <a:ext cx="74888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kdörtgen 26"/>
          <p:cNvSpPr/>
          <p:nvPr/>
        </p:nvSpPr>
        <p:spPr>
          <a:xfrm>
            <a:off x="1064143" y="2109511"/>
            <a:ext cx="2105549" cy="93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tr-TR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Structuralism</a:t>
            </a:r>
            <a:endParaRPr lang="tr-TR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endParaRP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tr-TR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Ferdinand de </a:t>
            </a:r>
            <a:r>
              <a:rPr lang="tr-TR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Seassure</a:t>
            </a:r>
            <a:endParaRPr lang="tr-TR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endParaRPr>
          </a:p>
        </p:txBody>
      </p:sp>
      <p:sp>
        <p:nvSpPr>
          <p:cNvPr id="29" name="Dikdörtgen 28"/>
          <p:cNvSpPr/>
          <p:nvPr/>
        </p:nvSpPr>
        <p:spPr>
          <a:xfrm>
            <a:off x="3509333" y="2092349"/>
            <a:ext cx="2165478" cy="1878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tr-TR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Behaviourism</a:t>
            </a:r>
            <a:endParaRPr lang="tr-TR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endParaRP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tr-TR" dirty="0" err="1" smtClean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Skinner</a:t>
            </a:r>
            <a:r>
              <a:rPr lang="tr-TR" dirty="0" smtClean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 </a:t>
            </a:r>
            <a:endParaRPr lang="tr-TR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endParaRP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tr-TR" dirty="0" err="1" smtClean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Stimulus</a:t>
            </a:r>
            <a:r>
              <a:rPr lang="tr-TR" dirty="0" smtClean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 </a:t>
            </a:r>
            <a:r>
              <a:rPr lang="tr-TR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–</a:t>
            </a:r>
            <a:r>
              <a:rPr lang="tr-TR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Response</a:t>
            </a:r>
            <a:r>
              <a:rPr lang="tr-TR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 </a:t>
            </a:r>
            <a:r>
              <a:rPr lang="tr-TR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Reinforcement</a:t>
            </a:r>
            <a:r>
              <a:rPr lang="tr-TR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 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tr-TR" dirty="0" smtClean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« </a:t>
            </a:r>
            <a:r>
              <a:rPr lang="tr-TR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Conditioning</a:t>
            </a:r>
            <a:endParaRPr lang="en-GB" dirty="0"/>
          </a:p>
        </p:txBody>
      </p:sp>
      <p:pic>
        <p:nvPicPr>
          <p:cNvPr id="3074" name="Picture 2" descr="C:\Users\ASUS\Desktop\photo_19711_portrait_larg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293" y="3429000"/>
            <a:ext cx="190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83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09728" indent="0">
              <a:buNone/>
            </a:pPr>
            <a:r>
              <a:rPr lang="en-US" dirty="0" smtClean="0"/>
              <a:t>To answer;</a:t>
            </a:r>
          </a:p>
          <a:p>
            <a:endParaRPr lang="en-US" dirty="0" smtClean="0"/>
          </a:p>
          <a:p>
            <a:r>
              <a:rPr lang="en-US" dirty="0" smtClean="0"/>
              <a:t>     What constitutes knowledge of language?</a:t>
            </a:r>
          </a:p>
          <a:p>
            <a:r>
              <a:rPr lang="en-US" dirty="0" smtClean="0"/>
              <a:t>     How is knowledge of language acquired?</a:t>
            </a:r>
          </a:p>
          <a:p>
            <a:r>
              <a:rPr lang="en-US" dirty="0" smtClean="0"/>
              <a:t>     How is knowledge of language put to use?</a:t>
            </a:r>
          </a:p>
          <a:p>
            <a:pPr marL="109728" indent="0">
              <a:buNone/>
            </a:pPr>
            <a:r>
              <a:rPr lang="en-US" dirty="0" smtClean="0"/>
              <a:t> * </a:t>
            </a:r>
            <a:r>
              <a:rPr lang="en-US" sz="2400" i="1" dirty="0" smtClean="0"/>
              <a:t>Knowledge of language : subconscious mental representation of language that underlines all language use.</a:t>
            </a:r>
          </a:p>
          <a:p>
            <a:r>
              <a:rPr lang="en-US" sz="2400" i="1" dirty="0" smtClean="0"/>
              <a:t> </a:t>
            </a:r>
          </a:p>
          <a:p>
            <a:r>
              <a:rPr lang="en-US" sz="2400" i="1" dirty="0" smtClean="0"/>
              <a:t>Chomsky added ; What are the physical mechanism</a:t>
            </a:r>
            <a:r>
              <a:rPr lang="tr-TR" sz="2400" i="1" dirty="0" smtClean="0"/>
              <a:t>s</a:t>
            </a:r>
            <a:r>
              <a:rPr lang="en-US" sz="2400" i="1" dirty="0" smtClean="0"/>
              <a:t> that serve as the material basis for this system of knowledge and for the use of this knowledge? ( concern of brain scientists)</a:t>
            </a:r>
          </a:p>
          <a:p>
            <a:pPr marL="109728" indent="0">
              <a:buNone/>
            </a:pPr>
            <a:r>
              <a:rPr lang="en-US" sz="2400" i="1" dirty="0" smtClean="0"/>
              <a:t> </a:t>
            </a:r>
            <a:endParaRPr lang="en-US" sz="2400" i="1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Aims</a:t>
            </a:r>
            <a:r>
              <a:rPr lang="tr-TR" dirty="0" smtClean="0"/>
              <a:t> of </a:t>
            </a:r>
            <a:r>
              <a:rPr lang="tr-TR" dirty="0" err="1" smtClean="0"/>
              <a:t>linguistic</a:t>
            </a:r>
            <a:r>
              <a:rPr lang="tr-TR" dirty="0" smtClean="0"/>
              <a:t> </a:t>
            </a:r>
            <a:r>
              <a:rPr lang="tr-TR" dirty="0" err="1" smtClean="0"/>
              <a:t>researches</a:t>
            </a:r>
            <a:r>
              <a:rPr lang="tr-TR" dirty="0" smtClean="0"/>
              <a:t/>
            </a:r>
            <a:br>
              <a:rPr lang="tr-TR" dirty="0" smtClean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90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81053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Noam Chomsky claims that all languages have </a:t>
            </a:r>
            <a:r>
              <a:rPr lang="tr-TR" dirty="0" smtClean="0"/>
              <a:t> a </a:t>
            </a:r>
            <a:r>
              <a:rPr lang="en-US" dirty="0" smtClean="0"/>
              <a:t>common </a:t>
            </a:r>
            <a:r>
              <a:rPr lang="en-US" dirty="0" smtClean="0"/>
              <a:t>underlying system and all human beings inherit a universal set of principles  that provide SLLs to acquire L2 as they acquire their native language with the help of an acquisition device that is UG. </a:t>
            </a:r>
            <a:endParaRPr lang="tr-TR" dirty="0" smtClean="0"/>
          </a:p>
          <a:p>
            <a:endParaRPr lang="en-US" dirty="0" smtClean="0"/>
          </a:p>
          <a:p>
            <a:r>
              <a:rPr lang="en-US" dirty="0" smtClean="0"/>
              <a:t>Much of unconscious knowledge of </a:t>
            </a:r>
            <a:r>
              <a:rPr lang="en-US" dirty="0" err="1" smtClean="0"/>
              <a:t>gramma</a:t>
            </a:r>
            <a:r>
              <a:rPr lang="tr-TR" dirty="0" smtClean="0"/>
              <a:t>r</a:t>
            </a:r>
          </a:p>
          <a:p>
            <a:pPr marL="109728" indent="0">
              <a:buNone/>
            </a:pPr>
            <a:r>
              <a:rPr lang="tr-TR" dirty="0" smtClean="0"/>
              <a:t> </a:t>
            </a:r>
            <a:r>
              <a:rPr lang="en-US" dirty="0" smtClean="0"/>
              <a:t> </a:t>
            </a:r>
            <a:r>
              <a:rPr lang="tr-TR" dirty="0" smtClean="0"/>
              <a:t>( </a:t>
            </a:r>
            <a:r>
              <a:rPr lang="tr-TR" dirty="0" err="1" smtClean="0"/>
              <a:t>abstract</a:t>
            </a:r>
            <a:r>
              <a:rPr lang="tr-TR" dirty="0" smtClean="0"/>
              <a:t> </a:t>
            </a:r>
            <a:r>
              <a:rPr lang="tr-TR" dirty="0" err="1" smtClean="0"/>
              <a:t>linguistic</a:t>
            </a:r>
            <a:r>
              <a:rPr lang="tr-TR" dirty="0" smtClean="0"/>
              <a:t> </a:t>
            </a:r>
            <a:r>
              <a:rPr lang="tr-TR" dirty="0" err="1" smtClean="0"/>
              <a:t>system</a:t>
            </a:r>
            <a:r>
              <a:rPr lang="tr-TR" dirty="0" smtClean="0"/>
              <a:t> )</a:t>
            </a:r>
            <a:r>
              <a:rPr lang="en-US" dirty="0" smtClean="0"/>
              <a:t>does not need to be learned </a:t>
            </a:r>
            <a:r>
              <a:rPr lang="tr-TR" dirty="0" smtClean="0"/>
              <a:t> 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</a:t>
            </a:r>
            <a:r>
              <a:rPr lang="en-US" dirty="0" smtClean="0"/>
              <a:t>in the course of L1 acquisition as it derives from UG. </a:t>
            </a:r>
            <a:endParaRPr lang="tr-TR" dirty="0" smtClean="0"/>
          </a:p>
          <a:p>
            <a:pPr marL="109728" indent="0">
              <a:buNone/>
            </a:pPr>
            <a:endParaRPr lang="tr-TR" dirty="0" smtClean="0"/>
          </a:p>
          <a:p>
            <a:r>
              <a:rPr lang="tr-TR" dirty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focus</a:t>
            </a:r>
            <a:r>
              <a:rPr lang="tr-TR" dirty="0" smtClean="0"/>
              <a:t> is on </a:t>
            </a:r>
            <a:r>
              <a:rPr lang="tr-TR" dirty="0" err="1" smtClean="0"/>
              <a:t>what</a:t>
            </a:r>
            <a:r>
              <a:rPr lang="tr-TR" dirty="0" smtClean="0"/>
              <a:t> is </a:t>
            </a:r>
            <a:r>
              <a:rPr lang="tr-TR" dirty="0" err="1" smtClean="0"/>
              <a:t>universal</a:t>
            </a:r>
            <a:r>
              <a:rPr lang="tr-TR" dirty="0" smtClean="0"/>
              <a:t> </a:t>
            </a:r>
            <a:r>
              <a:rPr lang="tr-TR" dirty="0" err="1" smtClean="0"/>
              <a:t>within</a:t>
            </a:r>
            <a:r>
              <a:rPr lang="tr-TR" dirty="0" smtClean="0"/>
              <a:t> </a:t>
            </a:r>
            <a:r>
              <a:rPr lang="tr-TR" dirty="0" err="1" smtClean="0"/>
              <a:t>this</a:t>
            </a:r>
            <a:r>
              <a:rPr lang="tr-TR" dirty="0" smtClean="0"/>
              <a:t> </a:t>
            </a:r>
            <a:r>
              <a:rPr lang="tr-TR" dirty="0" err="1" smtClean="0"/>
              <a:t>mind</a:t>
            </a:r>
            <a:r>
              <a:rPr lang="tr-TR" dirty="0" smtClean="0"/>
              <a:t> </a:t>
            </a:r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 </a:t>
            </a:r>
          </a:p>
          <a:p>
            <a:endParaRPr lang="tr-TR" dirty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What</a:t>
            </a:r>
            <a:r>
              <a:rPr lang="tr-TR" dirty="0" smtClean="0"/>
              <a:t> is UG?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938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İçerik Yer Tutucus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608855"/>
              </p:ext>
            </p:extLst>
          </p:nvPr>
        </p:nvGraphicFramePr>
        <p:xfrm>
          <a:off x="395536" y="1124744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47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>
              <a:buNone/>
            </a:pPr>
            <a:r>
              <a:rPr lang="en-US" dirty="0" smtClean="0"/>
              <a:t>Main characteristics of L1 acquisition;</a:t>
            </a:r>
          </a:p>
          <a:p>
            <a:r>
              <a:rPr lang="en-US" dirty="0" smtClean="0"/>
              <a:t>Children go through developmental stages</a:t>
            </a:r>
          </a:p>
          <a:p>
            <a:r>
              <a:rPr lang="en-US" dirty="0" smtClean="0"/>
              <a:t>These stages are very similar across children  although the rate differs</a:t>
            </a:r>
          </a:p>
          <a:p>
            <a:r>
              <a:rPr lang="en-US" dirty="0" smtClean="0"/>
              <a:t>These stages are similar across languages</a:t>
            </a:r>
          </a:p>
          <a:p>
            <a:r>
              <a:rPr lang="en-US" dirty="0" smtClean="0"/>
              <a:t>Rule governed and systematic</a:t>
            </a:r>
          </a:p>
          <a:p>
            <a:r>
              <a:rPr lang="en-US" dirty="0" smtClean="0"/>
              <a:t>Children are resistant to correction</a:t>
            </a:r>
          </a:p>
          <a:p>
            <a:r>
              <a:rPr lang="en-US" dirty="0" smtClean="0"/>
              <a:t>Children’s processing capacity limits the number of rules they can apply at any time and they will revert to earlier hypothesis when two or more rules compete</a:t>
            </a:r>
            <a:r>
              <a:rPr lang="tr-TR" dirty="0" smtClean="0"/>
              <a:t>.</a:t>
            </a:r>
            <a:endParaRPr lang="en-GB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UG </a:t>
            </a:r>
            <a:r>
              <a:rPr lang="tr-TR" dirty="0" err="1" smtClean="0"/>
              <a:t>Arguments</a:t>
            </a:r>
            <a:r>
              <a:rPr lang="tr-TR" dirty="0" smtClean="0"/>
              <a:t> </a:t>
            </a:r>
            <a:r>
              <a:rPr lang="tr-TR" dirty="0" err="1" smtClean="0"/>
              <a:t>from</a:t>
            </a:r>
            <a:r>
              <a:rPr lang="tr-TR" dirty="0" smtClean="0"/>
              <a:t> L1 </a:t>
            </a:r>
            <a:r>
              <a:rPr lang="tr-TR" dirty="0" err="1" smtClean="0"/>
              <a:t>acquisition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402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r>
              <a:rPr lang="tr-TR" dirty="0" err="1" smtClean="0"/>
              <a:t>These</a:t>
            </a:r>
            <a:r>
              <a:rPr lang="tr-TR" dirty="0" smtClean="0"/>
              <a:t> </a:t>
            </a:r>
            <a:r>
              <a:rPr lang="tr-TR" dirty="0" err="1" smtClean="0"/>
              <a:t>characteristics</a:t>
            </a:r>
            <a:r>
              <a:rPr lang="tr-TR" dirty="0" smtClean="0"/>
              <a:t> of L1 </a:t>
            </a:r>
            <a:r>
              <a:rPr lang="tr-TR" dirty="0" err="1" smtClean="0"/>
              <a:t>acqusition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similar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L2 </a:t>
            </a:r>
            <a:r>
              <a:rPr lang="tr-TR" dirty="0" err="1" smtClean="0"/>
              <a:t>acquisition</a:t>
            </a:r>
            <a:r>
              <a:rPr lang="tr-TR" dirty="0" smtClean="0"/>
              <a:t> </a:t>
            </a:r>
            <a:r>
              <a:rPr lang="tr-TR" dirty="0" err="1" smtClean="0"/>
              <a:t>characteristics</a:t>
            </a:r>
            <a:r>
              <a:rPr lang="tr-TR" dirty="0" smtClean="0"/>
              <a:t> , </a:t>
            </a:r>
            <a:r>
              <a:rPr lang="tr-TR" dirty="0" err="1" smtClean="0"/>
              <a:t>hence</a:t>
            </a:r>
            <a:r>
              <a:rPr lang="tr-TR" dirty="0" smtClean="0"/>
              <a:t> </a:t>
            </a:r>
            <a:r>
              <a:rPr lang="tr-TR" dirty="0" err="1" smtClean="0"/>
              <a:t>Universalists</a:t>
            </a:r>
            <a:r>
              <a:rPr lang="tr-TR" dirty="0" smtClean="0"/>
              <a:t> </a:t>
            </a:r>
            <a:r>
              <a:rPr lang="tr-TR" dirty="0" err="1" smtClean="0"/>
              <a:t>could</a:t>
            </a:r>
            <a:r>
              <a:rPr lang="tr-TR" dirty="0" smtClean="0"/>
              <a:t> not </a:t>
            </a:r>
            <a:r>
              <a:rPr lang="tr-TR" dirty="0" err="1" smtClean="0"/>
              <a:t>conclude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evidence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there</a:t>
            </a:r>
            <a:r>
              <a:rPr lang="tr-TR" dirty="0" smtClean="0"/>
              <a:t> is a </a:t>
            </a:r>
            <a:r>
              <a:rPr lang="tr-TR" dirty="0" err="1" smtClean="0"/>
              <a:t>langugae</a:t>
            </a:r>
            <a:r>
              <a:rPr lang="tr-TR" dirty="0" smtClean="0"/>
              <a:t> </a:t>
            </a:r>
            <a:r>
              <a:rPr lang="tr-TR" dirty="0" err="1" smtClean="0"/>
              <a:t>module</a:t>
            </a:r>
            <a:r>
              <a:rPr lang="tr-TR" dirty="0" smtClean="0"/>
              <a:t> in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brain</a:t>
            </a:r>
            <a:r>
              <a:rPr lang="tr-TR" dirty="0" smtClean="0"/>
              <a:t> </a:t>
            </a:r>
            <a:r>
              <a:rPr lang="tr-TR" dirty="0" err="1" smtClean="0"/>
              <a:t>out</a:t>
            </a:r>
            <a:r>
              <a:rPr lang="tr-TR" dirty="0" smtClean="0"/>
              <a:t> of it.</a:t>
            </a:r>
          </a:p>
          <a:p>
            <a:endParaRPr lang="tr-TR" dirty="0"/>
          </a:p>
          <a:p>
            <a:r>
              <a:rPr lang="tr-TR" dirty="0"/>
              <a:t> </a:t>
            </a:r>
            <a:r>
              <a:rPr lang="tr-TR" dirty="0" err="1" smtClean="0"/>
              <a:t>However</a:t>
            </a:r>
            <a:r>
              <a:rPr lang="tr-TR" dirty="0" smtClean="0"/>
              <a:t>, it is </a:t>
            </a:r>
            <a:r>
              <a:rPr lang="tr-TR" dirty="0" err="1" smtClean="0"/>
              <a:t>clear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child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acquisiton</a:t>
            </a:r>
            <a:r>
              <a:rPr lang="tr-TR" dirty="0" smtClean="0"/>
              <a:t> has </a:t>
            </a:r>
            <a:r>
              <a:rPr lang="tr-TR" dirty="0" err="1" smtClean="0"/>
              <a:t>nothing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intelligence</a:t>
            </a:r>
            <a:r>
              <a:rPr lang="tr-TR" dirty="0" smtClean="0"/>
              <a:t>. </a:t>
            </a:r>
            <a:endParaRPr lang="en-GB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30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etin Yer Tutucusu 4"/>
          <p:cNvSpPr>
            <a:spLocks noGrp="1"/>
          </p:cNvSpPr>
          <p:nvPr>
            <p:ph type="body" idx="1"/>
          </p:nvPr>
        </p:nvSpPr>
        <p:spPr>
          <a:xfrm>
            <a:off x="323528" y="5445224"/>
            <a:ext cx="4040188" cy="762000"/>
          </a:xfrm>
        </p:spPr>
        <p:txBody>
          <a:bodyPr/>
          <a:lstStyle/>
          <a:p>
            <a:r>
              <a:rPr lang="tr-TR" dirty="0" err="1" smtClean="0">
                <a:solidFill>
                  <a:schemeClr val="tx1"/>
                </a:solidFill>
              </a:rPr>
              <a:t>Example</a:t>
            </a:r>
            <a:r>
              <a:rPr lang="tr-TR" dirty="0" err="1">
                <a:solidFill>
                  <a:schemeClr val="tx1"/>
                </a:solidFill>
              </a:rPr>
              <a:t>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İçerik Yer Tutucusu 1"/>
          <p:cNvSpPr>
            <a:spLocks noGrp="1"/>
          </p:cNvSpPr>
          <p:nvPr>
            <p:ph sz="quarter" idx="2"/>
          </p:nvPr>
        </p:nvSpPr>
        <p:spPr>
          <a:xfrm>
            <a:off x="457200" y="332656"/>
            <a:ext cx="4040188" cy="5053401"/>
          </a:xfrm>
        </p:spPr>
        <p:txBody>
          <a:bodyPr>
            <a:normAutofit/>
          </a:bodyPr>
          <a:lstStyle/>
          <a:p>
            <a:r>
              <a:rPr lang="tr-TR" dirty="0" smtClean="0"/>
              <a:t>a. John </a:t>
            </a:r>
            <a:r>
              <a:rPr lang="tr-TR" dirty="0" err="1" smtClean="0"/>
              <a:t>saw</a:t>
            </a:r>
            <a:r>
              <a:rPr lang="tr-TR" dirty="0" smtClean="0"/>
              <a:t> </a:t>
            </a:r>
            <a:r>
              <a:rPr lang="tr-TR" dirty="0" err="1" smtClean="0"/>
              <a:t>himself</a:t>
            </a:r>
            <a:r>
              <a:rPr lang="tr-TR" dirty="0" smtClean="0"/>
              <a:t> </a:t>
            </a:r>
          </a:p>
          <a:p>
            <a:r>
              <a:rPr lang="tr-TR" dirty="0" smtClean="0"/>
              <a:t>b. </a:t>
            </a:r>
            <a:r>
              <a:rPr lang="tr-TR" i="1" dirty="0" smtClean="0"/>
              <a:t>* </a:t>
            </a:r>
            <a:r>
              <a:rPr lang="tr-TR" i="1" dirty="0" err="1" smtClean="0"/>
              <a:t>Himself</a:t>
            </a:r>
            <a:r>
              <a:rPr lang="tr-TR" i="1" dirty="0" smtClean="0"/>
              <a:t> John </a:t>
            </a:r>
            <a:r>
              <a:rPr lang="tr-TR" i="1" dirty="0" err="1" smtClean="0"/>
              <a:t>saw</a:t>
            </a:r>
            <a:endParaRPr lang="tr-TR" i="1" dirty="0" smtClean="0"/>
          </a:p>
          <a:p>
            <a:r>
              <a:rPr lang="tr-TR" dirty="0" err="1"/>
              <a:t>c</a:t>
            </a:r>
            <a:r>
              <a:rPr lang="tr-TR" dirty="0" err="1" smtClean="0"/>
              <a:t>.Looking</a:t>
            </a:r>
            <a:r>
              <a:rPr lang="tr-TR" dirty="0" smtClean="0"/>
              <a:t> </a:t>
            </a:r>
            <a:r>
              <a:rPr lang="tr-TR" dirty="0" err="1" smtClean="0"/>
              <a:t>after</a:t>
            </a:r>
            <a:r>
              <a:rPr lang="tr-TR" dirty="0" smtClean="0"/>
              <a:t> </a:t>
            </a:r>
            <a:r>
              <a:rPr lang="tr-TR" dirty="0" err="1" smtClean="0"/>
              <a:t>himself</a:t>
            </a:r>
            <a:r>
              <a:rPr lang="tr-TR" dirty="0" smtClean="0"/>
              <a:t> </a:t>
            </a:r>
            <a:r>
              <a:rPr lang="tr-TR" dirty="0" err="1" smtClean="0"/>
              <a:t>bores</a:t>
            </a:r>
            <a:r>
              <a:rPr lang="tr-TR" dirty="0"/>
              <a:t> </a:t>
            </a:r>
            <a:r>
              <a:rPr lang="tr-TR" dirty="0" smtClean="0"/>
              <a:t>John </a:t>
            </a:r>
          </a:p>
          <a:p>
            <a:r>
              <a:rPr lang="tr-TR" dirty="0" smtClean="0"/>
              <a:t>d.*</a:t>
            </a:r>
            <a:r>
              <a:rPr lang="tr-TR" i="1" dirty="0" smtClean="0"/>
              <a:t>John </a:t>
            </a:r>
            <a:r>
              <a:rPr lang="tr-TR" i="1" dirty="0" err="1" smtClean="0"/>
              <a:t>said</a:t>
            </a:r>
            <a:r>
              <a:rPr lang="tr-TR" i="1" dirty="0" smtClean="0"/>
              <a:t> </a:t>
            </a:r>
            <a:r>
              <a:rPr lang="tr-TR" i="1" dirty="0" err="1" smtClean="0"/>
              <a:t>that</a:t>
            </a:r>
            <a:r>
              <a:rPr lang="tr-TR" i="1" dirty="0" smtClean="0"/>
              <a:t> </a:t>
            </a:r>
            <a:r>
              <a:rPr lang="tr-TR" i="1" dirty="0" err="1" smtClean="0"/>
              <a:t>Fred</a:t>
            </a:r>
            <a:r>
              <a:rPr lang="tr-TR" i="1" dirty="0" smtClean="0"/>
              <a:t> </a:t>
            </a:r>
            <a:r>
              <a:rPr lang="tr-TR" i="1" dirty="0" err="1" smtClean="0"/>
              <a:t>liked</a:t>
            </a:r>
            <a:r>
              <a:rPr lang="tr-TR" i="1" dirty="0" smtClean="0"/>
              <a:t> </a:t>
            </a:r>
            <a:r>
              <a:rPr lang="tr-TR" i="1" dirty="0" err="1" smtClean="0"/>
              <a:t>himself</a:t>
            </a:r>
            <a:endParaRPr lang="tr-TR" i="1" dirty="0" smtClean="0"/>
          </a:p>
          <a:p>
            <a:r>
              <a:rPr lang="tr-TR" dirty="0" smtClean="0"/>
              <a:t>e.*</a:t>
            </a:r>
            <a:r>
              <a:rPr lang="tr-TR" i="1" dirty="0" smtClean="0"/>
              <a:t>John </a:t>
            </a:r>
            <a:r>
              <a:rPr lang="tr-TR" i="1" dirty="0" err="1" smtClean="0"/>
              <a:t>told</a:t>
            </a:r>
            <a:r>
              <a:rPr lang="tr-TR" i="1" dirty="0" smtClean="0"/>
              <a:t> Bill </a:t>
            </a:r>
            <a:r>
              <a:rPr lang="tr-TR" i="1" dirty="0" err="1" smtClean="0"/>
              <a:t>to</a:t>
            </a:r>
            <a:r>
              <a:rPr lang="tr-TR" i="1" dirty="0" smtClean="0"/>
              <a:t> </a:t>
            </a:r>
            <a:r>
              <a:rPr lang="tr-TR" i="1" dirty="0" err="1" smtClean="0"/>
              <a:t>wash</a:t>
            </a:r>
            <a:r>
              <a:rPr lang="tr-TR" i="1" dirty="0" smtClean="0"/>
              <a:t> </a:t>
            </a:r>
            <a:r>
              <a:rPr lang="tr-TR" i="1" dirty="0" err="1" smtClean="0"/>
              <a:t>himself</a:t>
            </a:r>
            <a:r>
              <a:rPr lang="tr-TR" i="1" dirty="0" smtClean="0"/>
              <a:t> </a:t>
            </a:r>
          </a:p>
          <a:p>
            <a:r>
              <a:rPr lang="tr-TR" dirty="0" smtClean="0"/>
              <a:t>f. John </a:t>
            </a:r>
            <a:r>
              <a:rPr lang="tr-TR" dirty="0" err="1" smtClean="0"/>
              <a:t>believes</a:t>
            </a:r>
            <a:r>
              <a:rPr lang="tr-TR" dirty="0" smtClean="0"/>
              <a:t> </a:t>
            </a:r>
            <a:r>
              <a:rPr lang="tr-TR" dirty="0" err="1" smtClean="0"/>
              <a:t>himself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be </a:t>
            </a:r>
            <a:r>
              <a:rPr lang="tr-TR" dirty="0" err="1" smtClean="0"/>
              <a:t>intelligent</a:t>
            </a:r>
            <a:r>
              <a:rPr lang="tr-TR" dirty="0" smtClean="0"/>
              <a:t> </a:t>
            </a:r>
          </a:p>
          <a:p>
            <a:r>
              <a:rPr lang="tr-TR" dirty="0" smtClean="0"/>
              <a:t>g.* </a:t>
            </a:r>
            <a:r>
              <a:rPr lang="tr-TR" i="1" dirty="0" smtClean="0"/>
              <a:t>John </a:t>
            </a:r>
            <a:r>
              <a:rPr lang="tr-TR" i="1" dirty="0" err="1" smtClean="0"/>
              <a:t>believes</a:t>
            </a:r>
            <a:r>
              <a:rPr lang="tr-TR" i="1" dirty="0" smtClean="0"/>
              <a:t> </a:t>
            </a:r>
            <a:r>
              <a:rPr lang="tr-TR" i="1" dirty="0" err="1" smtClean="0"/>
              <a:t>that</a:t>
            </a:r>
            <a:r>
              <a:rPr lang="tr-TR" i="1" dirty="0" smtClean="0"/>
              <a:t> </a:t>
            </a:r>
            <a:r>
              <a:rPr lang="tr-TR" i="1" dirty="0" err="1" smtClean="0"/>
              <a:t>himself</a:t>
            </a:r>
            <a:r>
              <a:rPr lang="tr-TR" i="1" dirty="0" smtClean="0"/>
              <a:t> is </a:t>
            </a:r>
            <a:r>
              <a:rPr lang="tr-TR" i="1" dirty="0" err="1" smtClean="0"/>
              <a:t>intelligent</a:t>
            </a:r>
            <a:r>
              <a:rPr lang="tr-TR" i="1" dirty="0" smtClean="0"/>
              <a:t> </a:t>
            </a:r>
            <a:endParaRPr lang="en-GB" i="1" dirty="0"/>
          </a:p>
        </p:txBody>
      </p:sp>
      <p:sp>
        <p:nvSpPr>
          <p:cNvPr id="7" name="İçerik Yer Tutucusu 6"/>
          <p:cNvSpPr>
            <a:spLocks noGrp="1"/>
          </p:cNvSpPr>
          <p:nvPr>
            <p:ph sz="quarter" idx="4"/>
          </p:nvPr>
        </p:nvSpPr>
        <p:spPr>
          <a:xfrm>
            <a:off x="4645025" y="404664"/>
            <a:ext cx="4041775" cy="4981393"/>
          </a:xfrm>
        </p:spPr>
        <p:txBody>
          <a:bodyPr/>
          <a:lstStyle/>
          <a:p>
            <a:r>
              <a:rPr lang="tr-TR" dirty="0" err="1" smtClean="0"/>
              <a:t>These</a:t>
            </a:r>
            <a:r>
              <a:rPr lang="tr-TR" dirty="0" smtClean="0"/>
              <a:t> </a:t>
            </a:r>
            <a:r>
              <a:rPr lang="tr-TR" dirty="0" err="1" smtClean="0"/>
              <a:t>sentences</a:t>
            </a:r>
            <a:r>
              <a:rPr lang="tr-TR" dirty="0" smtClean="0"/>
              <a:t> </a:t>
            </a:r>
            <a:r>
              <a:rPr lang="tr-TR" dirty="0" err="1" smtClean="0"/>
              <a:t>show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children</a:t>
            </a:r>
            <a:r>
              <a:rPr lang="tr-TR" dirty="0" smtClean="0"/>
              <a:t> </a:t>
            </a:r>
            <a:r>
              <a:rPr lang="tr-TR" dirty="0" err="1" smtClean="0"/>
              <a:t>deal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a </a:t>
            </a:r>
            <a:r>
              <a:rPr lang="tr-TR" dirty="0" err="1" smtClean="0"/>
              <a:t>difficult</a:t>
            </a:r>
            <a:r>
              <a:rPr lang="tr-TR" dirty="0" smtClean="0"/>
              <a:t> </a:t>
            </a:r>
            <a:r>
              <a:rPr lang="tr-TR" dirty="0" err="1" smtClean="0"/>
              <a:t>task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arrive</a:t>
            </a:r>
            <a:r>
              <a:rPr lang="tr-TR" dirty="0" smtClean="0"/>
              <a:t> at </a:t>
            </a:r>
            <a:r>
              <a:rPr lang="tr-TR" dirty="0" err="1" smtClean="0"/>
              <a:t>correct</a:t>
            </a:r>
            <a:r>
              <a:rPr lang="tr-TR" dirty="0" smtClean="0"/>
              <a:t> </a:t>
            </a:r>
            <a:r>
              <a:rPr lang="tr-TR" dirty="0" err="1" smtClean="0"/>
              <a:t>rule</a:t>
            </a:r>
            <a:r>
              <a:rPr lang="tr-TR" dirty="0" smtClean="0"/>
              <a:t>. </a:t>
            </a:r>
          </a:p>
          <a:p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tr-TR" dirty="0" err="1" smtClean="0"/>
              <a:t>Children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cognitive</a:t>
            </a:r>
            <a:r>
              <a:rPr lang="tr-TR" dirty="0" smtClean="0"/>
              <a:t> </a:t>
            </a:r>
            <a:r>
              <a:rPr lang="tr-TR" dirty="0" err="1" smtClean="0"/>
              <a:t>deficits</a:t>
            </a:r>
            <a:r>
              <a:rPr lang="tr-TR" dirty="0" smtClean="0"/>
              <a:t> </a:t>
            </a:r>
            <a:r>
              <a:rPr lang="tr-TR" dirty="0" err="1" smtClean="0"/>
              <a:t>achieve</a:t>
            </a:r>
            <a:r>
              <a:rPr lang="tr-TR" dirty="0" smtClean="0"/>
              <a:t> it </a:t>
            </a:r>
          </a:p>
          <a:p>
            <a:pP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tr-TR" dirty="0" err="1" smtClean="0"/>
              <a:t>Broca’s</a:t>
            </a:r>
            <a:r>
              <a:rPr lang="tr-TR" dirty="0" smtClean="0"/>
              <a:t> </a:t>
            </a:r>
            <a:r>
              <a:rPr lang="tr-TR" dirty="0" err="1" smtClean="0"/>
              <a:t>aphasia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Wernicke’s</a:t>
            </a:r>
            <a:r>
              <a:rPr lang="tr-TR" dirty="0" smtClean="0"/>
              <a:t> </a:t>
            </a:r>
            <a:r>
              <a:rPr lang="tr-TR" dirty="0" err="1" smtClean="0"/>
              <a:t>aphasia</a:t>
            </a: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tr-TR" dirty="0" err="1" smtClean="0"/>
              <a:t>Specific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/>
              <a:t>i</a:t>
            </a:r>
            <a:r>
              <a:rPr lang="tr-TR" dirty="0" err="1" smtClean="0"/>
              <a:t>mpairment</a:t>
            </a:r>
            <a:r>
              <a:rPr lang="tr-TR" dirty="0" smtClean="0"/>
              <a:t> (SLI)</a:t>
            </a:r>
            <a:endParaRPr lang="en-GB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İçerik Yer Tutucusu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shows that specific areas of brain deal with specific aspects of language and that suffering from a language deficit does not mean having lost language completely.</a:t>
            </a:r>
          </a:p>
          <a:p>
            <a:endParaRPr lang="en-US" dirty="0" smtClean="0"/>
          </a:p>
          <a:p>
            <a:r>
              <a:rPr lang="en-US" dirty="0" smtClean="0"/>
              <a:t>All this evidence make universalists claim that there must be a kind of innate language faculty that is biologically triggered . As language in children seems to grow in the same way a teeth develop or children start walking .</a:t>
            </a:r>
            <a:endParaRPr lang="en-US" dirty="0"/>
          </a:p>
        </p:txBody>
      </p:sp>
      <p:sp>
        <p:nvSpPr>
          <p:cNvPr id="12" name="Başlık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86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behaviour</a:t>
            </a:r>
            <a:r>
              <a:rPr lang="tr-TR" dirty="0" smtClean="0"/>
              <a:t> </a:t>
            </a:r>
            <a:r>
              <a:rPr lang="tr-TR" dirty="0" err="1" smtClean="0"/>
              <a:t>emerges</a:t>
            </a:r>
            <a:r>
              <a:rPr lang="tr-TR" dirty="0" smtClean="0"/>
              <a:t> </a:t>
            </a:r>
            <a:r>
              <a:rPr lang="tr-TR" dirty="0" err="1" smtClean="0"/>
              <a:t>before</a:t>
            </a:r>
            <a:r>
              <a:rPr lang="tr-TR" dirty="0" smtClean="0"/>
              <a:t> it is </a:t>
            </a:r>
            <a:r>
              <a:rPr lang="tr-TR" dirty="0" err="1" smtClean="0"/>
              <a:t>necessary</a:t>
            </a:r>
            <a:endParaRPr lang="tr-TR" dirty="0" smtClean="0"/>
          </a:p>
          <a:p>
            <a:r>
              <a:rPr lang="tr-TR" dirty="0" err="1" smtClean="0"/>
              <a:t>Its</a:t>
            </a:r>
            <a:r>
              <a:rPr lang="tr-TR" dirty="0" smtClean="0"/>
              <a:t> </a:t>
            </a:r>
            <a:r>
              <a:rPr lang="tr-TR" dirty="0" err="1" smtClean="0"/>
              <a:t>appearance</a:t>
            </a:r>
            <a:r>
              <a:rPr lang="tr-TR" dirty="0" smtClean="0"/>
              <a:t> is not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result</a:t>
            </a:r>
            <a:r>
              <a:rPr lang="tr-TR" dirty="0" smtClean="0"/>
              <a:t> of a </a:t>
            </a:r>
            <a:r>
              <a:rPr lang="tr-TR" dirty="0" err="1" smtClean="0"/>
              <a:t>conscious</a:t>
            </a:r>
            <a:r>
              <a:rPr lang="tr-TR" dirty="0" smtClean="0"/>
              <a:t> </a:t>
            </a:r>
            <a:r>
              <a:rPr lang="tr-TR" dirty="0" err="1" smtClean="0"/>
              <a:t>decision</a:t>
            </a:r>
            <a:endParaRPr lang="tr-TR" dirty="0" smtClean="0"/>
          </a:p>
          <a:p>
            <a:r>
              <a:rPr lang="tr-TR" dirty="0" err="1" smtClean="0"/>
              <a:t>Its</a:t>
            </a:r>
            <a:r>
              <a:rPr lang="tr-TR" dirty="0" smtClean="0"/>
              <a:t> </a:t>
            </a:r>
            <a:r>
              <a:rPr lang="tr-TR" dirty="0" err="1" smtClean="0"/>
              <a:t>emergence</a:t>
            </a:r>
            <a:r>
              <a:rPr lang="tr-TR" dirty="0" smtClean="0"/>
              <a:t> is not </a:t>
            </a:r>
            <a:r>
              <a:rPr lang="tr-TR" dirty="0" err="1" smtClean="0"/>
              <a:t>triggered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</a:t>
            </a:r>
            <a:r>
              <a:rPr lang="tr-TR" dirty="0" err="1" smtClean="0"/>
              <a:t>external</a:t>
            </a:r>
            <a:r>
              <a:rPr lang="tr-TR" dirty="0" smtClean="0"/>
              <a:t> </a:t>
            </a:r>
            <a:r>
              <a:rPr lang="tr-TR" dirty="0" err="1" smtClean="0"/>
              <a:t>events</a:t>
            </a:r>
            <a:endParaRPr lang="tr-TR" dirty="0" smtClean="0"/>
          </a:p>
          <a:p>
            <a:r>
              <a:rPr lang="tr-TR" dirty="0" smtClean="0"/>
              <a:t>Direct </a:t>
            </a:r>
            <a:r>
              <a:rPr lang="tr-TR" dirty="0" err="1" smtClean="0"/>
              <a:t>teaching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intensive</a:t>
            </a:r>
            <a:r>
              <a:rPr lang="tr-TR" dirty="0" smtClean="0"/>
              <a:t> </a:t>
            </a:r>
            <a:r>
              <a:rPr lang="tr-TR" dirty="0" err="1" smtClean="0"/>
              <a:t>practice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 </a:t>
            </a:r>
            <a:r>
              <a:rPr lang="tr-TR" dirty="0" err="1" smtClean="0"/>
              <a:t>relatively</a:t>
            </a:r>
            <a:r>
              <a:rPr lang="tr-TR" dirty="0" smtClean="0"/>
              <a:t> </a:t>
            </a:r>
            <a:r>
              <a:rPr lang="tr-TR" dirty="0" err="1" smtClean="0"/>
              <a:t>little</a:t>
            </a:r>
            <a:r>
              <a:rPr lang="tr-TR" dirty="0" smtClean="0"/>
              <a:t> </a:t>
            </a:r>
            <a:r>
              <a:rPr lang="tr-TR" dirty="0" err="1" smtClean="0"/>
              <a:t>effect</a:t>
            </a:r>
            <a:endParaRPr lang="tr-TR" dirty="0" smtClean="0"/>
          </a:p>
          <a:p>
            <a:r>
              <a:rPr lang="tr-TR" dirty="0" err="1" smtClean="0"/>
              <a:t>Children</a:t>
            </a:r>
            <a:r>
              <a:rPr lang="tr-TR" dirty="0" smtClean="0"/>
              <a:t> </a:t>
            </a:r>
            <a:r>
              <a:rPr lang="tr-TR" dirty="0" err="1" smtClean="0"/>
              <a:t>go</a:t>
            </a:r>
            <a:r>
              <a:rPr lang="tr-TR" dirty="0" smtClean="0"/>
              <a:t> </a:t>
            </a:r>
            <a:r>
              <a:rPr lang="tr-TR" dirty="0" err="1" smtClean="0"/>
              <a:t>through</a:t>
            </a:r>
            <a:r>
              <a:rPr lang="tr-TR" dirty="0" smtClean="0"/>
              <a:t> </a:t>
            </a:r>
            <a:r>
              <a:rPr lang="tr-TR" dirty="0" err="1" smtClean="0"/>
              <a:t>well-defined</a:t>
            </a:r>
            <a:r>
              <a:rPr lang="tr-TR" dirty="0" smtClean="0"/>
              <a:t> </a:t>
            </a:r>
            <a:r>
              <a:rPr lang="tr-TR" dirty="0" err="1" smtClean="0"/>
              <a:t>stages</a:t>
            </a:r>
            <a:r>
              <a:rPr lang="tr-TR" dirty="0" smtClean="0"/>
              <a:t> ‘ </a:t>
            </a:r>
            <a:r>
              <a:rPr lang="tr-TR" dirty="0" err="1" smtClean="0"/>
              <a:t>milestones</a:t>
            </a:r>
            <a:r>
              <a:rPr lang="tr-TR" dirty="0" smtClean="0"/>
              <a:t>’</a:t>
            </a:r>
          </a:p>
          <a:p>
            <a:r>
              <a:rPr lang="tr-TR" dirty="0" smtClean="0"/>
              <a:t>‘</a:t>
            </a:r>
            <a:r>
              <a:rPr lang="tr-TR" dirty="0" err="1" smtClean="0"/>
              <a:t>critical</a:t>
            </a:r>
            <a:r>
              <a:rPr lang="tr-TR" dirty="0" smtClean="0"/>
              <a:t> </a:t>
            </a:r>
            <a:r>
              <a:rPr lang="tr-TR" dirty="0" err="1" smtClean="0"/>
              <a:t>period</a:t>
            </a:r>
            <a:r>
              <a:rPr lang="tr-TR" dirty="0" smtClean="0"/>
              <a:t>’ – </a:t>
            </a:r>
            <a:r>
              <a:rPr lang="tr-TR" dirty="0" err="1" smtClean="0"/>
              <a:t>controversial</a:t>
            </a:r>
            <a:r>
              <a:rPr lang="tr-TR" dirty="0" smtClean="0"/>
              <a:t> </a:t>
            </a:r>
            <a:r>
              <a:rPr lang="tr-TR" dirty="0" err="1" smtClean="0"/>
              <a:t>issue</a:t>
            </a:r>
            <a:endParaRPr lang="tr-TR" dirty="0" smtClean="0"/>
          </a:p>
          <a:p>
            <a:endParaRPr lang="en-GB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More</a:t>
            </a:r>
            <a:r>
              <a:rPr lang="tr-TR" dirty="0" smtClean="0"/>
              <a:t> </a:t>
            </a:r>
            <a:r>
              <a:rPr lang="tr-TR" dirty="0" err="1" smtClean="0"/>
              <a:t>evidence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specific</a:t>
            </a:r>
            <a:r>
              <a:rPr lang="tr-TR" dirty="0" smtClean="0"/>
              <a:t> </a:t>
            </a:r>
            <a:r>
              <a:rPr lang="tr-TR" dirty="0" err="1" smtClean="0"/>
              <a:t>module</a:t>
            </a:r>
            <a:r>
              <a:rPr lang="tr-TR" dirty="0" smtClean="0"/>
              <a:t> in </a:t>
            </a:r>
            <a:r>
              <a:rPr lang="tr-TR" dirty="0" err="1" smtClean="0"/>
              <a:t>brain</a:t>
            </a:r>
            <a:r>
              <a:rPr lang="tr-TR" dirty="0" smtClean="0"/>
              <a:t> </a:t>
            </a:r>
            <a:br>
              <a:rPr lang="tr-TR" dirty="0" smtClean="0"/>
            </a:br>
            <a:r>
              <a:rPr lang="tr-TR" dirty="0" err="1" smtClean="0"/>
              <a:t>by</a:t>
            </a:r>
            <a:r>
              <a:rPr lang="tr-TR" dirty="0" smtClean="0"/>
              <a:t> </a:t>
            </a:r>
            <a:r>
              <a:rPr lang="tr-TR" dirty="0" err="1" smtClean="0"/>
              <a:t>Lenneberg’s</a:t>
            </a:r>
            <a:r>
              <a:rPr lang="tr-TR" dirty="0" smtClean="0"/>
              <a:t> </a:t>
            </a:r>
            <a:r>
              <a:rPr lang="tr-TR" dirty="0" err="1" smtClean="0"/>
              <a:t>criteria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494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UG </a:t>
            </a:r>
            <a:r>
              <a:rPr lang="tr-TR" dirty="0" err="1" smtClean="0"/>
              <a:t>approach</a:t>
            </a:r>
            <a:r>
              <a:rPr lang="tr-TR" dirty="0" smtClean="0"/>
              <a:t> </a:t>
            </a:r>
            <a:r>
              <a:rPr lang="tr-TR" dirty="0" err="1" smtClean="0"/>
              <a:t>claims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there</a:t>
            </a:r>
            <a:r>
              <a:rPr lang="tr-TR" dirty="0" smtClean="0"/>
              <a:t> is a </a:t>
            </a:r>
            <a:r>
              <a:rPr lang="tr-TR" dirty="0" err="1" smtClean="0"/>
              <a:t>universal</a:t>
            </a:r>
            <a:r>
              <a:rPr lang="tr-TR" dirty="0" smtClean="0"/>
              <a:t> set of </a:t>
            </a:r>
            <a:r>
              <a:rPr lang="tr-TR" dirty="0" err="1" smtClean="0"/>
              <a:t>principles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parameters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control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shape</a:t>
            </a:r>
            <a:r>
              <a:rPr lang="tr-TR" dirty="0" smtClean="0"/>
              <a:t> </a:t>
            </a:r>
            <a:r>
              <a:rPr lang="tr-TR" dirty="0" smtClean="0"/>
              <a:t>of </a:t>
            </a:r>
            <a:r>
              <a:rPr lang="tr-TR" dirty="0" err="1" smtClean="0"/>
              <a:t>human</a:t>
            </a:r>
            <a:r>
              <a:rPr lang="tr-TR" dirty="0" smtClean="0"/>
              <a:t> </a:t>
            </a:r>
            <a:r>
              <a:rPr lang="tr-TR" dirty="0" err="1" smtClean="0"/>
              <a:t>languages</a:t>
            </a:r>
            <a:r>
              <a:rPr lang="tr-TR" dirty="0" smtClean="0"/>
              <a:t> .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r>
              <a:rPr lang="tr-TR" dirty="0" smtClean="0"/>
              <a:t>             </a:t>
            </a:r>
            <a:r>
              <a:rPr lang="tr-TR" dirty="0" err="1" smtClean="0"/>
              <a:t>Principles</a:t>
            </a:r>
            <a:r>
              <a:rPr lang="tr-TR" dirty="0" smtClean="0"/>
              <a:t>                           </a:t>
            </a:r>
            <a:r>
              <a:rPr lang="tr-TR" dirty="0" err="1" smtClean="0"/>
              <a:t>Paramaters</a:t>
            </a:r>
            <a:r>
              <a:rPr lang="tr-TR" dirty="0" smtClean="0"/>
              <a:t> </a:t>
            </a:r>
          </a:p>
          <a:p>
            <a:pPr marL="109728" indent="0">
              <a:buNone/>
            </a:pPr>
            <a:r>
              <a:rPr lang="tr-TR" i="1" dirty="0" smtClean="0"/>
              <a:t>              -</a:t>
            </a:r>
            <a:r>
              <a:rPr lang="tr-TR" sz="2000" i="1" dirty="0" err="1" smtClean="0"/>
              <a:t>unvarying</a:t>
            </a:r>
            <a:r>
              <a:rPr lang="tr-TR" sz="2000" i="1" dirty="0" smtClean="0"/>
              <a:t>     </a:t>
            </a:r>
            <a:r>
              <a:rPr lang="tr-TR" i="1" dirty="0" smtClean="0"/>
              <a:t>                             </a:t>
            </a:r>
            <a:r>
              <a:rPr lang="tr-TR" sz="2000" i="1" dirty="0" smtClean="0"/>
              <a:t>-</a:t>
            </a:r>
            <a:r>
              <a:rPr lang="tr-TR" sz="2000" i="1" dirty="0" err="1" smtClean="0"/>
              <a:t>possess</a:t>
            </a:r>
            <a:r>
              <a:rPr lang="tr-TR" sz="2000" i="1" dirty="0" smtClean="0"/>
              <a:t> a </a:t>
            </a:r>
            <a:r>
              <a:rPr lang="tr-TR" sz="2000" i="1" dirty="0" err="1" smtClean="0"/>
              <a:t>limited</a:t>
            </a:r>
            <a:r>
              <a:rPr lang="tr-TR" sz="2000" i="1" dirty="0" smtClean="0"/>
              <a:t>   </a:t>
            </a:r>
          </a:p>
          <a:p>
            <a:pPr marL="109728" indent="0">
              <a:buNone/>
            </a:pPr>
            <a:r>
              <a:rPr lang="tr-TR" sz="2000" i="1" dirty="0"/>
              <a:t> </a:t>
            </a:r>
            <a:r>
              <a:rPr lang="tr-TR" sz="2000" i="1" dirty="0" smtClean="0"/>
              <a:t>             -</a:t>
            </a:r>
            <a:r>
              <a:rPr lang="tr-TR" sz="2000" i="1" dirty="0" err="1" smtClean="0"/>
              <a:t>applicable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to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all</a:t>
            </a:r>
            <a:r>
              <a:rPr lang="tr-TR" sz="2000" i="1" dirty="0" smtClean="0"/>
              <a:t>                                        </a:t>
            </a:r>
            <a:r>
              <a:rPr lang="tr-TR" sz="2000" i="1" dirty="0" err="1" smtClean="0"/>
              <a:t>number</a:t>
            </a:r>
            <a:r>
              <a:rPr lang="tr-TR" sz="2000" i="1" dirty="0" smtClean="0"/>
              <a:t> of  </a:t>
            </a:r>
            <a:r>
              <a:rPr lang="tr-TR" sz="2000" i="1" dirty="0" err="1" smtClean="0"/>
              <a:t>open</a:t>
            </a:r>
            <a:r>
              <a:rPr lang="tr-TR" sz="2000" i="1" dirty="0" smtClean="0"/>
              <a:t> </a:t>
            </a:r>
          </a:p>
          <a:p>
            <a:pPr marL="109728" indent="0">
              <a:buNone/>
            </a:pPr>
            <a:r>
              <a:rPr lang="tr-TR" sz="2000" i="1" dirty="0"/>
              <a:t> </a:t>
            </a:r>
            <a:r>
              <a:rPr lang="tr-TR" sz="2000" i="1" dirty="0" smtClean="0"/>
              <a:t>            </a:t>
            </a:r>
            <a:r>
              <a:rPr lang="tr-TR" sz="2000" i="1" dirty="0" err="1" smtClean="0"/>
              <a:t>natural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languages</a:t>
            </a:r>
            <a:r>
              <a:rPr lang="tr-TR" sz="2000" i="1" dirty="0" smtClean="0"/>
              <a:t>                                      </a:t>
            </a:r>
            <a:r>
              <a:rPr lang="tr-TR" sz="2000" i="1" dirty="0" err="1" smtClean="0"/>
              <a:t>values</a:t>
            </a:r>
            <a:r>
              <a:rPr lang="tr-TR" sz="2000" i="1" dirty="0" smtClean="0"/>
              <a:t> </a:t>
            </a:r>
            <a:endParaRPr lang="en-GB" sz="2000" i="1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Principles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Parameter</a:t>
            </a:r>
            <a:r>
              <a:rPr lang="tr-TR" dirty="0" err="1"/>
              <a:t>s</a:t>
            </a:r>
            <a:endParaRPr lang="en-GB" dirty="0"/>
          </a:p>
        </p:txBody>
      </p:sp>
      <p:sp>
        <p:nvSpPr>
          <p:cNvPr id="4" name="Yuvarlatılmış Dikdörtgen 3"/>
          <p:cNvSpPr/>
          <p:nvPr/>
        </p:nvSpPr>
        <p:spPr>
          <a:xfrm>
            <a:off x="2987824" y="2996952"/>
            <a:ext cx="3384376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b="1" dirty="0" err="1" smtClean="0">
                <a:solidFill>
                  <a:schemeClr val="tx1"/>
                </a:solidFill>
              </a:rPr>
              <a:t>Goverment</a:t>
            </a:r>
            <a:r>
              <a:rPr lang="tr-TR" sz="2000" b="1" dirty="0" smtClean="0">
                <a:solidFill>
                  <a:schemeClr val="tx1"/>
                </a:solidFill>
              </a:rPr>
              <a:t> &amp; </a:t>
            </a:r>
            <a:r>
              <a:rPr lang="tr-TR" sz="2000" b="1" dirty="0" err="1" smtClean="0">
                <a:solidFill>
                  <a:schemeClr val="tx1"/>
                </a:solidFill>
              </a:rPr>
              <a:t>Binding</a:t>
            </a:r>
            <a:r>
              <a:rPr lang="tr-TR" sz="2000" b="1" dirty="0" smtClean="0">
                <a:solidFill>
                  <a:schemeClr val="tx1"/>
                </a:solidFill>
              </a:rPr>
              <a:t> </a:t>
            </a:r>
            <a:r>
              <a:rPr lang="tr-TR" sz="2000" b="1" dirty="0" err="1" smtClean="0">
                <a:solidFill>
                  <a:schemeClr val="tx1"/>
                </a:solidFill>
              </a:rPr>
              <a:t>Theory</a:t>
            </a:r>
            <a:endParaRPr lang="tr-TR" sz="2000" b="1" dirty="0" smtClean="0">
              <a:solidFill>
                <a:schemeClr val="tx1"/>
              </a:solidFill>
            </a:endParaRPr>
          </a:p>
          <a:p>
            <a:pPr algn="ctr"/>
            <a:r>
              <a:rPr lang="tr-TR" dirty="0" smtClean="0">
                <a:solidFill>
                  <a:schemeClr val="tx1"/>
                </a:solidFill>
              </a:rPr>
              <a:t>Language 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6" name="Düz Bağlayıcı 5"/>
          <p:cNvCxnSpPr/>
          <p:nvPr/>
        </p:nvCxnSpPr>
        <p:spPr>
          <a:xfrm flipH="1">
            <a:off x="3347864" y="3717032"/>
            <a:ext cx="576064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Ok Bağlayıcısı 7"/>
          <p:cNvCxnSpPr/>
          <p:nvPr/>
        </p:nvCxnSpPr>
        <p:spPr>
          <a:xfrm>
            <a:off x="5580112" y="3789040"/>
            <a:ext cx="504056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57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We</a:t>
            </a:r>
            <a:r>
              <a:rPr lang="tr-TR" dirty="0" smtClean="0"/>
              <a:t> can not </a:t>
            </a:r>
            <a:r>
              <a:rPr lang="tr-TR" dirty="0" err="1" smtClean="0"/>
              <a:t>apply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same</a:t>
            </a:r>
            <a:r>
              <a:rPr lang="tr-TR" dirty="0" smtClean="0"/>
              <a:t> </a:t>
            </a:r>
            <a:r>
              <a:rPr lang="tr-TR" dirty="0" err="1" smtClean="0"/>
              <a:t>structure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all</a:t>
            </a:r>
            <a:r>
              <a:rPr lang="tr-TR" dirty="0" smtClean="0"/>
              <a:t> </a:t>
            </a:r>
            <a:r>
              <a:rPr lang="tr-TR" dirty="0" err="1" smtClean="0"/>
              <a:t>languages</a:t>
            </a:r>
            <a:r>
              <a:rPr lang="tr-TR" dirty="0" smtClean="0"/>
              <a:t> </a:t>
            </a:r>
            <a:r>
              <a:rPr lang="tr-TR" dirty="0" err="1" smtClean="0"/>
              <a:t>although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principles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same</a:t>
            </a:r>
            <a:r>
              <a:rPr lang="tr-TR" dirty="0" smtClean="0"/>
              <a:t>.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reason</a:t>
            </a:r>
            <a:r>
              <a:rPr lang="tr-TR" dirty="0" smtClean="0"/>
              <a:t> of it is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languages</a:t>
            </a:r>
            <a:r>
              <a:rPr lang="tr-TR" dirty="0" smtClean="0"/>
              <a:t> not </a:t>
            </a:r>
            <a:r>
              <a:rPr lang="tr-TR" dirty="0" err="1" smtClean="0"/>
              <a:t>only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 PRINCIPLES  but </a:t>
            </a:r>
            <a:r>
              <a:rPr lang="tr-TR" dirty="0" err="1" smtClean="0"/>
              <a:t>also</a:t>
            </a:r>
            <a:r>
              <a:rPr lang="tr-TR" dirty="0" smtClean="0"/>
              <a:t> PARAMETERS. </a:t>
            </a:r>
          </a:p>
          <a:p>
            <a:endParaRPr lang="tr-TR" dirty="0" smtClean="0"/>
          </a:p>
          <a:p>
            <a:r>
              <a:rPr lang="tr-TR" dirty="0" smtClean="0"/>
              <a:t> </a:t>
            </a:r>
            <a:r>
              <a:rPr lang="tr-TR" dirty="0" err="1" smtClean="0"/>
              <a:t>Parameters</a:t>
            </a:r>
            <a:r>
              <a:rPr lang="tr-TR" dirty="0" smtClean="0"/>
              <a:t> </a:t>
            </a:r>
            <a:r>
              <a:rPr lang="tr-TR" dirty="0" err="1" smtClean="0"/>
              <a:t>decide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limit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way</a:t>
            </a:r>
            <a:r>
              <a:rPr lang="tr-TR" dirty="0" smtClean="0"/>
              <a:t> in </a:t>
            </a:r>
            <a:r>
              <a:rPr lang="tr-TR" dirty="0" err="1" smtClean="0"/>
              <a:t>which</a:t>
            </a:r>
            <a:r>
              <a:rPr lang="tr-TR" dirty="0" smtClean="0"/>
              <a:t> </a:t>
            </a:r>
            <a:r>
              <a:rPr lang="tr-TR" dirty="0" err="1" smtClean="0"/>
              <a:t>sth</a:t>
            </a:r>
            <a:r>
              <a:rPr lang="tr-TR" dirty="0" smtClean="0"/>
              <a:t> can be done. </a:t>
            </a:r>
          </a:p>
          <a:p>
            <a:endParaRPr lang="en-GB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52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sz="half" idx="1"/>
          </p:nvPr>
        </p:nvSpPr>
        <p:spPr>
          <a:xfrm>
            <a:off x="457200" y="1481329"/>
            <a:ext cx="3322712" cy="3243816"/>
          </a:xfrm>
        </p:spPr>
        <p:txBody>
          <a:bodyPr>
            <a:normAutofit fontScale="47500" lnSpcReduction="20000"/>
          </a:bodyPr>
          <a:lstStyle/>
          <a:p>
            <a:pPr marL="109728" indent="0">
              <a:buNone/>
            </a:pPr>
            <a:r>
              <a:rPr lang="tr-TR" sz="3300" dirty="0"/>
              <a:t> </a:t>
            </a:r>
            <a:r>
              <a:rPr lang="tr-TR" sz="3300" dirty="0" smtClean="0"/>
              <a:t>                </a:t>
            </a:r>
            <a:r>
              <a:rPr lang="tr-TR" sz="3300" dirty="0" err="1" smtClean="0"/>
              <a:t>Lexical</a:t>
            </a:r>
            <a:r>
              <a:rPr lang="tr-TR" sz="3300" dirty="0" smtClean="0"/>
              <a:t>   </a:t>
            </a:r>
          </a:p>
          <a:p>
            <a:pPr marL="109728" indent="0">
              <a:buNone/>
            </a:pPr>
            <a:r>
              <a:rPr lang="tr-TR" sz="3300" dirty="0"/>
              <a:t> </a:t>
            </a:r>
            <a:r>
              <a:rPr lang="tr-TR" sz="3300" dirty="0" smtClean="0"/>
              <a:t>                    </a:t>
            </a:r>
            <a:r>
              <a:rPr lang="tr-TR" sz="3300" dirty="0" err="1" smtClean="0"/>
              <a:t>categories</a:t>
            </a:r>
            <a:r>
              <a:rPr lang="tr-TR" sz="3300" dirty="0" smtClean="0"/>
              <a:t>  </a:t>
            </a:r>
          </a:p>
          <a:p>
            <a:pPr marL="109728" indent="0">
              <a:buNone/>
            </a:pPr>
            <a:r>
              <a:rPr lang="tr-TR" sz="3300" dirty="0" smtClean="0"/>
              <a:t>            ( </a:t>
            </a:r>
            <a:r>
              <a:rPr lang="tr-TR" sz="3300" dirty="0" err="1" smtClean="0"/>
              <a:t>content</a:t>
            </a:r>
            <a:r>
              <a:rPr lang="tr-TR" sz="3300" dirty="0" smtClean="0"/>
              <a:t> </a:t>
            </a:r>
            <a:r>
              <a:rPr lang="tr-TR" sz="3300" dirty="0" err="1" smtClean="0"/>
              <a:t>words</a:t>
            </a:r>
            <a:r>
              <a:rPr lang="tr-TR" sz="3300" dirty="0" smtClean="0"/>
              <a:t>)      </a:t>
            </a:r>
            <a:endParaRPr lang="tr-TR" sz="3300" dirty="0"/>
          </a:p>
          <a:p>
            <a:endParaRPr lang="tr-TR" sz="3300" dirty="0" smtClean="0"/>
          </a:p>
          <a:p>
            <a:r>
              <a:rPr lang="tr-TR" sz="3300" dirty="0" err="1" smtClean="0"/>
              <a:t>Lexicon</a:t>
            </a:r>
            <a:r>
              <a:rPr lang="tr-TR" sz="3300" dirty="0" smtClean="0"/>
              <a:t>        </a:t>
            </a:r>
          </a:p>
          <a:p>
            <a:pPr marL="109728" indent="0">
              <a:buNone/>
            </a:pPr>
            <a:r>
              <a:rPr lang="tr-TR" sz="3300" dirty="0"/>
              <a:t> </a:t>
            </a:r>
            <a:r>
              <a:rPr lang="tr-TR" sz="3300" dirty="0" smtClean="0"/>
              <a:t>                </a:t>
            </a:r>
          </a:p>
          <a:p>
            <a:pPr marL="109728" indent="0">
              <a:buNone/>
            </a:pPr>
            <a:r>
              <a:rPr lang="tr-TR" sz="3300" dirty="0"/>
              <a:t> </a:t>
            </a:r>
            <a:r>
              <a:rPr lang="tr-TR" sz="3300" dirty="0" smtClean="0"/>
              <a:t>                </a:t>
            </a:r>
          </a:p>
          <a:p>
            <a:pPr marL="109728" indent="0">
              <a:buNone/>
            </a:pPr>
            <a:r>
              <a:rPr lang="tr-TR" sz="3300" dirty="0"/>
              <a:t> </a:t>
            </a:r>
            <a:r>
              <a:rPr lang="tr-TR" sz="3300" dirty="0" smtClean="0"/>
              <a:t>                </a:t>
            </a:r>
            <a:r>
              <a:rPr lang="tr-TR" sz="3300" dirty="0" err="1" smtClean="0"/>
              <a:t>Functional</a:t>
            </a:r>
            <a:r>
              <a:rPr lang="tr-TR" sz="3300" dirty="0" smtClean="0"/>
              <a:t> </a:t>
            </a:r>
          </a:p>
          <a:p>
            <a:pPr marL="109728" indent="0">
              <a:buNone/>
            </a:pPr>
            <a:r>
              <a:rPr lang="tr-TR" sz="3300" dirty="0"/>
              <a:t> </a:t>
            </a:r>
            <a:r>
              <a:rPr lang="tr-TR" sz="3300" dirty="0" smtClean="0"/>
              <a:t>               </a:t>
            </a:r>
            <a:r>
              <a:rPr lang="tr-TR" sz="3300" dirty="0" err="1"/>
              <a:t>c</a:t>
            </a:r>
            <a:r>
              <a:rPr lang="tr-TR" sz="3300" dirty="0" err="1" smtClean="0"/>
              <a:t>ategories</a:t>
            </a:r>
            <a:endParaRPr lang="tr-TR" sz="3300" dirty="0" smtClean="0"/>
          </a:p>
          <a:p>
            <a:pPr marL="109728" indent="0">
              <a:buNone/>
            </a:pPr>
            <a:r>
              <a:rPr lang="tr-TR" sz="3300" dirty="0"/>
              <a:t> </a:t>
            </a:r>
            <a:r>
              <a:rPr lang="tr-TR" sz="3300" dirty="0" smtClean="0"/>
              <a:t>         ( </a:t>
            </a:r>
            <a:r>
              <a:rPr lang="tr-TR" sz="3300" dirty="0" err="1" smtClean="0"/>
              <a:t>grammatical</a:t>
            </a:r>
            <a:endParaRPr lang="tr-TR" sz="3300" dirty="0" smtClean="0"/>
          </a:p>
          <a:p>
            <a:pPr marL="109728" indent="0">
              <a:buNone/>
            </a:pPr>
            <a:r>
              <a:rPr lang="tr-TR" sz="3300" dirty="0"/>
              <a:t> </a:t>
            </a:r>
            <a:r>
              <a:rPr lang="tr-TR" sz="3300" dirty="0" smtClean="0"/>
              <a:t>           </a:t>
            </a:r>
            <a:r>
              <a:rPr lang="tr-TR" sz="3300" dirty="0" err="1" smtClean="0"/>
              <a:t>words</a:t>
            </a:r>
            <a:r>
              <a:rPr lang="tr-TR" sz="3300" dirty="0" smtClean="0"/>
              <a:t>)</a:t>
            </a:r>
            <a:endParaRPr lang="tr-TR" sz="3300" dirty="0"/>
          </a:p>
          <a:p>
            <a:pPr marL="109728" indent="0">
              <a:buNone/>
            </a:pPr>
            <a:r>
              <a:rPr lang="tr-TR" sz="3300" dirty="0" smtClean="0"/>
              <a:t>           </a:t>
            </a:r>
          </a:p>
          <a:p>
            <a:pPr marL="109728" indent="0">
              <a:buNone/>
            </a:pPr>
            <a:r>
              <a:rPr lang="tr-TR" dirty="0" smtClean="0"/>
              <a:t>   </a:t>
            </a:r>
            <a:endParaRPr lang="en-GB" dirty="0"/>
          </a:p>
        </p:txBody>
      </p:sp>
      <p:sp>
        <p:nvSpPr>
          <p:cNvPr id="10" name="İçerik Yer Tutucusu 9"/>
          <p:cNvSpPr>
            <a:spLocks noGrp="1"/>
          </p:cNvSpPr>
          <p:nvPr>
            <p:ph sz="half" idx="2"/>
          </p:nvPr>
        </p:nvSpPr>
        <p:spPr>
          <a:xfrm>
            <a:off x="4355976" y="1268760"/>
            <a:ext cx="4326632" cy="5040559"/>
          </a:xfrm>
        </p:spPr>
        <p:txBody>
          <a:bodyPr>
            <a:normAutofit fontScale="47500" lnSpcReduction="20000"/>
          </a:bodyPr>
          <a:lstStyle/>
          <a:p>
            <a:endParaRPr lang="tr-TR" dirty="0" smtClean="0"/>
          </a:p>
          <a:p>
            <a:pPr marL="109728" indent="0">
              <a:lnSpc>
                <a:spcPct val="120000"/>
              </a:lnSpc>
              <a:buNone/>
            </a:pPr>
            <a:r>
              <a:rPr lang="tr-TR" sz="3800" dirty="0" smtClean="0"/>
              <a:t>Chomsky </a:t>
            </a:r>
            <a:r>
              <a:rPr lang="tr-TR" sz="3800" dirty="0" err="1" smtClean="0"/>
              <a:t>argues</a:t>
            </a:r>
            <a:r>
              <a:rPr lang="tr-TR" sz="3800" dirty="0" smtClean="0"/>
              <a:t> </a:t>
            </a:r>
            <a:r>
              <a:rPr lang="tr-TR" sz="3800" dirty="0" err="1" smtClean="0"/>
              <a:t>that</a:t>
            </a:r>
            <a:r>
              <a:rPr lang="tr-TR" sz="3800" dirty="0" smtClean="0"/>
              <a:t> </a:t>
            </a:r>
            <a:r>
              <a:rPr lang="tr-TR" sz="3800" dirty="0" err="1" smtClean="0"/>
              <a:t>the</a:t>
            </a:r>
            <a:r>
              <a:rPr lang="tr-TR" sz="3800" dirty="0" smtClean="0"/>
              <a:t> </a:t>
            </a:r>
            <a:r>
              <a:rPr lang="tr-TR" sz="3800" dirty="0" err="1" smtClean="0"/>
              <a:t>core</a:t>
            </a:r>
            <a:r>
              <a:rPr lang="tr-TR" sz="3800" dirty="0" smtClean="0"/>
              <a:t> of </a:t>
            </a:r>
            <a:r>
              <a:rPr lang="tr-TR" sz="3800" dirty="0" err="1" smtClean="0"/>
              <a:t>human</a:t>
            </a:r>
            <a:r>
              <a:rPr lang="tr-TR" sz="3800" dirty="0" smtClean="0"/>
              <a:t> </a:t>
            </a:r>
            <a:r>
              <a:rPr lang="tr-TR" sz="3800" dirty="0" err="1" smtClean="0"/>
              <a:t>language</a:t>
            </a:r>
            <a:r>
              <a:rPr lang="tr-TR" sz="3800" dirty="0" smtClean="0"/>
              <a:t> is </a:t>
            </a:r>
            <a:r>
              <a:rPr lang="tr-TR" sz="3800" dirty="0" err="1" smtClean="0"/>
              <a:t>lexicon</a:t>
            </a:r>
            <a:r>
              <a:rPr lang="tr-TR" sz="3800" dirty="0" smtClean="0"/>
              <a:t>.</a:t>
            </a:r>
          </a:p>
          <a:p>
            <a:pPr marL="109728" indent="0">
              <a:lnSpc>
                <a:spcPct val="120000"/>
              </a:lnSpc>
              <a:buNone/>
            </a:pPr>
            <a:endParaRPr lang="tr-TR" sz="3800" dirty="0"/>
          </a:p>
          <a:p>
            <a:pPr marL="109728" indent="0">
              <a:lnSpc>
                <a:spcPct val="120000"/>
              </a:lnSpc>
              <a:buNone/>
            </a:pPr>
            <a:r>
              <a:rPr lang="tr-TR" sz="3800" dirty="0" err="1" smtClean="0"/>
              <a:t>In</a:t>
            </a:r>
            <a:r>
              <a:rPr lang="tr-TR" sz="3800" dirty="0" smtClean="0"/>
              <a:t> </a:t>
            </a:r>
            <a:r>
              <a:rPr lang="tr-TR" sz="3800" dirty="0" err="1" smtClean="0"/>
              <a:t>Minimalist</a:t>
            </a:r>
            <a:r>
              <a:rPr lang="tr-TR" sz="3800" dirty="0" smtClean="0"/>
              <a:t> </a:t>
            </a:r>
            <a:r>
              <a:rPr lang="tr-TR" sz="3800" dirty="0" err="1" smtClean="0"/>
              <a:t>programme</a:t>
            </a:r>
            <a:r>
              <a:rPr lang="tr-TR" sz="3800" dirty="0" smtClean="0"/>
              <a:t> , </a:t>
            </a:r>
            <a:r>
              <a:rPr lang="tr-TR" sz="3800" dirty="0" err="1" smtClean="0"/>
              <a:t>parametic</a:t>
            </a:r>
            <a:r>
              <a:rPr lang="tr-TR" sz="3800" dirty="0" smtClean="0"/>
              <a:t> </a:t>
            </a:r>
            <a:r>
              <a:rPr lang="tr-TR" sz="3800" dirty="0" err="1" smtClean="0"/>
              <a:t>variation</a:t>
            </a:r>
            <a:r>
              <a:rPr lang="tr-TR" sz="3800" dirty="0" smtClean="0"/>
              <a:t> </a:t>
            </a:r>
            <a:r>
              <a:rPr lang="tr-TR" sz="3800" dirty="0" err="1" smtClean="0"/>
              <a:t>occur</a:t>
            </a:r>
            <a:r>
              <a:rPr lang="tr-TR" sz="3800" dirty="0" smtClean="0"/>
              <a:t> </a:t>
            </a:r>
            <a:r>
              <a:rPr lang="tr-TR" sz="3800" dirty="0" err="1" smtClean="0"/>
              <a:t>within</a:t>
            </a:r>
            <a:r>
              <a:rPr lang="tr-TR" sz="3800" dirty="0" smtClean="0"/>
              <a:t> </a:t>
            </a:r>
            <a:r>
              <a:rPr lang="tr-TR" sz="3800" dirty="0" err="1" smtClean="0"/>
              <a:t>functional</a:t>
            </a:r>
            <a:r>
              <a:rPr lang="tr-TR" sz="3800" dirty="0" smtClean="0"/>
              <a:t> </a:t>
            </a:r>
            <a:r>
              <a:rPr lang="tr-TR" sz="3800" dirty="0" err="1" smtClean="0"/>
              <a:t>category</a:t>
            </a:r>
            <a:r>
              <a:rPr lang="tr-TR" sz="3800" dirty="0"/>
              <a:t> </a:t>
            </a:r>
            <a:r>
              <a:rPr lang="tr-TR" sz="3800" dirty="0" err="1" smtClean="0"/>
              <a:t>such</a:t>
            </a:r>
            <a:r>
              <a:rPr lang="tr-TR" sz="3800" dirty="0" smtClean="0"/>
              <a:t> as </a:t>
            </a:r>
            <a:r>
              <a:rPr lang="tr-TR" sz="3800" dirty="0" err="1" smtClean="0"/>
              <a:t>various</a:t>
            </a:r>
            <a:r>
              <a:rPr lang="tr-TR" sz="3800" dirty="0" smtClean="0"/>
              <a:t> </a:t>
            </a:r>
            <a:r>
              <a:rPr lang="tr-TR" sz="3800" dirty="0" err="1" smtClean="0"/>
              <a:t>word</a:t>
            </a:r>
            <a:r>
              <a:rPr lang="tr-TR" sz="3800" dirty="0" smtClean="0"/>
              <a:t> </a:t>
            </a:r>
            <a:r>
              <a:rPr lang="tr-TR" sz="3800" dirty="0" err="1" smtClean="0"/>
              <a:t>order</a:t>
            </a:r>
            <a:r>
              <a:rPr lang="tr-TR" sz="3800" dirty="0" smtClean="0"/>
              <a:t>, </a:t>
            </a:r>
            <a:r>
              <a:rPr lang="tr-TR" sz="3800" dirty="0" err="1" smtClean="0"/>
              <a:t>morphology</a:t>
            </a:r>
            <a:r>
              <a:rPr lang="tr-TR" sz="3800" dirty="0" smtClean="0"/>
              <a:t>, </a:t>
            </a:r>
            <a:r>
              <a:rPr lang="tr-TR" sz="3800" dirty="0" err="1" smtClean="0"/>
              <a:t>determiners</a:t>
            </a:r>
            <a:r>
              <a:rPr lang="tr-TR" sz="3800" dirty="0" smtClean="0"/>
              <a:t>, </a:t>
            </a:r>
            <a:r>
              <a:rPr lang="tr-TR" sz="3800" dirty="0" err="1" smtClean="0"/>
              <a:t>auxilirias</a:t>
            </a:r>
            <a:r>
              <a:rPr lang="tr-TR" sz="3800" dirty="0" smtClean="0"/>
              <a:t>..</a:t>
            </a:r>
            <a:r>
              <a:rPr lang="tr-TR" sz="3800" dirty="0" err="1" smtClean="0"/>
              <a:t>etc</a:t>
            </a:r>
            <a:endParaRPr lang="tr-TR" sz="3800" dirty="0" smtClean="0"/>
          </a:p>
          <a:p>
            <a:pPr marL="109728" indent="0">
              <a:lnSpc>
                <a:spcPct val="120000"/>
              </a:lnSpc>
              <a:buNone/>
            </a:pPr>
            <a:endParaRPr lang="tr-TR" sz="3800" dirty="0" smtClean="0"/>
          </a:p>
          <a:p>
            <a:pPr marL="109728" indent="0">
              <a:lnSpc>
                <a:spcPct val="120000"/>
              </a:lnSpc>
              <a:buNone/>
            </a:pPr>
            <a:r>
              <a:rPr lang="tr-TR" sz="3800" dirty="0" err="1" smtClean="0"/>
              <a:t>Abstract</a:t>
            </a:r>
            <a:r>
              <a:rPr lang="tr-TR" sz="3800" dirty="0" smtClean="0"/>
              <a:t>  </a:t>
            </a:r>
            <a:r>
              <a:rPr lang="tr-TR" sz="3800" dirty="0" err="1" smtClean="0"/>
              <a:t>principles</a:t>
            </a:r>
            <a:r>
              <a:rPr lang="tr-TR" sz="3800" dirty="0" smtClean="0"/>
              <a:t> </a:t>
            </a:r>
            <a:r>
              <a:rPr lang="tr-TR" sz="3800" dirty="0" err="1" smtClean="0"/>
              <a:t>underlying</a:t>
            </a:r>
            <a:r>
              <a:rPr lang="tr-TR" sz="3800" dirty="0" smtClean="0"/>
              <a:t> </a:t>
            </a:r>
            <a:r>
              <a:rPr lang="tr-TR" sz="3800" dirty="0" err="1" smtClean="0"/>
              <a:t>all</a:t>
            </a:r>
            <a:r>
              <a:rPr lang="tr-TR" sz="3800" dirty="0" smtClean="0"/>
              <a:t> </a:t>
            </a:r>
            <a:r>
              <a:rPr lang="tr-TR" sz="3800" dirty="0" err="1" smtClean="0"/>
              <a:t>languages</a:t>
            </a:r>
            <a:r>
              <a:rPr lang="tr-TR" sz="3800" dirty="0" smtClean="0"/>
              <a:t> </a:t>
            </a:r>
            <a:r>
              <a:rPr lang="tr-TR" sz="3800" dirty="0" err="1" smtClean="0"/>
              <a:t>will</a:t>
            </a:r>
            <a:r>
              <a:rPr lang="tr-TR" sz="3800" dirty="0" smtClean="0"/>
              <a:t> </a:t>
            </a:r>
            <a:r>
              <a:rPr lang="tr-TR" sz="3800" dirty="0" err="1" smtClean="0"/>
              <a:t>already</a:t>
            </a:r>
            <a:r>
              <a:rPr lang="tr-TR" sz="3800" dirty="0" smtClean="0"/>
              <a:t> be </a:t>
            </a:r>
            <a:r>
              <a:rPr lang="tr-TR" sz="3800" dirty="0" err="1" smtClean="0"/>
              <a:t>specified</a:t>
            </a:r>
            <a:r>
              <a:rPr lang="tr-TR" sz="3800" dirty="0" smtClean="0"/>
              <a:t> in </a:t>
            </a:r>
            <a:r>
              <a:rPr lang="tr-TR" sz="3800" dirty="0" err="1" smtClean="0"/>
              <a:t>the</a:t>
            </a:r>
            <a:r>
              <a:rPr lang="tr-TR" sz="3800" dirty="0" smtClean="0"/>
              <a:t> </a:t>
            </a:r>
            <a:r>
              <a:rPr lang="tr-TR" sz="3800" dirty="0" err="1" smtClean="0"/>
              <a:t>computational</a:t>
            </a:r>
            <a:r>
              <a:rPr lang="tr-TR" sz="3800" dirty="0" smtClean="0"/>
              <a:t> </a:t>
            </a:r>
            <a:r>
              <a:rPr lang="tr-TR" sz="3800" dirty="0" err="1" smtClean="0"/>
              <a:t>module</a:t>
            </a:r>
            <a:r>
              <a:rPr lang="tr-TR" sz="3800" dirty="0" smtClean="0"/>
              <a:t> , </a:t>
            </a:r>
            <a:r>
              <a:rPr lang="tr-TR" sz="3800" dirty="0" err="1" smtClean="0"/>
              <a:t>children</a:t>
            </a:r>
            <a:r>
              <a:rPr lang="tr-TR" sz="3800" dirty="0" smtClean="0"/>
              <a:t> </a:t>
            </a:r>
            <a:r>
              <a:rPr lang="tr-TR" sz="3800" dirty="0" err="1" smtClean="0"/>
              <a:t>and</a:t>
            </a:r>
            <a:r>
              <a:rPr lang="tr-TR" sz="3800" dirty="0" smtClean="0"/>
              <a:t> </a:t>
            </a:r>
            <a:r>
              <a:rPr lang="tr-TR" sz="3800" dirty="0" err="1" smtClean="0"/>
              <a:t>SLLs</a:t>
            </a:r>
            <a:r>
              <a:rPr lang="tr-TR" sz="3800" dirty="0" smtClean="0"/>
              <a:t> is </a:t>
            </a:r>
            <a:r>
              <a:rPr lang="tr-TR" sz="3800" dirty="0" err="1" smtClean="0"/>
              <a:t>facing</a:t>
            </a:r>
            <a:r>
              <a:rPr lang="tr-TR" sz="3800" dirty="0" smtClean="0"/>
              <a:t> </a:t>
            </a:r>
            <a:r>
              <a:rPr lang="tr-TR" sz="3800" dirty="0" err="1" smtClean="0"/>
              <a:t>the</a:t>
            </a:r>
            <a:r>
              <a:rPr lang="tr-TR" sz="3800" dirty="0" smtClean="0"/>
              <a:t> </a:t>
            </a:r>
            <a:r>
              <a:rPr lang="tr-TR" sz="3800" dirty="0" err="1" smtClean="0"/>
              <a:t>task</a:t>
            </a:r>
            <a:r>
              <a:rPr lang="tr-TR" sz="3800" dirty="0" smtClean="0"/>
              <a:t> of </a:t>
            </a:r>
            <a:r>
              <a:rPr lang="tr-TR" sz="3800" dirty="0" err="1" smtClean="0"/>
              <a:t>learning</a:t>
            </a:r>
            <a:r>
              <a:rPr lang="tr-TR" sz="3800" dirty="0" smtClean="0"/>
              <a:t> </a:t>
            </a:r>
            <a:r>
              <a:rPr lang="tr-TR" sz="3800" dirty="0" err="1" smtClean="0"/>
              <a:t>lexicon</a:t>
            </a:r>
            <a:r>
              <a:rPr lang="tr-TR" sz="3800" dirty="0" smtClean="0"/>
              <a:t> of </a:t>
            </a:r>
            <a:r>
              <a:rPr lang="tr-TR" sz="3800" dirty="0" err="1" smtClean="0"/>
              <a:t>the</a:t>
            </a:r>
            <a:r>
              <a:rPr lang="tr-TR" sz="3800" dirty="0" smtClean="0"/>
              <a:t> </a:t>
            </a:r>
            <a:r>
              <a:rPr lang="tr-TR" sz="3800" dirty="0" err="1" smtClean="0"/>
              <a:t>language</a:t>
            </a:r>
            <a:r>
              <a:rPr lang="tr-TR" sz="3800" dirty="0" smtClean="0"/>
              <a:t> as </a:t>
            </a:r>
            <a:r>
              <a:rPr lang="tr-TR" sz="3800" dirty="0" err="1" smtClean="0"/>
              <a:t>well</a:t>
            </a:r>
            <a:r>
              <a:rPr lang="tr-TR" sz="3800" dirty="0" smtClean="0"/>
              <a:t> as </a:t>
            </a:r>
            <a:r>
              <a:rPr lang="tr-TR" sz="3800" dirty="0" err="1" smtClean="0"/>
              <a:t>the</a:t>
            </a:r>
            <a:r>
              <a:rPr lang="tr-TR" sz="3800" dirty="0" smtClean="0"/>
              <a:t> </a:t>
            </a:r>
            <a:r>
              <a:rPr lang="tr-TR" sz="3800" dirty="0" err="1" smtClean="0"/>
              <a:t>settings</a:t>
            </a:r>
            <a:r>
              <a:rPr lang="tr-TR" sz="3800" dirty="0" smtClean="0"/>
              <a:t> of </a:t>
            </a:r>
            <a:r>
              <a:rPr lang="tr-TR" sz="3800" dirty="0" err="1" smtClean="0"/>
              <a:t>parameters</a:t>
            </a:r>
            <a:r>
              <a:rPr lang="tr-TR" sz="3800" dirty="0" smtClean="0"/>
              <a:t>. </a:t>
            </a:r>
          </a:p>
          <a:p>
            <a:pPr marL="109728" indent="0">
              <a:buNone/>
            </a:pPr>
            <a:endParaRPr lang="tr-TR" sz="3800" dirty="0"/>
          </a:p>
          <a:p>
            <a:pPr marL="109728" indent="0">
              <a:buNone/>
            </a:pPr>
            <a:r>
              <a:rPr lang="tr-TR" sz="3800" dirty="0" smtClean="0"/>
              <a:t> </a:t>
            </a:r>
            <a:endParaRPr lang="en-GB" sz="3800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Minimalist</a:t>
            </a:r>
            <a:r>
              <a:rPr lang="tr-TR" dirty="0" smtClean="0"/>
              <a:t> </a:t>
            </a:r>
            <a:r>
              <a:rPr lang="tr-TR" dirty="0" err="1" smtClean="0"/>
              <a:t>Programme</a:t>
            </a:r>
            <a:r>
              <a:rPr lang="tr-TR" dirty="0" smtClean="0"/>
              <a:t> of Chomsky </a:t>
            </a:r>
            <a:endParaRPr lang="en-GB" dirty="0"/>
          </a:p>
        </p:txBody>
      </p:sp>
      <p:cxnSp>
        <p:nvCxnSpPr>
          <p:cNvPr id="12" name="Düz Ok Bağlayıcısı 11"/>
          <p:cNvCxnSpPr/>
          <p:nvPr/>
        </p:nvCxnSpPr>
        <p:spPr>
          <a:xfrm flipV="1">
            <a:off x="1900567" y="2301336"/>
            <a:ext cx="288032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>
            <a:off x="1900567" y="2924944"/>
            <a:ext cx="504056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76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Principles</a:t>
            </a:r>
            <a:r>
              <a:rPr lang="tr-TR" dirty="0" smtClean="0"/>
              <a:t> </a:t>
            </a:r>
            <a:endParaRPr lang="en-GB" dirty="0"/>
          </a:p>
        </p:txBody>
      </p:sp>
      <p:sp>
        <p:nvSpPr>
          <p:cNvPr id="9" name="İçerik Yer Tutucusu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b="1" dirty="0" smtClean="0"/>
          </a:p>
          <a:p>
            <a:r>
              <a:rPr lang="tr-TR" b="1" dirty="0" err="1" smtClean="0"/>
              <a:t>Structure</a:t>
            </a:r>
            <a:r>
              <a:rPr lang="tr-TR" b="1" dirty="0" smtClean="0"/>
              <a:t> </a:t>
            </a:r>
            <a:r>
              <a:rPr lang="tr-TR" b="1" dirty="0" err="1" smtClean="0"/>
              <a:t>Dependency</a:t>
            </a:r>
            <a:r>
              <a:rPr lang="tr-TR" b="1" dirty="0" smtClean="0"/>
              <a:t> </a:t>
            </a:r>
            <a:r>
              <a:rPr lang="tr-TR" dirty="0" smtClean="0"/>
              <a:t>: </a:t>
            </a:r>
            <a:r>
              <a:rPr lang="en-US" dirty="0" smtClean="0"/>
              <a:t>L</a:t>
            </a:r>
            <a:r>
              <a:rPr lang="en-US" dirty="0" smtClean="0"/>
              <a:t>anguage is organized in such a way that it crucially depends on the structural relationships between elements in a sentence.</a:t>
            </a:r>
          </a:p>
          <a:p>
            <a:pPr marL="109728" indent="0">
              <a:buNone/>
            </a:pPr>
            <a:r>
              <a:rPr lang="en-US" dirty="0" smtClean="0"/>
              <a:t>   Words are regrouped into higher-level structures   </a:t>
            </a:r>
          </a:p>
          <a:p>
            <a:pPr marL="109728" indent="0">
              <a:buNone/>
            </a:pPr>
            <a:r>
              <a:rPr lang="en-US" dirty="0" smtClean="0"/>
              <a:t>   which is based on a hierarchical structure</a:t>
            </a:r>
            <a:r>
              <a:rPr lang="tr-TR" dirty="0" smtClean="0"/>
              <a:t>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88691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098571"/>
          </a:xfrm>
        </p:spPr>
        <p:txBody>
          <a:bodyPr/>
          <a:lstStyle/>
          <a:p>
            <a:r>
              <a:rPr lang="tr-TR" dirty="0"/>
              <a:t> </a:t>
            </a:r>
            <a:r>
              <a:rPr lang="tr-TR" dirty="0" err="1"/>
              <a:t>Ex</a:t>
            </a:r>
            <a:r>
              <a:rPr lang="tr-TR" dirty="0"/>
              <a:t>: </a:t>
            </a:r>
            <a:r>
              <a:rPr lang="tr-TR" sz="2000" i="1" dirty="0"/>
              <a:t>My </a:t>
            </a:r>
            <a:r>
              <a:rPr lang="tr-TR" sz="2000" i="1" dirty="0" err="1"/>
              <a:t>friend</a:t>
            </a:r>
            <a:r>
              <a:rPr lang="tr-TR" sz="2000" i="1" dirty="0"/>
              <a:t> </a:t>
            </a:r>
            <a:r>
              <a:rPr lang="tr-TR" sz="2000" i="1" dirty="0" err="1"/>
              <a:t>bought</a:t>
            </a:r>
            <a:r>
              <a:rPr lang="tr-TR" sz="2000" i="1" dirty="0"/>
              <a:t>  a </a:t>
            </a:r>
            <a:r>
              <a:rPr lang="tr-TR" sz="2000" i="1" dirty="0" err="1"/>
              <a:t>new</a:t>
            </a:r>
            <a:r>
              <a:rPr lang="tr-TR" sz="2000" i="1" dirty="0"/>
              <a:t> car </a:t>
            </a:r>
            <a:r>
              <a:rPr lang="tr-TR" sz="2000" i="1" dirty="0" err="1"/>
              <a:t>yesterday</a:t>
            </a:r>
            <a:r>
              <a:rPr lang="tr-TR" sz="2000" i="1" dirty="0"/>
              <a:t>.</a:t>
            </a:r>
          </a:p>
          <a:p>
            <a:pPr marL="109728" indent="0">
              <a:buNone/>
            </a:pPr>
            <a:r>
              <a:rPr lang="tr-TR" sz="2000" i="1" dirty="0"/>
              <a:t>       </a:t>
            </a:r>
            <a:r>
              <a:rPr lang="tr-TR" sz="2000" i="1" dirty="0" smtClean="0"/>
              <a:t>     </a:t>
            </a:r>
            <a:r>
              <a:rPr lang="tr-TR" sz="2000" i="1" dirty="0" err="1"/>
              <a:t>The</a:t>
            </a:r>
            <a:r>
              <a:rPr lang="tr-TR" sz="2000" i="1" dirty="0"/>
              <a:t> </a:t>
            </a:r>
            <a:r>
              <a:rPr lang="tr-TR" sz="2000" i="1" dirty="0" err="1"/>
              <a:t>friend</a:t>
            </a:r>
            <a:r>
              <a:rPr lang="tr-TR" sz="2000" i="1" dirty="0"/>
              <a:t> </a:t>
            </a:r>
            <a:r>
              <a:rPr lang="tr-TR" sz="2000" i="1" dirty="0" err="1"/>
              <a:t>that</a:t>
            </a:r>
            <a:r>
              <a:rPr lang="tr-TR" sz="2000" i="1" dirty="0"/>
              <a:t> I met in </a:t>
            </a:r>
            <a:r>
              <a:rPr lang="tr-TR" sz="2000" i="1" dirty="0" err="1"/>
              <a:t>Australia</a:t>
            </a:r>
            <a:r>
              <a:rPr lang="tr-TR" sz="2000" i="1" dirty="0"/>
              <a:t> </a:t>
            </a:r>
            <a:r>
              <a:rPr lang="tr-TR" sz="2000" i="1" dirty="0" err="1"/>
              <a:t>last</a:t>
            </a:r>
            <a:r>
              <a:rPr lang="tr-TR" sz="2000" i="1" dirty="0"/>
              <a:t> </a:t>
            </a:r>
            <a:r>
              <a:rPr lang="tr-TR" sz="2000" i="1" dirty="0" err="1"/>
              <a:t>year</a:t>
            </a:r>
            <a:r>
              <a:rPr lang="tr-TR" sz="2000" i="1" dirty="0"/>
              <a:t> </a:t>
            </a:r>
            <a:r>
              <a:rPr lang="tr-TR" sz="2000" i="1" dirty="0" err="1"/>
              <a:t>bought</a:t>
            </a:r>
            <a:r>
              <a:rPr lang="tr-TR" sz="2000" i="1" dirty="0"/>
              <a:t> a </a:t>
            </a:r>
            <a:r>
              <a:rPr lang="tr-TR" sz="2000" i="1" dirty="0" err="1"/>
              <a:t>new</a:t>
            </a:r>
            <a:r>
              <a:rPr lang="tr-TR" sz="2000" i="1" dirty="0"/>
              <a:t> car </a:t>
            </a:r>
            <a:r>
              <a:rPr lang="tr-TR" sz="2000" i="1" dirty="0" err="1"/>
              <a:t>yesterday</a:t>
            </a:r>
            <a:r>
              <a:rPr lang="tr-TR" sz="2000" i="1" dirty="0"/>
              <a:t>.</a:t>
            </a:r>
          </a:p>
          <a:p>
            <a:pPr marL="109728" indent="0">
              <a:buNone/>
            </a:pPr>
            <a:r>
              <a:rPr lang="tr-TR" sz="2000" i="1" dirty="0"/>
              <a:t>            </a:t>
            </a:r>
            <a:r>
              <a:rPr lang="tr-TR" sz="2000" i="1" dirty="0" err="1"/>
              <a:t>The</a:t>
            </a:r>
            <a:r>
              <a:rPr lang="tr-TR" sz="2000" i="1" dirty="0"/>
              <a:t> </a:t>
            </a:r>
            <a:r>
              <a:rPr lang="tr-TR" sz="2000" i="1" dirty="0" err="1"/>
              <a:t>friend</a:t>
            </a:r>
            <a:r>
              <a:rPr lang="tr-TR" sz="2000" i="1" dirty="0"/>
              <a:t> I am </a:t>
            </a:r>
            <a:r>
              <a:rPr lang="tr-TR" sz="2000" i="1" dirty="0" err="1"/>
              <a:t>closest</a:t>
            </a:r>
            <a:r>
              <a:rPr lang="tr-TR" sz="2000" i="1" dirty="0"/>
              <a:t> </a:t>
            </a:r>
            <a:r>
              <a:rPr lang="tr-TR" sz="2000" i="1" dirty="0" err="1"/>
              <a:t>to</a:t>
            </a:r>
            <a:r>
              <a:rPr lang="tr-TR" sz="2000" i="1" dirty="0"/>
              <a:t> </a:t>
            </a:r>
            <a:r>
              <a:rPr lang="tr-TR" sz="2000" i="1" dirty="0" err="1"/>
              <a:t>and</a:t>
            </a:r>
            <a:r>
              <a:rPr lang="tr-TR" sz="2000" i="1" dirty="0"/>
              <a:t> </a:t>
            </a:r>
            <a:r>
              <a:rPr lang="tr-TR" sz="2000" i="1" dirty="0" err="1"/>
              <a:t>who</a:t>
            </a:r>
            <a:r>
              <a:rPr lang="tr-TR" sz="2000" i="1" dirty="0"/>
              <a:t> </a:t>
            </a:r>
            <a:r>
              <a:rPr lang="tr-TR" sz="2000" i="1" dirty="0" err="1"/>
              <a:t>was</a:t>
            </a:r>
            <a:r>
              <a:rPr lang="tr-TR" sz="2000" i="1" dirty="0"/>
              <a:t> </a:t>
            </a:r>
            <a:r>
              <a:rPr lang="tr-TR" sz="2000" i="1" dirty="0" err="1"/>
              <a:t>so</a:t>
            </a:r>
            <a:r>
              <a:rPr lang="tr-TR" sz="2000" i="1" dirty="0"/>
              <a:t> </a:t>
            </a:r>
            <a:r>
              <a:rPr lang="tr-TR" sz="2000" i="1" dirty="0" err="1"/>
              <a:t>supportive</a:t>
            </a:r>
            <a:r>
              <a:rPr lang="tr-TR" sz="2000" i="1" dirty="0"/>
              <a:t> </a:t>
            </a:r>
            <a:r>
              <a:rPr lang="tr-TR" sz="2000" i="1" dirty="0" err="1"/>
              <a:t>when</a:t>
            </a:r>
            <a:r>
              <a:rPr lang="tr-TR" sz="2000" i="1" dirty="0"/>
              <a:t> I </a:t>
            </a:r>
            <a:r>
              <a:rPr lang="tr-TR" sz="2000" i="1" dirty="0" err="1"/>
              <a:t>lost</a:t>
            </a:r>
            <a:r>
              <a:rPr lang="tr-TR" sz="2000" i="1" dirty="0"/>
              <a:t> </a:t>
            </a:r>
            <a:r>
              <a:rPr lang="tr-TR" sz="2000" i="1" dirty="0" err="1"/>
              <a:t>my</a:t>
            </a:r>
            <a:r>
              <a:rPr lang="tr-TR" sz="2000" i="1" dirty="0"/>
              <a:t> </a:t>
            </a:r>
            <a:r>
              <a:rPr lang="tr-TR" sz="2000" i="1" dirty="0" err="1"/>
              <a:t>job</a:t>
            </a:r>
            <a:r>
              <a:rPr lang="tr-TR" sz="2000" i="1" dirty="0"/>
              <a:t> </a:t>
            </a:r>
            <a:r>
              <a:rPr lang="tr-TR" sz="2000" i="1" dirty="0" err="1"/>
              <a:t>two</a:t>
            </a:r>
            <a:r>
              <a:rPr lang="tr-TR" sz="2000" i="1" dirty="0"/>
              <a:t> </a:t>
            </a:r>
            <a:r>
              <a:rPr lang="tr-TR" sz="2000" i="1" dirty="0" err="1"/>
              <a:t>years</a:t>
            </a:r>
            <a:r>
              <a:rPr lang="tr-TR" sz="2000" i="1" dirty="0"/>
              <a:t> </a:t>
            </a:r>
            <a:r>
              <a:rPr lang="tr-TR" sz="2000" i="1" dirty="0" err="1"/>
              <a:t>ago</a:t>
            </a:r>
            <a:r>
              <a:rPr lang="tr-TR" sz="2000" i="1" dirty="0"/>
              <a:t> </a:t>
            </a:r>
            <a:r>
              <a:rPr lang="tr-TR" sz="2000" i="1" dirty="0" err="1"/>
              <a:t>bought</a:t>
            </a:r>
            <a:r>
              <a:rPr lang="tr-TR" sz="2000" i="1" dirty="0"/>
              <a:t> a </a:t>
            </a:r>
            <a:r>
              <a:rPr lang="tr-TR" sz="2000" i="1" dirty="0" err="1"/>
              <a:t>new</a:t>
            </a:r>
            <a:r>
              <a:rPr lang="tr-TR" sz="2000" i="1" dirty="0"/>
              <a:t> car </a:t>
            </a:r>
            <a:r>
              <a:rPr lang="tr-TR" sz="2000" i="1" dirty="0" err="1"/>
              <a:t>yesterday</a:t>
            </a:r>
            <a:r>
              <a:rPr lang="tr-TR" sz="2000" i="1" dirty="0"/>
              <a:t>. </a:t>
            </a:r>
            <a:endParaRPr lang="tr-TR" sz="2000" i="1" dirty="0" smtClean="0"/>
          </a:p>
          <a:p>
            <a:pPr marL="109728" indent="0">
              <a:buNone/>
            </a:pPr>
            <a:endParaRPr lang="tr-TR" sz="2000" i="1" dirty="0"/>
          </a:p>
          <a:p>
            <a:r>
              <a:rPr lang="tr-TR" dirty="0" smtClean="0"/>
              <a:t> 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same</a:t>
            </a:r>
            <a:r>
              <a:rPr lang="tr-TR" dirty="0" smtClean="0"/>
              <a:t> </a:t>
            </a:r>
            <a:r>
              <a:rPr lang="tr-TR" dirty="0" err="1" smtClean="0"/>
              <a:t>kind</a:t>
            </a:r>
            <a:r>
              <a:rPr lang="tr-TR" dirty="0" smtClean="0"/>
              <a:t> of </a:t>
            </a:r>
            <a:r>
              <a:rPr lang="tr-TR" dirty="0" err="1" smtClean="0"/>
              <a:t>groupings</a:t>
            </a:r>
            <a:r>
              <a:rPr lang="tr-TR" dirty="0" smtClean="0"/>
              <a:t> </a:t>
            </a:r>
            <a:r>
              <a:rPr lang="tr-TR" dirty="0" smtClean="0"/>
              <a:t> </a:t>
            </a:r>
            <a:r>
              <a:rPr lang="tr-TR" dirty="0" err="1" smtClean="0"/>
              <a:t>perform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same</a:t>
            </a:r>
            <a:r>
              <a:rPr lang="tr-TR" dirty="0" smtClean="0"/>
              <a:t> role in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sentence</a:t>
            </a:r>
            <a:r>
              <a:rPr lang="tr-TR" dirty="0" smtClean="0"/>
              <a:t>. </a:t>
            </a:r>
            <a:r>
              <a:rPr lang="tr-TR" dirty="0" err="1" smtClean="0"/>
              <a:t>We</a:t>
            </a:r>
            <a:r>
              <a:rPr lang="tr-TR" dirty="0" smtClean="0"/>
              <a:t> </a:t>
            </a:r>
            <a:r>
              <a:rPr lang="tr-TR" dirty="0" err="1" smtClean="0"/>
              <a:t>know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crucial</a:t>
            </a:r>
            <a:r>
              <a:rPr lang="tr-TR" dirty="0" smtClean="0"/>
              <a:t> </a:t>
            </a:r>
            <a:r>
              <a:rPr lang="tr-TR" dirty="0" err="1" smtClean="0"/>
              <a:t>word</a:t>
            </a:r>
            <a:r>
              <a:rPr lang="tr-TR" dirty="0" smtClean="0"/>
              <a:t> is </a:t>
            </a:r>
            <a:endParaRPr lang="tr-TR" dirty="0" smtClean="0"/>
          </a:p>
          <a:p>
            <a:pPr marL="109728" indent="0">
              <a:buNone/>
            </a:pPr>
            <a:r>
              <a:rPr lang="tr-TR" i="1" dirty="0"/>
              <a:t> </a:t>
            </a:r>
            <a:r>
              <a:rPr lang="tr-TR" i="1" dirty="0" smtClean="0"/>
              <a:t> </a:t>
            </a:r>
            <a:r>
              <a:rPr lang="tr-TR" i="1" dirty="0" smtClean="0"/>
              <a:t>‘ </a:t>
            </a:r>
            <a:r>
              <a:rPr lang="tr-TR" i="1" dirty="0" err="1" smtClean="0"/>
              <a:t>friend</a:t>
            </a:r>
            <a:r>
              <a:rPr lang="tr-TR" dirty="0" smtClean="0"/>
              <a:t>’ </a:t>
            </a:r>
            <a:r>
              <a:rPr lang="tr-TR" dirty="0" err="1" smtClean="0"/>
              <a:t>or</a:t>
            </a:r>
            <a:r>
              <a:rPr lang="tr-TR" dirty="0" smtClean="0"/>
              <a:t> ‘ </a:t>
            </a:r>
            <a:r>
              <a:rPr lang="tr-TR" i="1" dirty="0" err="1" smtClean="0"/>
              <a:t>she</a:t>
            </a:r>
            <a:r>
              <a:rPr lang="tr-TR" dirty="0" smtClean="0"/>
              <a:t> ‘</a:t>
            </a:r>
          </a:p>
          <a:p>
            <a:r>
              <a:rPr lang="tr-TR" dirty="0" err="1" smtClean="0"/>
              <a:t>This</a:t>
            </a:r>
            <a:r>
              <a:rPr lang="tr-TR" dirty="0" smtClean="0"/>
              <a:t> </a:t>
            </a:r>
            <a:r>
              <a:rPr lang="tr-TR" dirty="0" err="1" smtClean="0"/>
              <a:t>kind</a:t>
            </a:r>
            <a:r>
              <a:rPr lang="tr-TR" dirty="0" smtClean="0"/>
              <a:t> of </a:t>
            </a:r>
            <a:r>
              <a:rPr lang="tr-TR" dirty="0" err="1" smtClean="0"/>
              <a:t>grouping</a:t>
            </a:r>
            <a:r>
              <a:rPr lang="tr-TR" dirty="0" smtClean="0"/>
              <a:t> is </a:t>
            </a:r>
            <a:r>
              <a:rPr lang="tr-TR" dirty="0" err="1" smtClean="0"/>
              <a:t>called</a:t>
            </a:r>
            <a:r>
              <a:rPr lang="tr-TR" dirty="0" smtClean="0"/>
              <a:t> as ‘ </a:t>
            </a:r>
            <a:r>
              <a:rPr lang="tr-TR" b="1" dirty="0" err="1" smtClean="0"/>
              <a:t>Phrase</a:t>
            </a:r>
            <a:r>
              <a:rPr lang="tr-TR" dirty="0" smtClean="0"/>
              <a:t> ‘ </a:t>
            </a:r>
            <a:r>
              <a:rPr lang="tr-TR" dirty="0" err="1" smtClean="0"/>
              <a:t>such</a:t>
            </a:r>
            <a:r>
              <a:rPr lang="tr-TR" dirty="0" smtClean="0"/>
              <a:t> as NP ( </a:t>
            </a:r>
            <a:r>
              <a:rPr lang="tr-TR" dirty="0" err="1" smtClean="0"/>
              <a:t>noun</a:t>
            </a:r>
            <a:r>
              <a:rPr lang="tr-TR" dirty="0" smtClean="0"/>
              <a:t> </a:t>
            </a:r>
            <a:r>
              <a:rPr lang="tr-TR" dirty="0" err="1" smtClean="0"/>
              <a:t>phrase</a:t>
            </a:r>
            <a:r>
              <a:rPr lang="tr-TR" dirty="0" smtClean="0"/>
              <a:t>), VP (</a:t>
            </a:r>
            <a:r>
              <a:rPr lang="tr-TR" dirty="0" err="1" smtClean="0"/>
              <a:t>verb</a:t>
            </a:r>
            <a:r>
              <a:rPr lang="tr-TR" dirty="0" smtClean="0"/>
              <a:t> </a:t>
            </a:r>
            <a:r>
              <a:rPr lang="tr-TR" dirty="0" err="1" smtClean="0"/>
              <a:t>phrase</a:t>
            </a:r>
            <a:r>
              <a:rPr lang="tr-TR" dirty="0" smtClean="0"/>
              <a:t>), AP, PP </a:t>
            </a:r>
            <a:r>
              <a:rPr lang="tr-TR" dirty="0" err="1" smtClean="0"/>
              <a:t>according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head</a:t>
            </a:r>
            <a:r>
              <a:rPr lang="tr-TR" dirty="0" smtClean="0"/>
              <a:t> ( main element)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phrase</a:t>
            </a:r>
            <a:r>
              <a:rPr lang="tr-TR" dirty="0" smtClean="0"/>
              <a:t>. </a:t>
            </a:r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505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954555"/>
          </a:xfrm>
        </p:spPr>
        <p:txBody>
          <a:bodyPr>
            <a:normAutofit/>
          </a:bodyPr>
          <a:lstStyle/>
          <a:p>
            <a:r>
              <a:rPr lang="tr-TR" dirty="0" smtClean="0"/>
              <a:t> </a:t>
            </a:r>
            <a:r>
              <a:rPr lang="tr-TR" i="1" dirty="0" err="1" smtClean="0"/>
              <a:t>Your</a:t>
            </a:r>
            <a:r>
              <a:rPr lang="tr-TR" i="1" dirty="0" smtClean="0"/>
              <a:t> </a:t>
            </a:r>
            <a:r>
              <a:rPr lang="tr-TR" i="1" dirty="0" err="1" smtClean="0"/>
              <a:t>cat</a:t>
            </a:r>
            <a:r>
              <a:rPr lang="tr-TR" i="1" dirty="0" smtClean="0"/>
              <a:t> is </a:t>
            </a:r>
            <a:r>
              <a:rPr lang="tr-TR" i="1" dirty="0" err="1" smtClean="0"/>
              <a:t>friendly</a:t>
            </a:r>
            <a:r>
              <a:rPr lang="tr-TR" i="1" dirty="0" smtClean="0"/>
              <a:t> .</a:t>
            </a:r>
          </a:p>
          <a:p>
            <a:pPr marL="109728" indent="0">
              <a:buNone/>
            </a:pPr>
            <a:r>
              <a:rPr lang="tr-TR" i="1" dirty="0" smtClean="0"/>
              <a:t>    Is </a:t>
            </a:r>
            <a:r>
              <a:rPr lang="tr-TR" i="1" dirty="0" err="1" smtClean="0"/>
              <a:t>your</a:t>
            </a:r>
            <a:r>
              <a:rPr lang="tr-TR" i="1" dirty="0" smtClean="0"/>
              <a:t> </a:t>
            </a:r>
            <a:r>
              <a:rPr lang="tr-TR" i="1" dirty="0" err="1" smtClean="0"/>
              <a:t>cat</a:t>
            </a:r>
            <a:r>
              <a:rPr lang="tr-TR" i="1" dirty="0" smtClean="0"/>
              <a:t> </a:t>
            </a:r>
            <a:r>
              <a:rPr lang="tr-TR" i="1" dirty="0" err="1" smtClean="0"/>
              <a:t>friendly</a:t>
            </a:r>
            <a:r>
              <a:rPr lang="tr-TR" i="1" dirty="0" smtClean="0"/>
              <a:t> ?</a:t>
            </a:r>
          </a:p>
          <a:p>
            <a:pPr marL="109728" indent="0">
              <a:buNone/>
            </a:pPr>
            <a:endParaRPr lang="tr-TR" i="1" dirty="0"/>
          </a:p>
          <a:p>
            <a:pPr marL="109728" indent="0">
              <a:buNone/>
            </a:pPr>
            <a:r>
              <a:rPr lang="tr-TR" i="1" dirty="0" smtClean="0"/>
              <a:t>  </a:t>
            </a:r>
            <a:r>
              <a:rPr lang="en-US" i="1" dirty="0" smtClean="0"/>
              <a:t>While making questions in English we change the order of the sentence.  Hence, the way we change it is not based on a linear order but is </a:t>
            </a:r>
            <a:r>
              <a:rPr lang="en-US" b="1" i="1" dirty="0" smtClean="0"/>
              <a:t>structure dependent </a:t>
            </a:r>
          </a:p>
          <a:p>
            <a:r>
              <a:rPr lang="en-US" i="1" dirty="0" smtClean="0"/>
              <a:t>  The cat who is friendly is ginger </a:t>
            </a:r>
          </a:p>
          <a:p>
            <a:r>
              <a:rPr lang="en-US" i="1" dirty="0" smtClean="0"/>
              <a:t> *Is the cat who friendly is ginger?</a:t>
            </a:r>
          </a:p>
          <a:p>
            <a:r>
              <a:rPr lang="en-US" i="1" dirty="0" smtClean="0"/>
              <a:t>* Who the cat is friendly ginger? </a:t>
            </a:r>
          </a:p>
          <a:p>
            <a:pPr marL="109728" indent="0">
              <a:buNone/>
            </a:pPr>
            <a:r>
              <a:rPr lang="en-US" i="1" dirty="0" smtClean="0"/>
              <a:t>     So , we do not move the first verb we encounter. </a:t>
            </a:r>
          </a:p>
          <a:p>
            <a:endParaRPr lang="en-GB" i="1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Yukarı Bükülü Ok 3"/>
          <p:cNvSpPr/>
          <p:nvPr/>
        </p:nvSpPr>
        <p:spPr>
          <a:xfrm flipH="1">
            <a:off x="1259631" y="1955696"/>
            <a:ext cx="1034401" cy="3657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17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Metin Yer Tutucusu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" name="İçerik Yer Tutucusu 1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6323032"/>
          </a:xfrm>
        </p:spPr>
        <p:txBody>
          <a:bodyPr>
            <a:normAutofit/>
          </a:bodyPr>
          <a:lstStyle/>
          <a:p>
            <a:r>
              <a:rPr lang="tr-TR" sz="2000" i="1" dirty="0" smtClean="0"/>
              <a:t>  </a:t>
            </a:r>
            <a:r>
              <a:rPr lang="en-GB" sz="2000" i="1" dirty="0" smtClean="0"/>
              <a:t>The </a:t>
            </a:r>
            <a:r>
              <a:rPr lang="en-GB" sz="2000" i="1" dirty="0"/>
              <a:t>cat who is friendly is ginger </a:t>
            </a:r>
          </a:p>
          <a:p>
            <a:r>
              <a:rPr lang="en-GB" sz="2000" i="1" dirty="0"/>
              <a:t> *Is the cat who friendly is ginger?</a:t>
            </a:r>
          </a:p>
          <a:p>
            <a:r>
              <a:rPr lang="en-GB" sz="2000" i="1" dirty="0"/>
              <a:t>* Who the cat is friendly ginger? </a:t>
            </a:r>
          </a:p>
          <a:p>
            <a:endParaRPr lang="tr-TR" sz="2000" i="1" dirty="0" smtClean="0"/>
          </a:p>
          <a:p>
            <a:pPr marL="109728" indent="0">
              <a:buNone/>
            </a:pPr>
            <a:r>
              <a:rPr lang="tr-TR" sz="2000" i="1" dirty="0"/>
              <a:t> </a:t>
            </a:r>
            <a:r>
              <a:rPr lang="tr-TR" sz="2000" i="1" dirty="0" smtClean="0"/>
              <a:t>  </a:t>
            </a:r>
            <a:r>
              <a:rPr lang="tr-TR" sz="2000" i="1" dirty="0" err="1" smtClean="0"/>
              <a:t>What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makes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these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sentences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ungrammatical</a:t>
            </a:r>
            <a:r>
              <a:rPr lang="tr-TR" sz="2000" i="1" dirty="0" smtClean="0"/>
              <a:t> is </a:t>
            </a:r>
            <a:r>
              <a:rPr lang="tr-TR" sz="2000" b="1" i="1" dirty="0" err="1" smtClean="0"/>
              <a:t>the</a:t>
            </a:r>
            <a:r>
              <a:rPr lang="tr-TR" sz="2000" b="1" i="1" dirty="0" smtClean="0"/>
              <a:t> </a:t>
            </a:r>
            <a:r>
              <a:rPr lang="tr-TR" sz="2000" b="1" i="1" dirty="0" err="1" smtClean="0"/>
              <a:t>violation</a:t>
            </a:r>
            <a:r>
              <a:rPr lang="tr-TR" sz="2000" b="1" i="1" dirty="0" smtClean="0"/>
              <a:t> of </a:t>
            </a:r>
            <a:r>
              <a:rPr lang="tr-TR" sz="2000" b="1" i="1" dirty="0" err="1" smtClean="0"/>
              <a:t>islands</a:t>
            </a:r>
            <a:r>
              <a:rPr lang="tr-TR" sz="2000" b="1" i="1" dirty="0" smtClean="0"/>
              <a:t>.</a:t>
            </a:r>
          </a:p>
          <a:p>
            <a:pPr marL="109728" indent="0">
              <a:buNone/>
            </a:pPr>
            <a:endParaRPr lang="tr-TR" sz="2000" b="1" i="1" dirty="0" smtClean="0"/>
          </a:p>
          <a:p>
            <a:pPr marL="109728" indent="0">
              <a:buNone/>
            </a:pPr>
            <a:r>
              <a:rPr lang="tr-TR" sz="2000" b="1" i="1" dirty="0"/>
              <a:t> </a:t>
            </a:r>
            <a:r>
              <a:rPr lang="tr-TR" sz="2000" b="1" i="1" dirty="0" smtClean="0"/>
              <a:t>  </a:t>
            </a:r>
            <a:r>
              <a:rPr lang="tr-TR" sz="2000" b="1" i="1" dirty="0" err="1" smtClean="0"/>
              <a:t>Islands</a:t>
            </a:r>
            <a:r>
              <a:rPr lang="tr-TR" sz="2000" b="1" i="1" dirty="0" smtClean="0"/>
              <a:t> </a:t>
            </a:r>
            <a:r>
              <a:rPr lang="tr-TR" sz="2000" b="1" i="1" dirty="0" err="1" smtClean="0"/>
              <a:t>constraints</a:t>
            </a:r>
            <a:r>
              <a:rPr lang="tr-TR" sz="2000" b="1" i="1" dirty="0" smtClean="0"/>
              <a:t> </a:t>
            </a:r>
            <a:r>
              <a:rPr lang="tr-TR" sz="2000" i="1" dirty="0" err="1" smtClean="0"/>
              <a:t>are</a:t>
            </a:r>
            <a:r>
              <a:rPr lang="tr-TR" sz="2000" i="1" dirty="0" smtClean="0"/>
              <a:t>  </a:t>
            </a:r>
            <a:r>
              <a:rPr lang="tr-TR" sz="2000" i="1" dirty="0" err="1" smtClean="0"/>
              <a:t>such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principles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that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specify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universal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restrictions</a:t>
            </a:r>
            <a:r>
              <a:rPr lang="tr-TR" sz="2000" i="1" dirty="0" smtClean="0"/>
              <a:t>.  </a:t>
            </a:r>
            <a:r>
              <a:rPr lang="tr-TR" sz="2000" i="1" dirty="0" err="1" smtClean="0"/>
              <a:t>They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refer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to</a:t>
            </a:r>
            <a:r>
              <a:rPr lang="tr-TR" sz="2000" i="1" dirty="0" smtClean="0"/>
              <a:t> a </a:t>
            </a:r>
            <a:r>
              <a:rPr lang="tr-TR" sz="2000" i="1" dirty="0" err="1" smtClean="0"/>
              <a:t>syntanchic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island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whose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elements</a:t>
            </a:r>
            <a:r>
              <a:rPr lang="tr-TR" sz="2000" i="1" dirty="0" smtClean="0"/>
              <a:t> can </a:t>
            </a:r>
            <a:r>
              <a:rPr lang="tr-TR" sz="2000" i="1" dirty="0" err="1" smtClean="0"/>
              <a:t>get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off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just</a:t>
            </a:r>
            <a:r>
              <a:rPr lang="tr-TR" sz="2000" i="1" dirty="0" smtClean="0"/>
              <a:t> as a </a:t>
            </a:r>
            <a:r>
              <a:rPr lang="tr-TR" sz="2000" i="1" dirty="0" err="1" smtClean="0"/>
              <a:t>person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who</a:t>
            </a:r>
            <a:r>
              <a:rPr lang="tr-TR" sz="2000" i="1" dirty="0" smtClean="0"/>
              <a:t> can not </a:t>
            </a:r>
            <a:r>
              <a:rPr lang="tr-TR" sz="2000" i="1" dirty="0" err="1" smtClean="0"/>
              <a:t>get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off</a:t>
            </a:r>
            <a:r>
              <a:rPr lang="tr-TR" sz="2000" i="1" dirty="0" smtClean="0"/>
              <a:t> an </a:t>
            </a:r>
            <a:r>
              <a:rPr lang="tr-TR" sz="2000" i="1" dirty="0" err="1" smtClean="0"/>
              <a:t>island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without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extra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help</a:t>
            </a:r>
            <a:r>
              <a:rPr lang="tr-TR" sz="2000" i="1" dirty="0" smtClean="0"/>
              <a:t> of a </a:t>
            </a:r>
            <a:r>
              <a:rPr lang="tr-TR" sz="2000" i="1" dirty="0" err="1" smtClean="0"/>
              <a:t>bridge</a:t>
            </a:r>
            <a:r>
              <a:rPr lang="tr-TR" sz="2000" i="1" dirty="0" smtClean="0"/>
              <a:t> </a:t>
            </a:r>
            <a:r>
              <a:rPr lang="tr-TR" sz="2000" i="1" dirty="0" err="1" smtClean="0"/>
              <a:t>or</a:t>
            </a:r>
            <a:r>
              <a:rPr lang="tr-TR" sz="2000" i="1" dirty="0" smtClean="0"/>
              <a:t> a </a:t>
            </a:r>
            <a:r>
              <a:rPr lang="tr-TR" sz="2000" i="1" dirty="0" err="1" smtClean="0"/>
              <a:t>boat</a:t>
            </a:r>
            <a:r>
              <a:rPr lang="tr-TR" sz="2000" i="1" dirty="0" smtClean="0"/>
              <a:t>. </a:t>
            </a:r>
          </a:p>
          <a:p>
            <a:pPr marL="109728" indent="0">
              <a:buNone/>
            </a:pPr>
            <a:endParaRPr lang="tr-TR" sz="2000" i="1" dirty="0" smtClean="0"/>
          </a:p>
          <a:p>
            <a:r>
              <a:rPr lang="tr-TR" sz="2000" b="1" i="1" dirty="0"/>
              <a:t> </a:t>
            </a:r>
            <a:r>
              <a:rPr lang="tr-TR" sz="2000" b="1" i="1" dirty="0" smtClean="0"/>
              <a:t>   </a:t>
            </a:r>
            <a:r>
              <a:rPr lang="tr-TR" sz="2000" b="1" i="1" dirty="0" err="1" smtClean="0"/>
              <a:t>Wh</a:t>
            </a:r>
            <a:r>
              <a:rPr lang="tr-TR" sz="2000" b="1" i="1" dirty="0" smtClean="0"/>
              <a:t> –</a:t>
            </a:r>
            <a:r>
              <a:rPr lang="tr-TR" sz="2000" b="1" i="1" dirty="0" err="1" smtClean="0"/>
              <a:t>island</a:t>
            </a:r>
            <a:r>
              <a:rPr lang="tr-TR" sz="2000" b="1" i="1" dirty="0" smtClean="0"/>
              <a:t> </a:t>
            </a:r>
            <a:r>
              <a:rPr lang="tr-TR" sz="2000" b="1" i="1" dirty="0" err="1" smtClean="0"/>
              <a:t>constraints</a:t>
            </a:r>
            <a:endParaRPr lang="tr-TR" sz="2000" b="1" i="1" dirty="0" smtClean="0"/>
          </a:p>
          <a:p>
            <a:r>
              <a:rPr lang="tr-TR" sz="2000" b="1" i="1" dirty="0"/>
              <a:t> </a:t>
            </a:r>
            <a:r>
              <a:rPr lang="tr-TR" sz="2000" b="1" i="1" dirty="0" smtClean="0"/>
              <a:t>   NP-</a:t>
            </a:r>
            <a:r>
              <a:rPr lang="tr-TR" sz="2000" b="1" i="1" dirty="0" err="1" smtClean="0"/>
              <a:t>constraints</a:t>
            </a:r>
            <a:endParaRPr lang="tr-TR" sz="2000" b="1" i="1" dirty="0" smtClean="0"/>
          </a:p>
          <a:p>
            <a:r>
              <a:rPr lang="tr-TR" sz="2000" b="1" i="1" dirty="0"/>
              <a:t> </a:t>
            </a:r>
            <a:r>
              <a:rPr lang="tr-TR" sz="2000" b="1" i="1" dirty="0" smtClean="0"/>
              <a:t>   </a:t>
            </a:r>
            <a:r>
              <a:rPr lang="tr-TR" sz="2000" b="1" i="1" dirty="0" err="1" smtClean="0"/>
              <a:t>Adjunct</a:t>
            </a:r>
            <a:r>
              <a:rPr lang="tr-TR" sz="2000" b="1" i="1" dirty="0" smtClean="0"/>
              <a:t>- </a:t>
            </a:r>
            <a:r>
              <a:rPr lang="tr-TR" sz="2000" b="1" i="1" dirty="0" err="1" smtClean="0"/>
              <a:t>island</a:t>
            </a:r>
            <a:r>
              <a:rPr lang="tr-TR" sz="2000" b="1" i="1" dirty="0" smtClean="0"/>
              <a:t> </a:t>
            </a:r>
            <a:r>
              <a:rPr lang="tr-TR" sz="2000" b="1" i="1" dirty="0" err="1" smtClean="0"/>
              <a:t>constaints</a:t>
            </a:r>
            <a:endParaRPr lang="tr-TR" sz="2000" b="1" i="1" dirty="0" smtClean="0"/>
          </a:p>
          <a:p>
            <a:r>
              <a:rPr lang="tr-TR" sz="2000" b="1" i="1" dirty="0"/>
              <a:t> </a:t>
            </a:r>
            <a:r>
              <a:rPr lang="tr-TR" sz="2000" b="1" i="1" dirty="0" smtClean="0"/>
              <a:t>   </a:t>
            </a:r>
            <a:r>
              <a:rPr lang="tr-TR" sz="2000" b="1" i="1" dirty="0" err="1" smtClean="0"/>
              <a:t>Coordinate</a:t>
            </a:r>
            <a:r>
              <a:rPr lang="tr-TR" sz="2000" b="1" i="1" dirty="0" smtClean="0"/>
              <a:t> </a:t>
            </a:r>
            <a:r>
              <a:rPr lang="tr-TR" sz="2000" b="1" i="1" dirty="0" err="1" smtClean="0"/>
              <a:t>structure</a:t>
            </a:r>
            <a:r>
              <a:rPr lang="tr-TR" sz="2000" b="1" i="1" dirty="0" smtClean="0"/>
              <a:t> </a:t>
            </a:r>
            <a:r>
              <a:rPr lang="tr-TR" sz="2000" b="1" i="1" dirty="0" err="1" smtClean="0"/>
              <a:t>constraint</a:t>
            </a:r>
            <a:r>
              <a:rPr lang="tr-TR" sz="2000" b="1" i="1" dirty="0" err="1"/>
              <a:t>s</a:t>
            </a:r>
            <a:endParaRPr lang="tr-TR" sz="2000" b="1" i="1" dirty="0" smtClean="0"/>
          </a:p>
          <a:p>
            <a:pPr marL="109728" indent="0">
              <a:buNone/>
            </a:pPr>
            <a:endParaRPr lang="tr-TR" sz="2000" b="1" i="1" dirty="0" smtClean="0"/>
          </a:p>
          <a:p>
            <a:pPr marL="109728" indent="0">
              <a:buNone/>
            </a:pPr>
            <a:r>
              <a:rPr lang="tr-TR" sz="2000" b="1" i="1" dirty="0"/>
              <a:t> </a:t>
            </a:r>
            <a:r>
              <a:rPr lang="tr-TR" sz="2000" b="1" i="1" dirty="0" smtClean="0"/>
              <a:t>                                                             </a:t>
            </a:r>
            <a:endParaRPr lang="en-GB" sz="2000" b="1" i="1" dirty="0"/>
          </a:p>
        </p:txBody>
      </p:sp>
    </p:spTree>
    <p:extLst>
      <p:ext uri="{BB962C8B-B14F-4D97-AF65-F5344CB8AC3E}">
        <p14:creationId xmlns:p14="http://schemas.microsoft.com/office/powerpoint/2010/main" val="250278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5026888"/>
          </a:xfrm>
        </p:spPr>
        <p:txBody>
          <a:bodyPr>
            <a:normAutofit lnSpcReduction="10000"/>
          </a:bodyPr>
          <a:lstStyle/>
          <a:p>
            <a:pPr marL="109728" lvl="0" indent="0">
              <a:buClr>
                <a:srgbClr val="FE8637"/>
              </a:buClr>
              <a:buNone/>
            </a:pPr>
            <a:r>
              <a:rPr lang="tr-TR" sz="2000" b="1" i="1" dirty="0" err="1">
                <a:solidFill>
                  <a:prstClr val="black"/>
                </a:solidFill>
              </a:rPr>
              <a:t>Ex</a:t>
            </a:r>
            <a:r>
              <a:rPr lang="tr-TR" sz="2000" b="1" i="1" dirty="0">
                <a:solidFill>
                  <a:prstClr val="black"/>
                </a:solidFill>
              </a:rPr>
              <a:t>:  a</a:t>
            </a:r>
            <a:r>
              <a:rPr lang="tr-TR" sz="2000" b="1" i="1" dirty="0" smtClean="0">
                <a:solidFill>
                  <a:prstClr val="black"/>
                </a:solidFill>
              </a:rPr>
              <a:t>.* </a:t>
            </a:r>
            <a:r>
              <a:rPr lang="tr-TR" sz="2000" b="1" i="1" dirty="0" err="1" smtClean="0">
                <a:solidFill>
                  <a:prstClr val="black"/>
                </a:solidFill>
              </a:rPr>
              <a:t>What</a:t>
            </a:r>
            <a:r>
              <a:rPr lang="tr-TR" sz="2000" b="1" i="1" dirty="0" smtClean="0">
                <a:solidFill>
                  <a:prstClr val="black"/>
                </a:solidFill>
              </a:rPr>
              <a:t>(i</a:t>
            </a:r>
            <a:r>
              <a:rPr lang="tr-TR" sz="2000" b="1" i="1" dirty="0">
                <a:solidFill>
                  <a:prstClr val="black"/>
                </a:solidFill>
              </a:rPr>
              <a:t>) </a:t>
            </a:r>
            <a:r>
              <a:rPr lang="tr-TR" sz="2000" b="1" i="1" dirty="0" err="1">
                <a:solidFill>
                  <a:prstClr val="black"/>
                </a:solidFill>
              </a:rPr>
              <a:t>does</a:t>
            </a:r>
            <a:r>
              <a:rPr lang="tr-TR" sz="2000" b="1" i="1" dirty="0">
                <a:solidFill>
                  <a:prstClr val="black"/>
                </a:solidFill>
              </a:rPr>
              <a:t> John </a:t>
            </a:r>
            <a:r>
              <a:rPr lang="tr-TR" sz="2000" b="1" i="1" dirty="0" err="1">
                <a:solidFill>
                  <a:prstClr val="black"/>
                </a:solidFill>
              </a:rPr>
              <a:t>wonder</a:t>
            </a:r>
            <a:r>
              <a:rPr lang="tr-TR" sz="2000" b="1" i="1" dirty="0">
                <a:solidFill>
                  <a:prstClr val="black"/>
                </a:solidFill>
              </a:rPr>
              <a:t> ( (i) </a:t>
            </a:r>
            <a:r>
              <a:rPr lang="tr-TR" sz="2000" b="1" i="1" dirty="0" err="1">
                <a:solidFill>
                  <a:prstClr val="black"/>
                </a:solidFill>
              </a:rPr>
              <a:t>who</a:t>
            </a:r>
            <a:r>
              <a:rPr lang="tr-TR" sz="2000" b="1" i="1" dirty="0">
                <a:solidFill>
                  <a:prstClr val="black"/>
                </a:solidFill>
              </a:rPr>
              <a:t> </a:t>
            </a:r>
            <a:r>
              <a:rPr lang="tr-TR" sz="2000" b="1" i="1" dirty="0" err="1">
                <a:solidFill>
                  <a:prstClr val="black"/>
                </a:solidFill>
              </a:rPr>
              <a:t>bought</a:t>
            </a:r>
            <a:r>
              <a:rPr lang="tr-TR" sz="2000" b="1" i="1" dirty="0">
                <a:solidFill>
                  <a:prstClr val="black"/>
                </a:solidFill>
              </a:rPr>
              <a:t> it ) ?</a:t>
            </a:r>
          </a:p>
          <a:p>
            <a:pPr marL="109728" lvl="0" indent="0">
              <a:buClr>
                <a:srgbClr val="FE8637"/>
              </a:buClr>
              <a:buNone/>
            </a:pPr>
            <a:r>
              <a:rPr lang="tr-TR" sz="2000" b="1" i="1" dirty="0">
                <a:solidFill>
                  <a:prstClr val="black"/>
                </a:solidFill>
              </a:rPr>
              <a:t>       </a:t>
            </a:r>
            <a:r>
              <a:rPr lang="tr-TR" sz="2000" b="1" i="1" dirty="0" smtClean="0">
                <a:solidFill>
                  <a:prstClr val="black"/>
                </a:solidFill>
              </a:rPr>
              <a:t> </a:t>
            </a:r>
            <a:r>
              <a:rPr lang="tr-TR" sz="2000" b="1" i="1" dirty="0">
                <a:solidFill>
                  <a:prstClr val="black"/>
                </a:solidFill>
              </a:rPr>
              <a:t>b. </a:t>
            </a:r>
            <a:r>
              <a:rPr lang="tr-TR" sz="2000" b="1" i="1" dirty="0" err="1">
                <a:solidFill>
                  <a:prstClr val="black"/>
                </a:solidFill>
              </a:rPr>
              <a:t>What</a:t>
            </a:r>
            <a:r>
              <a:rPr lang="tr-TR" sz="2000" b="1" i="1" dirty="0">
                <a:solidFill>
                  <a:prstClr val="black"/>
                </a:solidFill>
              </a:rPr>
              <a:t> (i) </a:t>
            </a:r>
            <a:r>
              <a:rPr lang="tr-TR" sz="2000" b="1" i="1" dirty="0" err="1">
                <a:solidFill>
                  <a:prstClr val="black"/>
                </a:solidFill>
              </a:rPr>
              <a:t>does</a:t>
            </a:r>
            <a:r>
              <a:rPr lang="tr-TR" sz="2000" b="1" i="1" dirty="0">
                <a:solidFill>
                  <a:prstClr val="black"/>
                </a:solidFill>
              </a:rPr>
              <a:t> John </a:t>
            </a:r>
            <a:r>
              <a:rPr lang="tr-TR" sz="2000" b="1" i="1" dirty="0" err="1">
                <a:solidFill>
                  <a:prstClr val="black"/>
                </a:solidFill>
              </a:rPr>
              <a:t>think</a:t>
            </a:r>
            <a:r>
              <a:rPr lang="tr-TR" sz="2000" b="1" i="1" dirty="0">
                <a:solidFill>
                  <a:prstClr val="black"/>
                </a:solidFill>
              </a:rPr>
              <a:t> ( (i)</a:t>
            </a:r>
            <a:r>
              <a:rPr lang="tr-TR" sz="2000" b="1" i="1" dirty="0" err="1">
                <a:solidFill>
                  <a:prstClr val="black"/>
                </a:solidFill>
              </a:rPr>
              <a:t>that</a:t>
            </a:r>
            <a:r>
              <a:rPr lang="tr-TR" sz="2000" b="1" i="1" dirty="0">
                <a:solidFill>
                  <a:prstClr val="black"/>
                </a:solidFill>
              </a:rPr>
              <a:t> Mary </a:t>
            </a:r>
            <a:r>
              <a:rPr lang="tr-TR" sz="2000" b="1" i="1" dirty="0" err="1">
                <a:solidFill>
                  <a:prstClr val="black"/>
                </a:solidFill>
              </a:rPr>
              <a:t>bought</a:t>
            </a:r>
            <a:r>
              <a:rPr lang="tr-TR" sz="2000" b="1" i="1" dirty="0">
                <a:solidFill>
                  <a:prstClr val="black"/>
                </a:solidFill>
              </a:rPr>
              <a:t> )? </a:t>
            </a:r>
            <a:endParaRPr lang="tr-TR" sz="2000" b="1" i="1" dirty="0" smtClean="0">
              <a:solidFill>
                <a:prstClr val="black"/>
              </a:solidFill>
            </a:endParaRPr>
          </a:p>
          <a:p>
            <a:pPr marL="109728" lvl="0" indent="0">
              <a:buClr>
                <a:srgbClr val="FE8637"/>
              </a:buClr>
              <a:buNone/>
            </a:pPr>
            <a:endParaRPr lang="tr-TR" sz="2000" b="1" i="1" dirty="0">
              <a:solidFill>
                <a:prstClr val="black"/>
              </a:solidFill>
            </a:endParaRPr>
          </a:p>
          <a:p>
            <a:pPr marL="109728" lvl="0" indent="0">
              <a:buClr>
                <a:srgbClr val="FE8637"/>
              </a:buClr>
              <a:buNone/>
            </a:pPr>
            <a:r>
              <a:rPr lang="tr-TR" sz="2400" i="1" dirty="0" err="1" smtClean="0">
                <a:solidFill>
                  <a:prstClr val="black"/>
                </a:solidFill>
              </a:rPr>
              <a:t>Sentences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involving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wh-movement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out</a:t>
            </a:r>
            <a:r>
              <a:rPr lang="tr-TR" sz="2400" i="1" dirty="0" smtClean="0">
                <a:solidFill>
                  <a:prstClr val="black"/>
                </a:solidFill>
              </a:rPr>
              <a:t> of </a:t>
            </a:r>
            <a:r>
              <a:rPr lang="tr-TR" sz="2400" i="1" dirty="0" err="1" smtClean="0">
                <a:solidFill>
                  <a:prstClr val="black"/>
                </a:solidFill>
              </a:rPr>
              <a:t>islands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are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ungrammatical</a:t>
            </a:r>
            <a:r>
              <a:rPr lang="tr-TR" sz="2400" i="1" dirty="0" smtClean="0">
                <a:solidFill>
                  <a:prstClr val="black"/>
                </a:solidFill>
              </a:rPr>
              <a:t> in English (2a). </a:t>
            </a:r>
            <a:r>
              <a:rPr lang="tr-TR" sz="2400" i="1" dirty="0" err="1" smtClean="0">
                <a:solidFill>
                  <a:prstClr val="black"/>
                </a:solidFill>
              </a:rPr>
              <a:t>In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constrast</a:t>
            </a:r>
            <a:r>
              <a:rPr lang="tr-TR" sz="2400" i="1" dirty="0" smtClean="0">
                <a:solidFill>
                  <a:prstClr val="black"/>
                </a:solidFill>
              </a:rPr>
              <a:t>  (2b) is </a:t>
            </a:r>
            <a:r>
              <a:rPr lang="tr-TR" sz="2400" i="1" dirty="0" err="1" smtClean="0">
                <a:solidFill>
                  <a:prstClr val="black"/>
                </a:solidFill>
              </a:rPr>
              <a:t>acceptable</a:t>
            </a:r>
            <a:r>
              <a:rPr lang="tr-TR" sz="2400" i="1" dirty="0" smtClean="0">
                <a:solidFill>
                  <a:prstClr val="black"/>
                </a:solidFill>
              </a:rPr>
              <a:t> as </a:t>
            </a:r>
            <a:r>
              <a:rPr lang="tr-TR" sz="2400" i="1" dirty="0" err="1" smtClean="0">
                <a:solidFill>
                  <a:prstClr val="black"/>
                </a:solidFill>
              </a:rPr>
              <a:t>its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embedded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clause</a:t>
            </a:r>
            <a:r>
              <a:rPr lang="tr-TR" sz="2400" i="1" dirty="0" smtClean="0">
                <a:solidFill>
                  <a:prstClr val="black"/>
                </a:solidFill>
              </a:rPr>
              <a:t> is not an </a:t>
            </a:r>
            <a:r>
              <a:rPr lang="tr-TR" sz="2400" i="1" dirty="0" err="1" smtClean="0">
                <a:solidFill>
                  <a:prstClr val="black"/>
                </a:solidFill>
              </a:rPr>
              <a:t>island</a:t>
            </a:r>
            <a:r>
              <a:rPr lang="tr-TR" sz="2400" i="1" dirty="0" smtClean="0">
                <a:solidFill>
                  <a:prstClr val="black"/>
                </a:solidFill>
              </a:rPr>
              <a:t>.</a:t>
            </a:r>
          </a:p>
          <a:p>
            <a:pPr marL="109728" lvl="0" indent="0">
              <a:buClr>
                <a:srgbClr val="FE8637"/>
              </a:buClr>
              <a:buNone/>
            </a:pPr>
            <a:endParaRPr lang="tr-TR" sz="2400" i="1" dirty="0" smtClean="0">
              <a:solidFill>
                <a:prstClr val="black"/>
              </a:solidFill>
            </a:endParaRPr>
          </a:p>
          <a:p>
            <a:pPr>
              <a:buClr>
                <a:srgbClr val="FE8637"/>
              </a:buClr>
            </a:pPr>
            <a:r>
              <a:rPr lang="tr-TR" sz="2400" i="1" dirty="0" err="1" smtClean="0">
                <a:solidFill>
                  <a:prstClr val="black"/>
                </a:solidFill>
              </a:rPr>
              <a:t>Although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th</a:t>
            </a:r>
            <a:r>
              <a:rPr lang="tr-TR" sz="2400" i="1" dirty="0" err="1" smtClean="0">
                <a:solidFill>
                  <a:prstClr val="black"/>
                </a:solidFill>
              </a:rPr>
              <a:t>e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movement</a:t>
            </a:r>
            <a:r>
              <a:rPr lang="tr-TR" sz="2400" i="1" dirty="0" smtClean="0">
                <a:solidFill>
                  <a:prstClr val="black"/>
                </a:solidFill>
              </a:rPr>
              <a:t> is </a:t>
            </a:r>
            <a:r>
              <a:rPr lang="tr-TR" sz="2400" i="1" dirty="0" err="1" smtClean="0">
                <a:solidFill>
                  <a:prstClr val="black"/>
                </a:solidFill>
              </a:rPr>
              <a:t>unbounded</a:t>
            </a:r>
            <a:r>
              <a:rPr lang="tr-TR" sz="2400" i="1" dirty="0" smtClean="0">
                <a:solidFill>
                  <a:prstClr val="black"/>
                </a:solidFill>
              </a:rPr>
              <a:t> , </a:t>
            </a:r>
            <a:r>
              <a:rPr lang="tr-TR" sz="2400" i="1" dirty="0" err="1" smtClean="0">
                <a:solidFill>
                  <a:prstClr val="black"/>
                </a:solidFill>
              </a:rPr>
              <a:t>there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are</a:t>
            </a:r>
            <a:r>
              <a:rPr lang="tr-TR" sz="2400" i="1" dirty="0" smtClean="0">
                <a:solidFill>
                  <a:prstClr val="black"/>
                </a:solidFill>
              </a:rPr>
              <a:t> a </a:t>
            </a:r>
            <a:r>
              <a:rPr lang="tr-TR" sz="2400" i="1" dirty="0" err="1" smtClean="0">
                <a:solidFill>
                  <a:prstClr val="black"/>
                </a:solidFill>
              </a:rPr>
              <a:t>number</a:t>
            </a:r>
            <a:r>
              <a:rPr lang="tr-TR" sz="2400" i="1" dirty="0" smtClean="0">
                <a:solidFill>
                  <a:prstClr val="black"/>
                </a:solidFill>
              </a:rPr>
              <a:t> of </a:t>
            </a:r>
            <a:r>
              <a:rPr lang="tr-TR" sz="2400" i="1" dirty="0" err="1" smtClean="0">
                <a:solidFill>
                  <a:prstClr val="black"/>
                </a:solidFill>
              </a:rPr>
              <a:t>constraints</a:t>
            </a:r>
            <a:r>
              <a:rPr lang="tr-TR" sz="2400" i="1" dirty="0" smtClean="0">
                <a:solidFill>
                  <a:prstClr val="black"/>
                </a:solidFill>
              </a:rPr>
              <a:t> on </a:t>
            </a:r>
            <a:r>
              <a:rPr lang="tr-TR" sz="2400" i="1" dirty="0" err="1" smtClean="0">
                <a:solidFill>
                  <a:prstClr val="black"/>
                </a:solidFill>
              </a:rPr>
              <a:t>movement</a:t>
            </a:r>
            <a:r>
              <a:rPr lang="tr-TR" sz="2400" i="1" dirty="0" smtClean="0">
                <a:solidFill>
                  <a:prstClr val="black"/>
                </a:solidFill>
              </a:rPr>
              <a:t>.</a:t>
            </a:r>
            <a:endParaRPr lang="tr-TR" sz="2400" i="1" dirty="0" smtClean="0">
              <a:solidFill>
                <a:prstClr val="black"/>
              </a:solidFill>
            </a:endParaRPr>
          </a:p>
          <a:p>
            <a:pPr marL="109728" lvl="0" indent="0">
              <a:buClr>
                <a:srgbClr val="FE8637"/>
              </a:buClr>
              <a:buNone/>
            </a:pPr>
            <a:r>
              <a:rPr lang="tr-TR" sz="2400" i="1" dirty="0" smtClean="0">
                <a:solidFill>
                  <a:prstClr val="black"/>
                </a:solidFill>
              </a:rPr>
              <a:t> </a:t>
            </a:r>
          </a:p>
          <a:p>
            <a:pPr>
              <a:buClr>
                <a:srgbClr val="FE8637"/>
              </a:buClr>
            </a:pPr>
            <a:r>
              <a:rPr lang="tr-TR" sz="2400" i="1" dirty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That</a:t>
            </a:r>
            <a:r>
              <a:rPr lang="tr-TR" sz="2400" i="1" dirty="0" smtClean="0">
                <a:solidFill>
                  <a:prstClr val="black"/>
                </a:solidFill>
              </a:rPr>
              <a:t> is , it is </a:t>
            </a:r>
            <a:r>
              <a:rPr lang="tr-TR" sz="2400" i="1" dirty="0" err="1" smtClean="0">
                <a:solidFill>
                  <a:prstClr val="black"/>
                </a:solidFill>
              </a:rPr>
              <a:t>impossible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to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suppose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that</a:t>
            </a:r>
            <a:r>
              <a:rPr lang="tr-TR" sz="2400" i="1" dirty="0" smtClean="0">
                <a:solidFill>
                  <a:prstClr val="black"/>
                </a:solidFill>
              </a:rPr>
              <a:t> L1 </a:t>
            </a:r>
            <a:r>
              <a:rPr lang="tr-TR" sz="2400" i="1" dirty="0" err="1" smtClean="0">
                <a:solidFill>
                  <a:prstClr val="black"/>
                </a:solidFill>
              </a:rPr>
              <a:t>acquirers</a:t>
            </a:r>
            <a:r>
              <a:rPr lang="tr-TR" sz="2400" i="1" dirty="0" smtClean="0">
                <a:solidFill>
                  <a:prstClr val="black"/>
                </a:solidFill>
              </a:rPr>
              <a:t> of English </a:t>
            </a:r>
            <a:r>
              <a:rPr lang="tr-TR" sz="2400" i="1" dirty="0" err="1" smtClean="0">
                <a:solidFill>
                  <a:prstClr val="black"/>
                </a:solidFill>
              </a:rPr>
              <a:t>arrive</a:t>
            </a:r>
            <a:r>
              <a:rPr lang="tr-TR" sz="2400" i="1" dirty="0" smtClean="0">
                <a:solidFill>
                  <a:prstClr val="black"/>
                </a:solidFill>
              </a:rPr>
              <a:t> at </a:t>
            </a:r>
            <a:r>
              <a:rPr lang="tr-TR" sz="2400" i="1" dirty="0" err="1" smtClean="0">
                <a:solidFill>
                  <a:prstClr val="black"/>
                </a:solidFill>
              </a:rPr>
              <a:t>knowledge</a:t>
            </a:r>
            <a:r>
              <a:rPr lang="tr-TR" sz="2400" i="1" dirty="0" smtClean="0">
                <a:solidFill>
                  <a:prstClr val="black"/>
                </a:solidFill>
              </a:rPr>
              <a:t> of </a:t>
            </a:r>
            <a:r>
              <a:rPr lang="tr-TR" sz="2400" i="1" dirty="0" err="1" smtClean="0">
                <a:solidFill>
                  <a:prstClr val="black"/>
                </a:solidFill>
              </a:rPr>
              <a:t>ungrammaticality</a:t>
            </a:r>
            <a:r>
              <a:rPr lang="tr-TR" sz="2400" i="1" dirty="0" smtClean="0">
                <a:solidFill>
                  <a:prstClr val="black"/>
                </a:solidFill>
              </a:rPr>
              <a:t> of </a:t>
            </a:r>
            <a:r>
              <a:rPr lang="tr-TR" sz="2400" i="1" dirty="0" err="1" smtClean="0">
                <a:solidFill>
                  <a:prstClr val="black"/>
                </a:solidFill>
              </a:rPr>
              <a:t>sentences</a:t>
            </a:r>
            <a:r>
              <a:rPr lang="tr-TR" sz="2400" i="1" dirty="0" smtClean="0">
                <a:solidFill>
                  <a:prstClr val="black"/>
                </a:solidFill>
              </a:rPr>
              <a:t> as (2a) on </a:t>
            </a:r>
            <a:r>
              <a:rPr lang="tr-TR" sz="2400" i="1" dirty="0" err="1" smtClean="0">
                <a:solidFill>
                  <a:prstClr val="black"/>
                </a:solidFill>
              </a:rPr>
              <a:t>the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basis</a:t>
            </a:r>
            <a:r>
              <a:rPr lang="tr-TR" sz="2400" i="1" dirty="0" smtClean="0">
                <a:solidFill>
                  <a:prstClr val="black"/>
                </a:solidFill>
              </a:rPr>
              <a:t> of English </a:t>
            </a:r>
            <a:r>
              <a:rPr lang="tr-TR" sz="2400" i="1" dirty="0" err="1" smtClean="0">
                <a:solidFill>
                  <a:prstClr val="black"/>
                </a:solidFill>
              </a:rPr>
              <a:t>input</a:t>
            </a:r>
            <a:r>
              <a:rPr lang="tr-TR" sz="2400" i="1" dirty="0" smtClean="0">
                <a:solidFill>
                  <a:prstClr val="black"/>
                </a:solidFill>
              </a:rPr>
              <a:t> </a:t>
            </a:r>
            <a:r>
              <a:rPr lang="tr-TR" sz="2400" i="1" dirty="0" err="1" smtClean="0">
                <a:solidFill>
                  <a:prstClr val="black"/>
                </a:solidFill>
              </a:rPr>
              <a:t>alone</a:t>
            </a:r>
            <a:r>
              <a:rPr lang="tr-TR" sz="2400" i="1" dirty="0" smtClean="0">
                <a:solidFill>
                  <a:prstClr val="black"/>
                </a:solidFill>
              </a:rPr>
              <a:t>. </a:t>
            </a:r>
            <a:r>
              <a:rPr lang="tr-TR" sz="2400" i="1" dirty="0" err="1" smtClean="0">
                <a:solidFill>
                  <a:prstClr val="black"/>
                </a:solidFill>
              </a:rPr>
              <a:t>Instead</a:t>
            </a:r>
            <a:r>
              <a:rPr lang="tr-TR" sz="2400" i="1" dirty="0" smtClean="0">
                <a:solidFill>
                  <a:prstClr val="black"/>
                </a:solidFill>
              </a:rPr>
              <a:t>, </a:t>
            </a:r>
            <a:r>
              <a:rPr lang="tr-TR" sz="2400" b="1" i="1" dirty="0" err="1" smtClean="0">
                <a:solidFill>
                  <a:prstClr val="black"/>
                </a:solidFill>
              </a:rPr>
              <a:t>constraints</a:t>
            </a:r>
            <a:r>
              <a:rPr lang="tr-TR" sz="2400" b="1" i="1" dirty="0" smtClean="0">
                <a:solidFill>
                  <a:prstClr val="black"/>
                </a:solidFill>
              </a:rPr>
              <a:t> of </a:t>
            </a:r>
            <a:r>
              <a:rPr lang="tr-TR" sz="2400" b="1" i="1" dirty="0" err="1" smtClean="0">
                <a:solidFill>
                  <a:prstClr val="black"/>
                </a:solidFill>
              </a:rPr>
              <a:t>this</a:t>
            </a:r>
            <a:r>
              <a:rPr lang="tr-TR" sz="2400" b="1" i="1" dirty="0" smtClean="0">
                <a:solidFill>
                  <a:prstClr val="black"/>
                </a:solidFill>
              </a:rPr>
              <a:t> </a:t>
            </a:r>
            <a:r>
              <a:rPr lang="tr-TR" sz="2400" b="1" i="1" dirty="0" err="1" smtClean="0">
                <a:solidFill>
                  <a:prstClr val="black"/>
                </a:solidFill>
              </a:rPr>
              <a:t>kind</a:t>
            </a:r>
            <a:r>
              <a:rPr lang="tr-TR" sz="2400" b="1" i="1" dirty="0" smtClean="0">
                <a:solidFill>
                  <a:prstClr val="black"/>
                </a:solidFill>
              </a:rPr>
              <a:t> </a:t>
            </a:r>
            <a:r>
              <a:rPr lang="tr-TR" sz="2400" b="1" i="1" dirty="0" err="1" smtClean="0">
                <a:solidFill>
                  <a:prstClr val="black"/>
                </a:solidFill>
              </a:rPr>
              <a:t>must</a:t>
            </a:r>
            <a:r>
              <a:rPr lang="tr-TR" sz="2400" b="1" i="1" dirty="0" smtClean="0">
                <a:solidFill>
                  <a:prstClr val="black"/>
                </a:solidFill>
              </a:rPr>
              <a:t> </a:t>
            </a:r>
            <a:r>
              <a:rPr lang="tr-TR" sz="2400" b="1" i="1" dirty="0" err="1" smtClean="0">
                <a:solidFill>
                  <a:prstClr val="black"/>
                </a:solidFill>
              </a:rPr>
              <a:t>derive</a:t>
            </a:r>
            <a:r>
              <a:rPr lang="tr-TR" sz="2400" b="1" i="1" dirty="0" smtClean="0">
                <a:solidFill>
                  <a:prstClr val="black"/>
                </a:solidFill>
              </a:rPr>
              <a:t> </a:t>
            </a:r>
            <a:r>
              <a:rPr lang="tr-TR" sz="2400" b="1" i="1" dirty="0" err="1" smtClean="0">
                <a:solidFill>
                  <a:prstClr val="black"/>
                </a:solidFill>
              </a:rPr>
              <a:t>from</a:t>
            </a:r>
            <a:r>
              <a:rPr lang="tr-TR" sz="2400" b="1" i="1" dirty="0" smtClean="0">
                <a:solidFill>
                  <a:prstClr val="black"/>
                </a:solidFill>
              </a:rPr>
              <a:t> UG. </a:t>
            </a:r>
          </a:p>
          <a:p>
            <a:pPr marL="109728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5462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6395040"/>
          </a:xfrm>
        </p:spPr>
        <p:txBody>
          <a:bodyPr>
            <a:normAutofit fontScale="92500" lnSpcReduction="20000"/>
          </a:bodyPr>
          <a:lstStyle/>
          <a:p>
            <a:r>
              <a:rPr lang="tr-TR" sz="2600" dirty="0" err="1" smtClean="0">
                <a:solidFill>
                  <a:prstClr val="black"/>
                </a:solidFill>
              </a:rPr>
              <a:t>Similar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>
                <a:solidFill>
                  <a:prstClr val="black"/>
                </a:solidFill>
              </a:rPr>
              <a:t>restrictions</a:t>
            </a:r>
            <a:r>
              <a:rPr lang="tr-TR" sz="2600" dirty="0">
                <a:solidFill>
                  <a:prstClr val="black"/>
                </a:solidFill>
              </a:rPr>
              <a:t> </a:t>
            </a:r>
            <a:r>
              <a:rPr lang="tr-TR" sz="2600" dirty="0" err="1">
                <a:solidFill>
                  <a:prstClr val="black"/>
                </a:solidFill>
              </a:rPr>
              <a:t>apply</a:t>
            </a:r>
            <a:r>
              <a:rPr lang="tr-TR" sz="2600" dirty="0">
                <a:solidFill>
                  <a:prstClr val="black"/>
                </a:solidFill>
              </a:rPr>
              <a:t> </a:t>
            </a:r>
            <a:r>
              <a:rPr lang="tr-TR" sz="2600" dirty="0" err="1">
                <a:solidFill>
                  <a:prstClr val="black"/>
                </a:solidFill>
              </a:rPr>
              <a:t>to</a:t>
            </a:r>
            <a:r>
              <a:rPr lang="tr-TR" sz="2600" dirty="0">
                <a:solidFill>
                  <a:prstClr val="black"/>
                </a:solidFill>
              </a:rPr>
              <a:t> </a:t>
            </a:r>
            <a:r>
              <a:rPr lang="tr-TR" sz="2600" dirty="0" err="1">
                <a:solidFill>
                  <a:prstClr val="black"/>
                </a:solidFill>
              </a:rPr>
              <a:t>passive</a:t>
            </a:r>
            <a:r>
              <a:rPr lang="tr-TR" sz="2600" dirty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sentences</a:t>
            </a:r>
            <a:r>
              <a:rPr lang="tr-TR" sz="2600" dirty="0" smtClean="0">
                <a:solidFill>
                  <a:prstClr val="black"/>
                </a:solidFill>
              </a:rPr>
              <a:t>.</a:t>
            </a:r>
          </a:p>
          <a:p>
            <a:endParaRPr lang="tr-TR" sz="2600" dirty="0" smtClean="0">
              <a:solidFill>
                <a:prstClr val="black"/>
              </a:solidFill>
            </a:endParaRPr>
          </a:p>
          <a:p>
            <a:pPr marL="109728" indent="0">
              <a:buNone/>
            </a:pPr>
            <a:r>
              <a:rPr lang="tr-TR" sz="2600" dirty="0">
                <a:solidFill>
                  <a:prstClr val="black"/>
                </a:solidFill>
              </a:rPr>
              <a:t> </a:t>
            </a:r>
            <a:r>
              <a:rPr lang="tr-TR" sz="2600" dirty="0" smtClean="0">
                <a:solidFill>
                  <a:prstClr val="black"/>
                </a:solidFill>
              </a:rPr>
              <a:t>   </a:t>
            </a:r>
            <a:r>
              <a:rPr lang="tr-TR" sz="2600" i="1" dirty="0" err="1" smtClean="0">
                <a:solidFill>
                  <a:prstClr val="black"/>
                </a:solidFill>
              </a:rPr>
              <a:t>The</a:t>
            </a:r>
            <a:r>
              <a:rPr lang="tr-TR" sz="2600" i="1" dirty="0" smtClean="0">
                <a:solidFill>
                  <a:prstClr val="black"/>
                </a:solidFill>
              </a:rPr>
              <a:t> </a:t>
            </a:r>
            <a:r>
              <a:rPr lang="tr-TR" sz="2600" i="1" dirty="0" err="1" smtClean="0">
                <a:solidFill>
                  <a:prstClr val="black"/>
                </a:solidFill>
              </a:rPr>
              <a:t>cat</a:t>
            </a:r>
            <a:r>
              <a:rPr lang="tr-TR" sz="2600" i="1" dirty="0" smtClean="0">
                <a:solidFill>
                  <a:prstClr val="black"/>
                </a:solidFill>
              </a:rPr>
              <a:t>   hit </a:t>
            </a:r>
            <a:r>
              <a:rPr lang="tr-TR" sz="2600" b="1" i="1" dirty="0" err="1" smtClean="0">
                <a:solidFill>
                  <a:prstClr val="black"/>
                </a:solidFill>
              </a:rPr>
              <a:t>the</a:t>
            </a:r>
            <a:r>
              <a:rPr lang="tr-TR" sz="2600" b="1" i="1" dirty="0" smtClean="0">
                <a:solidFill>
                  <a:prstClr val="black"/>
                </a:solidFill>
              </a:rPr>
              <a:t> </a:t>
            </a:r>
            <a:r>
              <a:rPr lang="tr-TR" sz="2600" b="1" i="1" dirty="0" err="1" smtClean="0">
                <a:solidFill>
                  <a:prstClr val="black"/>
                </a:solidFill>
              </a:rPr>
              <a:t>girl</a:t>
            </a:r>
            <a:endParaRPr lang="tr-TR" sz="2600" b="1" i="1" dirty="0" smtClean="0">
              <a:solidFill>
                <a:prstClr val="black"/>
              </a:solidFill>
            </a:endParaRPr>
          </a:p>
          <a:p>
            <a:pPr marL="109728" indent="0">
              <a:buNone/>
            </a:pPr>
            <a:r>
              <a:rPr lang="tr-TR" sz="2600" i="1" dirty="0" smtClean="0">
                <a:solidFill>
                  <a:prstClr val="black"/>
                </a:solidFill>
              </a:rPr>
              <a:t>    </a:t>
            </a:r>
            <a:r>
              <a:rPr lang="tr-TR" sz="2600" i="1" dirty="0" err="1" smtClean="0">
                <a:solidFill>
                  <a:prstClr val="black"/>
                </a:solidFill>
              </a:rPr>
              <a:t>The</a:t>
            </a:r>
            <a:r>
              <a:rPr lang="tr-TR" sz="2600" i="1" dirty="0" smtClean="0">
                <a:solidFill>
                  <a:prstClr val="black"/>
                </a:solidFill>
              </a:rPr>
              <a:t> </a:t>
            </a:r>
            <a:r>
              <a:rPr lang="tr-TR" sz="2600" i="1" dirty="0" err="1" smtClean="0">
                <a:solidFill>
                  <a:prstClr val="black"/>
                </a:solidFill>
              </a:rPr>
              <a:t>girl</a:t>
            </a:r>
            <a:r>
              <a:rPr lang="tr-TR" sz="2600" i="1" dirty="0" smtClean="0">
                <a:solidFill>
                  <a:prstClr val="black"/>
                </a:solidFill>
              </a:rPr>
              <a:t> </a:t>
            </a:r>
            <a:r>
              <a:rPr lang="tr-TR" sz="2600" i="1" dirty="0" err="1" smtClean="0">
                <a:solidFill>
                  <a:prstClr val="black"/>
                </a:solidFill>
              </a:rPr>
              <a:t>was</a:t>
            </a:r>
            <a:r>
              <a:rPr lang="tr-TR" sz="2600" i="1" dirty="0" smtClean="0">
                <a:solidFill>
                  <a:prstClr val="black"/>
                </a:solidFill>
              </a:rPr>
              <a:t> hit </a:t>
            </a:r>
            <a:r>
              <a:rPr lang="tr-TR" sz="2600" i="1" dirty="0" err="1" smtClean="0">
                <a:solidFill>
                  <a:prstClr val="black"/>
                </a:solidFill>
              </a:rPr>
              <a:t>by</a:t>
            </a:r>
            <a:r>
              <a:rPr lang="tr-TR" sz="2600" i="1" dirty="0" smtClean="0">
                <a:solidFill>
                  <a:prstClr val="black"/>
                </a:solidFill>
              </a:rPr>
              <a:t> </a:t>
            </a:r>
            <a:r>
              <a:rPr lang="tr-TR" sz="2600" i="1" dirty="0" err="1" smtClean="0">
                <a:solidFill>
                  <a:prstClr val="black"/>
                </a:solidFill>
              </a:rPr>
              <a:t>the</a:t>
            </a:r>
            <a:r>
              <a:rPr lang="tr-TR" sz="2600" i="1" dirty="0" smtClean="0">
                <a:solidFill>
                  <a:prstClr val="black"/>
                </a:solidFill>
              </a:rPr>
              <a:t> car</a:t>
            </a:r>
          </a:p>
          <a:p>
            <a:pPr marL="109728" indent="0">
              <a:buNone/>
            </a:pPr>
            <a:endParaRPr lang="tr-TR" sz="2600" i="1" dirty="0" smtClean="0">
              <a:solidFill>
                <a:prstClr val="black"/>
              </a:solidFill>
            </a:endParaRPr>
          </a:p>
          <a:p>
            <a:pPr marL="109728" indent="0">
              <a:buNone/>
            </a:pPr>
            <a:r>
              <a:rPr lang="tr-TR" sz="2600" i="1" dirty="0">
                <a:solidFill>
                  <a:prstClr val="black"/>
                </a:solidFill>
              </a:rPr>
              <a:t> </a:t>
            </a:r>
            <a:r>
              <a:rPr lang="tr-TR" sz="2600" i="1" dirty="0" smtClean="0">
                <a:solidFill>
                  <a:prstClr val="black"/>
                </a:solidFill>
              </a:rPr>
              <a:t>   </a:t>
            </a:r>
            <a:r>
              <a:rPr lang="tr-TR" sz="2600" dirty="0" err="1" smtClean="0">
                <a:solidFill>
                  <a:prstClr val="black"/>
                </a:solidFill>
              </a:rPr>
              <a:t>It</a:t>
            </a:r>
            <a:r>
              <a:rPr lang="tr-TR" sz="2600" dirty="0" smtClean="0">
                <a:solidFill>
                  <a:prstClr val="black"/>
                </a:solidFill>
              </a:rPr>
              <a:t> is </a:t>
            </a:r>
            <a:r>
              <a:rPr lang="tr-TR" sz="2600" dirty="0" err="1" smtClean="0">
                <a:solidFill>
                  <a:prstClr val="black"/>
                </a:solidFill>
              </a:rPr>
              <a:t>the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whole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Noun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Phrase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that</a:t>
            </a:r>
            <a:r>
              <a:rPr lang="tr-TR" sz="2600" dirty="0" smtClean="0">
                <a:solidFill>
                  <a:prstClr val="black"/>
                </a:solidFill>
              </a:rPr>
              <a:t> is </a:t>
            </a:r>
            <a:r>
              <a:rPr lang="tr-TR" sz="2600" dirty="0" err="1" smtClean="0">
                <a:solidFill>
                  <a:prstClr val="black"/>
                </a:solidFill>
              </a:rPr>
              <a:t>moved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to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the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front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This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movement</a:t>
            </a:r>
            <a:r>
              <a:rPr lang="tr-TR" sz="2600" dirty="0" smtClean="0">
                <a:solidFill>
                  <a:prstClr val="black"/>
                </a:solidFill>
              </a:rPr>
              <a:t> </a:t>
            </a:r>
            <a:r>
              <a:rPr lang="tr-TR" sz="2600" dirty="0" err="1" smtClean="0">
                <a:solidFill>
                  <a:prstClr val="black"/>
                </a:solidFill>
              </a:rPr>
              <a:t>principle</a:t>
            </a:r>
            <a:r>
              <a:rPr lang="tr-TR" sz="2600" dirty="0" smtClean="0">
                <a:solidFill>
                  <a:prstClr val="black"/>
                </a:solidFill>
              </a:rPr>
              <a:t> is </a:t>
            </a:r>
            <a:r>
              <a:rPr lang="tr-TR" sz="2600" dirty="0" err="1" smtClean="0">
                <a:solidFill>
                  <a:prstClr val="black"/>
                </a:solidFill>
              </a:rPr>
              <a:t>called</a:t>
            </a:r>
            <a:r>
              <a:rPr lang="tr-TR" sz="2600" dirty="0" smtClean="0">
                <a:solidFill>
                  <a:prstClr val="black"/>
                </a:solidFill>
              </a:rPr>
              <a:t> as   </a:t>
            </a:r>
            <a:r>
              <a:rPr lang="tr-TR" sz="2600" b="1" dirty="0" err="1" smtClean="0">
                <a:solidFill>
                  <a:prstClr val="black"/>
                </a:solidFill>
              </a:rPr>
              <a:t>Move</a:t>
            </a:r>
            <a:r>
              <a:rPr lang="tr-TR" sz="2600" b="1" dirty="0" smtClean="0">
                <a:solidFill>
                  <a:prstClr val="black"/>
                </a:solidFill>
              </a:rPr>
              <a:t> </a:t>
            </a:r>
            <a:r>
              <a:rPr lang="el-GR" sz="2600" b="1" dirty="0" smtClean="0">
                <a:solidFill>
                  <a:prstClr val="black"/>
                </a:solidFill>
              </a:rPr>
              <a:t>α</a:t>
            </a:r>
            <a:r>
              <a:rPr lang="tr-TR" sz="2600" b="1" dirty="0" smtClean="0">
                <a:solidFill>
                  <a:prstClr val="black"/>
                </a:solidFill>
              </a:rPr>
              <a:t>.</a:t>
            </a:r>
          </a:p>
          <a:p>
            <a:pPr marL="109728" indent="0">
              <a:buNone/>
            </a:pPr>
            <a:endParaRPr lang="tr-TR" sz="2600" b="1" dirty="0" smtClean="0">
              <a:solidFill>
                <a:prstClr val="black"/>
              </a:solidFill>
            </a:endParaRPr>
          </a:p>
          <a:p>
            <a:r>
              <a:rPr lang="en-US" sz="2600" b="1" dirty="0" smtClean="0"/>
              <a:t>A over A </a:t>
            </a:r>
            <a:r>
              <a:rPr lang="en-US" sz="2600" b="1" dirty="0" smtClean="0"/>
              <a:t>condition</a:t>
            </a:r>
            <a:r>
              <a:rPr lang="en-US" sz="2600" b="1" dirty="0" smtClean="0"/>
              <a:t> </a:t>
            </a:r>
            <a:r>
              <a:rPr lang="en-US" sz="2600" dirty="0" smtClean="0"/>
              <a:t>that limits the application of </a:t>
            </a:r>
          </a:p>
          <a:p>
            <a:pPr marL="109728" indent="0">
              <a:buNone/>
            </a:pPr>
            <a:r>
              <a:rPr lang="en-US" sz="2600" dirty="0" smtClean="0"/>
              <a:t>rules to a small sub-set of the logical possibilities.</a:t>
            </a:r>
          </a:p>
          <a:p>
            <a:pPr marL="109728" indent="0">
              <a:buNone/>
            </a:pPr>
            <a:endParaRPr lang="en-US" sz="2600" dirty="0" smtClean="0"/>
          </a:p>
          <a:p>
            <a:pPr marL="109728" indent="0">
              <a:buNone/>
            </a:pPr>
            <a:r>
              <a:rPr lang="en-US" sz="2600" dirty="0" smtClean="0"/>
              <a:t>  Ex:  </a:t>
            </a:r>
            <a:r>
              <a:rPr lang="en-US" sz="2600" i="1" dirty="0" smtClean="0"/>
              <a:t>Harry stirred the stew and the pudding</a:t>
            </a:r>
          </a:p>
          <a:p>
            <a:pPr marL="109728" indent="0">
              <a:buNone/>
            </a:pPr>
            <a:r>
              <a:rPr lang="en-US" sz="2600" i="1" dirty="0" smtClean="0"/>
              <a:t>         Harry stirred the stew and tasted of turnips</a:t>
            </a:r>
          </a:p>
          <a:p>
            <a:pPr marL="109728" indent="0">
              <a:buNone/>
            </a:pPr>
            <a:endParaRPr lang="en-US" sz="2600" i="1" dirty="0" smtClean="0"/>
          </a:p>
          <a:p>
            <a:pPr marL="109728" indent="0">
              <a:buNone/>
            </a:pPr>
            <a:r>
              <a:rPr lang="en-US" sz="2600" dirty="0" smtClean="0"/>
              <a:t>   </a:t>
            </a:r>
            <a:r>
              <a:rPr lang="en-US" sz="1900" dirty="0" smtClean="0"/>
              <a:t>can give rise to question  </a:t>
            </a:r>
            <a:r>
              <a:rPr lang="en-US" sz="2600" dirty="0" smtClean="0"/>
              <a:t>What did Harry stir?</a:t>
            </a:r>
          </a:p>
          <a:p>
            <a:pPr marL="109728" indent="0">
              <a:buNone/>
            </a:pPr>
            <a:r>
              <a:rPr lang="en-US" sz="2600" dirty="0" smtClean="0"/>
              <a:t>   </a:t>
            </a:r>
            <a:r>
              <a:rPr lang="en-US" sz="1700" dirty="0" smtClean="0"/>
              <a:t>but not to</a:t>
            </a:r>
            <a:r>
              <a:rPr lang="en-US" sz="2600" dirty="0" smtClean="0"/>
              <a:t>: What did Harry stir the stew and___?</a:t>
            </a:r>
          </a:p>
          <a:p>
            <a:pPr marL="109728" indent="0">
              <a:buNone/>
            </a:pPr>
            <a:r>
              <a:rPr lang="en-US" sz="2600" dirty="0" smtClean="0"/>
              <a:t>                What did Harry stir –and the pudding?</a:t>
            </a:r>
          </a:p>
          <a:p>
            <a:pPr marL="109728" indent="0">
              <a:buNone/>
            </a:pPr>
            <a:r>
              <a:rPr lang="en-US" sz="2600" dirty="0" smtClean="0"/>
              <a:t>                What did Harry stir the stew that tasted of </a:t>
            </a:r>
            <a:r>
              <a:rPr lang="tr-TR" sz="2600" dirty="0" smtClean="0"/>
              <a:t>---?</a:t>
            </a:r>
            <a:endParaRPr lang="en-GB" sz="2600" dirty="0"/>
          </a:p>
        </p:txBody>
      </p:sp>
      <p:sp>
        <p:nvSpPr>
          <p:cNvPr id="5" name="Sol Yukarı Ok 4"/>
          <p:cNvSpPr/>
          <p:nvPr/>
        </p:nvSpPr>
        <p:spPr>
          <a:xfrm flipH="1">
            <a:off x="1331640" y="1190883"/>
            <a:ext cx="2088232" cy="189735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şağı Ok 5"/>
          <p:cNvSpPr/>
          <p:nvPr/>
        </p:nvSpPr>
        <p:spPr>
          <a:xfrm>
            <a:off x="2500054" y="980728"/>
            <a:ext cx="45719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0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İçerik Yer Tutucusu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tr-TR" dirty="0" err="1" smtClean="0"/>
              <a:t>According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White;</a:t>
            </a:r>
            <a:endParaRPr lang="tr-TR" dirty="0"/>
          </a:p>
          <a:p>
            <a:r>
              <a:rPr lang="tr-TR" dirty="0" err="1" smtClean="0"/>
              <a:t>Languages</a:t>
            </a:r>
            <a:r>
              <a:rPr lang="tr-TR" dirty="0" smtClean="0"/>
              <a:t> can </a:t>
            </a:r>
            <a:r>
              <a:rPr lang="tr-TR" dirty="0" err="1" smtClean="0"/>
              <a:t>differ</a:t>
            </a:r>
            <a:r>
              <a:rPr lang="tr-TR" dirty="0" smtClean="0"/>
              <a:t> as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which</a:t>
            </a:r>
            <a:r>
              <a:rPr lang="tr-TR" dirty="0" smtClean="0"/>
              <a:t>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categories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realized</a:t>
            </a:r>
            <a:r>
              <a:rPr lang="tr-TR" dirty="0" smtClean="0"/>
              <a:t> in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grammar</a:t>
            </a:r>
            <a:r>
              <a:rPr lang="tr-TR" dirty="0" smtClean="0"/>
              <a:t>.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</a:t>
            </a:r>
            <a:r>
              <a:rPr lang="tr-TR" i="1" dirty="0" err="1" smtClean="0"/>
              <a:t>For</a:t>
            </a:r>
            <a:r>
              <a:rPr lang="tr-TR" i="1" dirty="0" smtClean="0"/>
              <a:t> </a:t>
            </a:r>
            <a:r>
              <a:rPr lang="tr-TR" i="1" dirty="0" err="1" smtClean="0"/>
              <a:t>ex</a:t>
            </a:r>
            <a:r>
              <a:rPr lang="tr-TR" i="1" dirty="0" smtClean="0"/>
              <a:t>: </a:t>
            </a:r>
            <a:r>
              <a:rPr lang="tr-TR" i="1" dirty="0" err="1" smtClean="0"/>
              <a:t>Japanese</a:t>
            </a:r>
            <a:r>
              <a:rPr lang="tr-TR" i="1" dirty="0" smtClean="0"/>
              <a:t> </a:t>
            </a:r>
            <a:r>
              <a:rPr lang="tr-TR" i="1" dirty="0" err="1" smtClean="0"/>
              <a:t>lack</a:t>
            </a:r>
            <a:r>
              <a:rPr lang="tr-TR" i="1" dirty="0" smtClean="0"/>
              <a:t> </a:t>
            </a:r>
            <a:r>
              <a:rPr lang="tr-TR" i="1" dirty="0" err="1" smtClean="0"/>
              <a:t>the</a:t>
            </a:r>
            <a:r>
              <a:rPr lang="tr-TR" i="1" dirty="0" smtClean="0"/>
              <a:t> </a:t>
            </a:r>
            <a:r>
              <a:rPr lang="tr-TR" i="1" dirty="0" err="1" smtClean="0"/>
              <a:t>category</a:t>
            </a:r>
            <a:r>
              <a:rPr lang="tr-TR" i="1" dirty="0" smtClean="0"/>
              <a:t> </a:t>
            </a:r>
            <a:r>
              <a:rPr lang="tr-TR" i="1" dirty="0" err="1" smtClean="0"/>
              <a:t>Det</a:t>
            </a:r>
            <a:r>
              <a:rPr lang="tr-TR" i="1" dirty="0" smtClean="0"/>
              <a:t>. </a:t>
            </a:r>
          </a:p>
          <a:p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features</a:t>
            </a:r>
            <a:r>
              <a:rPr lang="tr-TR" dirty="0" smtClean="0"/>
              <a:t> of a </a:t>
            </a:r>
            <a:r>
              <a:rPr lang="tr-TR" dirty="0" err="1" smtClean="0"/>
              <a:t>particular</a:t>
            </a:r>
            <a:r>
              <a:rPr lang="tr-TR" dirty="0" smtClean="0"/>
              <a:t>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category</a:t>
            </a:r>
            <a:r>
              <a:rPr lang="tr-TR" dirty="0" smtClean="0"/>
              <a:t> can </a:t>
            </a:r>
            <a:r>
              <a:rPr lang="tr-TR" dirty="0" err="1" smtClean="0"/>
              <a:t>vary</a:t>
            </a:r>
            <a:r>
              <a:rPr lang="tr-TR" dirty="0" smtClean="0"/>
              <a:t> </a:t>
            </a:r>
            <a:r>
              <a:rPr lang="tr-TR" dirty="0" err="1" smtClean="0"/>
              <a:t>from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endParaRPr lang="tr-TR" dirty="0" smtClean="0"/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</a:t>
            </a:r>
            <a:r>
              <a:rPr lang="tr-TR" i="1" dirty="0" err="1" smtClean="0"/>
              <a:t>For</a:t>
            </a:r>
            <a:r>
              <a:rPr lang="tr-TR" i="1" dirty="0" smtClean="0"/>
              <a:t> </a:t>
            </a:r>
            <a:r>
              <a:rPr lang="tr-TR" i="1" dirty="0" err="1" smtClean="0"/>
              <a:t>ex</a:t>
            </a:r>
            <a:r>
              <a:rPr lang="tr-TR" i="1" dirty="0" smtClean="0"/>
              <a:t>: French has a </a:t>
            </a:r>
            <a:r>
              <a:rPr lang="tr-TR" i="1" dirty="0" err="1" smtClean="0"/>
              <a:t>gender</a:t>
            </a:r>
            <a:r>
              <a:rPr lang="tr-TR" i="1" dirty="0" smtClean="0"/>
              <a:t> </a:t>
            </a:r>
            <a:r>
              <a:rPr lang="tr-TR" i="1" dirty="0" err="1" smtClean="0"/>
              <a:t>feature</a:t>
            </a:r>
            <a:r>
              <a:rPr lang="tr-TR" i="1" dirty="0" smtClean="0"/>
              <a:t> </a:t>
            </a:r>
            <a:r>
              <a:rPr lang="tr-TR" i="1" dirty="0" err="1" smtClean="0"/>
              <a:t>while</a:t>
            </a:r>
            <a:r>
              <a:rPr lang="tr-TR" i="1" dirty="0" smtClean="0"/>
              <a:t> English </a:t>
            </a:r>
            <a:r>
              <a:rPr lang="tr-TR" i="1" dirty="0" err="1" smtClean="0"/>
              <a:t>does</a:t>
            </a:r>
            <a:r>
              <a:rPr lang="tr-TR" i="1" dirty="0" smtClean="0"/>
              <a:t> </a:t>
            </a:r>
            <a:r>
              <a:rPr lang="tr-TR" i="1" dirty="0" smtClean="0"/>
              <a:t> </a:t>
            </a:r>
          </a:p>
          <a:p>
            <a:pPr marL="109728" indent="0">
              <a:buNone/>
            </a:pPr>
            <a:r>
              <a:rPr lang="tr-TR" i="1" dirty="0"/>
              <a:t> </a:t>
            </a:r>
            <a:r>
              <a:rPr lang="tr-TR" i="1" dirty="0" smtClean="0"/>
              <a:t>  </a:t>
            </a:r>
            <a:r>
              <a:rPr lang="tr-TR" i="1" dirty="0" smtClean="0"/>
              <a:t>not</a:t>
            </a:r>
            <a:r>
              <a:rPr lang="tr-TR" i="1" dirty="0" smtClean="0"/>
              <a:t>.</a:t>
            </a:r>
          </a:p>
          <a:p>
            <a:r>
              <a:rPr lang="tr-TR" dirty="0" err="1" smtClean="0"/>
              <a:t>Features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said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vary</a:t>
            </a:r>
            <a:r>
              <a:rPr lang="tr-TR" dirty="0" smtClean="0"/>
              <a:t> in </a:t>
            </a:r>
            <a:r>
              <a:rPr lang="tr-TR" dirty="0" err="1" smtClean="0"/>
              <a:t>strenght</a:t>
            </a:r>
            <a:r>
              <a:rPr lang="tr-TR" dirty="0" smtClean="0"/>
              <a:t>: a </a:t>
            </a:r>
            <a:r>
              <a:rPr lang="tr-TR" dirty="0" err="1" smtClean="0"/>
              <a:t>feature</a:t>
            </a:r>
            <a:r>
              <a:rPr lang="tr-TR" dirty="0" smtClean="0"/>
              <a:t> can be </a:t>
            </a:r>
            <a:r>
              <a:rPr lang="tr-TR" dirty="0" err="1" smtClean="0"/>
              <a:t>strong</a:t>
            </a:r>
            <a:r>
              <a:rPr lang="tr-TR" dirty="0" smtClean="0"/>
              <a:t> in </a:t>
            </a:r>
            <a:r>
              <a:rPr lang="tr-TR" dirty="0" err="1" smtClean="0"/>
              <a:t>one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weak</a:t>
            </a:r>
            <a:r>
              <a:rPr lang="tr-TR" dirty="0" smtClean="0"/>
              <a:t> in </a:t>
            </a:r>
            <a:r>
              <a:rPr lang="tr-TR" dirty="0" err="1" smtClean="0"/>
              <a:t>another</a:t>
            </a:r>
            <a:r>
              <a:rPr lang="tr-TR" dirty="0" smtClean="0"/>
              <a:t>. </a:t>
            </a:r>
            <a:endParaRPr lang="tr-TR" dirty="0" smtClean="0"/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</a:t>
            </a:r>
            <a:r>
              <a:rPr lang="tr-TR" i="1" dirty="0" err="1" smtClean="0"/>
              <a:t>For</a:t>
            </a:r>
            <a:r>
              <a:rPr lang="tr-TR" i="1" dirty="0" smtClean="0"/>
              <a:t> </a:t>
            </a:r>
            <a:r>
              <a:rPr lang="tr-TR" i="1" dirty="0" err="1" smtClean="0"/>
              <a:t>ex</a:t>
            </a:r>
            <a:r>
              <a:rPr lang="tr-TR" i="1" dirty="0" smtClean="0"/>
              <a:t>: </a:t>
            </a:r>
            <a:r>
              <a:rPr lang="tr-TR" i="1" dirty="0" err="1" smtClean="0"/>
              <a:t>inflections</a:t>
            </a:r>
            <a:r>
              <a:rPr lang="tr-TR" i="1" dirty="0" smtClean="0"/>
              <a:t> </a:t>
            </a:r>
            <a:r>
              <a:rPr lang="tr-TR" i="1" dirty="0" err="1" smtClean="0"/>
              <a:t>are</a:t>
            </a:r>
            <a:r>
              <a:rPr lang="tr-TR" i="1" dirty="0" smtClean="0"/>
              <a:t> </a:t>
            </a:r>
            <a:r>
              <a:rPr lang="tr-TR" i="1" dirty="0" err="1" smtClean="0"/>
              <a:t>strong</a:t>
            </a:r>
            <a:r>
              <a:rPr lang="tr-TR" i="1" dirty="0" smtClean="0"/>
              <a:t> in French </a:t>
            </a:r>
            <a:r>
              <a:rPr lang="tr-TR" i="1" dirty="0" err="1" smtClean="0"/>
              <a:t>and</a:t>
            </a:r>
            <a:r>
              <a:rPr lang="tr-TR" i="1" dirty="0" smtClean="0"/>
              <a:t> </a:t>
            </a:r>
            <a:r>
              <a:rPr lang="tr-TR" i="1" dirty="0" err="1" smtClean="0"/>
              <a:t>weak</a:t>
            </a:r>
            <a:r>
              <a:rPr lang="tr-TR" i="1" dirty="0" smtClean="0"/>
              <a:t> in </a:t>
            </a:r>
            <a:endParaRPr lang="tr-TR" i="1" dirty="0" smtClean="0"/>
          </a:p>
          <a:p>
            <a:pPr marL="109728" indent="0">
              <a:buNone/>
            </a:pPr>
            <a:r>
              <a:rPr lang="tr-TR" i="1" dirty="0"/>
              <a:t> </a:t>
            </a:r>
            <a:r>
              <a:rPr lang="tr-TR" i="1" dirty="0" smtClean="0"/>
              <a:t>  </a:t>
            </a:r>
            <a:r>
              <a:rPr lang="tr-TR" i="1" dirty="0" smtClean="0"/>
              <a:t>English</a:t>
            </a:r>
            <a:r>
              <a:rPr lang="tr-TR" i="1" dirty="0" smtClean="0"/>
              <a:t>. </a:t>
            </a:r>
          </a:p>
          <a:p>
            <a:endParaRPr lang="en-GB" dirty="0"/>
          </a:p>
        </p:txBody>
      </p:sp>
      <p:sp>
        <p:nvSpPr>
          <p:cNvPr id="5" name="Başlık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Parameters</a:t>
            </a:r>
            <a:r>
              <a:rPr lang="tr-TR" dirty="0" smtClean="0"/>
              <a:t> ( </a:t>
            </a:r>
            <a:r>
              <a:rPr lang="tr-TR" dirty="0" err="1" smtClean="0"/>
              <a:t>paramedics</a:t>
            </a:r>
            <a:r>
              <a:rPr lang="tr-TR" dirty="0" smtClean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629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82547"/>
          </a:xfrm>
        </p:spPr>
        <p:txBody>
          <a:bodyPr>
            <a:normAutofit lnSpcReduction="10000"/>
          </a:bodyPr>
          <a:lstStyle/>
          <a:p>
            <a:r>
              <a:rPr lang="tr-TR" dirty="0" err="1" smtClean="0"/>
              <a:t>Head-first</a:t>
            </a:r>
            <a:r>
              <a:rPr lang="tr-TR" dirty="0"/>
              <a:t> </a:t>
            </a:r>
            <a:r>
              <a:rPr lang="tr-TR" dirty="0" smtClean="0"/>
              <a:t>&amp; </a:t>
            </a:r>
            <a:r>
              <a:rPr lang="tr-TR" dirty="0" err="1" smtClean="0"/>
              <a:t>Head-last</a:t>
            </a:r>
            <a:r>
              <a:rPr lang="tr-TR" dirty="0" smtClean="0"/>
              <a:t> </a:t>
            </a:r>
          </a:p>
          <a:p>
            <a:pPr marL="109728" indent="0">
              <a:buNone/>
            </a:pPr>
            <a:r>
              <a:rPr lang="tr-TR" dirty="0" err="1" smtClean="0"/>
              <a:t>Head</a:t>
            </a:r>
            <a:r>
              <a:rPr lang="tr-TR" dirty="0" smtClean="0"/>
              <a:t> </a:t>
            </a:r>
            <a:r>
              <a:rPr lang="tr-TR" dirty="0" err="1" smtClean="0"/>
              <a:t>parameter</a:t>
            </a:r>
            <a:r>
              <a:rPr lang="tr-TR" dirty="0" smtClean="0"/>
              <a:t> </a:t>
            </a:r>
            <a:r>
              <a:rPr lang="tr-TR" dirty="0" err="1" smtClean="0"/>
              <a:t>determine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relative</a:t>
            </a:r>
            <a:r>
              <a:rPr lang="tr-TR" dirty="0" smtClean="0"/>
              <a:t> </a:t>
            </a:r>
            <a:r>
              <a:rPr lang="tr-TR" dirty="0" err="1" smtClean="0"/>
              <a:t>positioning</a:t>
            </a:r>
            <a:r>
              <a:rPr lang="tr-TR" dirty="0" smtClean="0"/>
              <a:t> of </a:t>
            </a:r>
            <a:r>
              <a:rPr lang="tr-TR" dirty="0" err="1" smtClean="0"/>
              <a:t>heads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respect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their</a:t>
            </a:r>
            <a:r>
              <a:rPr lang="tr-TR" dirty="0" smtClean="0"/>
              <a:t> </a:t>
            </a:r>
            <a:r>
              <a:rPr lang="tr-TR" dirty="0" err="1" smtClean="0"/>
              <a:t>complements</a:t>
            </a:r>
            <a:r>
              <a:rPr lang="tr-TR" dirty="0" smtClean="0"/>
              <a:t>.</a:t>
            </a:r>
          </a:p>
          <a:p>
            <a:pPr marL="109728" indent="0">
              <a:buNone/>
            </a:pPr>
            <a:r>
              <a:rPr lang="tr-TR" dirty="0" smtClean="0"/>
              <a:t>English is a </a:t>
            </a:r>
            <a:r>
              <a:rPr lang="tr-TR" dirty="0" err="1" smtClean="0"/>
              <a:t>head-first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because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head</a:t>
            </a:r>
            <a:r>
              <a:rPr lang="tr-TR" dirty="0" smtClean="0"/>
              <a:t> </a:t>
            </a:r>
            <a:r>
              <a:rPr lang="tr-TR" dirty="0" err="1" smtClean="0"/>
              <a:t>appears</a:t>
            </a:r>
            <a:r>
              <a:rPr lang="tr-TR" dirty="0" smtClean="0"/>
              <a:t> </a:t>
            </a:r>
            <a:r>
              <a:rPr lang="tr-TR" dirty="0" err="1" smtClean="0"/>
              <a:t>before</a:t>
            </a:r>
            <a:r>
              <a:rPr lang="tr-TR" dirty="0" smtClean="0"/>
              <a:t> 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Japanese</a:t>
            </a:r>
            <a:r>
              <a:rPr lang="tr-TR" dirty="0" smtClean="0"/>
              <a:t> is a </a:t>
            </a:r>
            <a:r>
              <a:rPr lang="tr-TR" dirty="0" err="1" smtClean="0"/>
              <a:t>head</a:t>
            </a:r>
            <a:r>
              <a:rPr lang="tr-TR" dirty="0" smtClean="0"/>
              <a:t> –</a:t>
            </a:r>
            <a:r>
              <a:rPr lang="tr-TR" dirty="0" err="1" smtClean="0"/>
              <a:t>last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/>
              <a:t> </a:t>
            </a:r>
            <a:r>
              <a:rPr lang="tr-TR" dirty="0" smtClean="0"/>
              <a:t>as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complement</a:t>
            </a:r>
            <a:r>
              <a:rPr lang="tr-TR" dirty="0" smtClean="0"/>
              <a:t> </a:t>
            </a:r>
            <a:r>
              <a:rPr lang="tr-TR" dirty="0" err="1" smtClean="0"/>
              <a:t>precedes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head</a:t>
            </a:r>
            <a:r>
              <a:rPr lang="tr-TR" dirty="0" smtClean="0"/>
              <a:t>. 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</a:t>
            </a:r>
            <a:r>
              <a:rPr lang="tr-TR" dirty="0" err="1" smtClean="0"/>
              <a:t>Ex</a:t>
            </a:r>
            <a:r>
              <a:rPr lang="tr-TR" dirty="0" smtClean="0"/>
              <a:t>:                 DP               a </a:t>
            </a:r>
            <a:r>
              <a:rPr lang="tr-TR" dirty="0" err="1" smtClean="0"/>
              <a:t>red</a:t>
            </a:r>
            <a:r>
              <a:rPr lang="tr-TR" dirty="0" smtClean="0"/>
              <a:t> </a:t>
            </a:r>
            <a:r>
              <a:rPr lang="tr-TR" dirty="0" err="1" smtClean="0"/>
              <a:t>book</a:t>
            </a:r>
            <a:r>
              <a:rPr lang="tr-TR" dirty="0" smtClean="0"/>
              <a:t> </a:t>
            </a:r>
          </a:p>
          <a:p>
            <a:pPr marL="109728" indent="0">
              <a:buNone/>
            </a:pPr>
            <a:endParaRPr lang="tr-TR" dirty="0"/>
          </a:p>
          <a:p>
            <a:pPr marL="109728" indent="0">
              <a:buNone/>
            </a:pPr>
            <a:r>
              <a:rPr lang="tr-TR" dirty="0" smtClean="0"/>
              <a:t>                   D        AP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              (a)           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                       A(</a:t>
            </a:r>
            <a:r>
              <a:rPr lang="tr-TR" dirty="0" err="1" smtClean="0"/>
              <a:t>red</a:t>
            </a:r>
            <a:r>
              <a:rPr lang="tr-TR" dirty="0" smtClean="0"/>
              <a:t>)  N (</a:t>
            </a:r>
            <a:r>
              <a:rPr lang="tr-TR" dirty="0" err="1" smtClean="0"/>
              <a:t>book</a:t>
            </a:r>
            <a:r>
              <a:rPr lang="tr-TR" dirty="0" smtClean="0"/>
              <a:t>)</a:t>
            </a:r>
            <a:endParaRPr lang="en-GB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Binary</a:t>
            </a:r>
            <a:r>
              <a:rPr lang="tr-TR" dirty="0" smtClean="0"/>
              <a:t> </a:t>
            </a:r>
            <a:r>
              <a:rPr lang="tr-TR" dirty="0" err="1" smtClean="0"/>
              <a:t>Parameter</a:t>
            </a:r>
            <a:endParaRPr lang="en-GB" dirty="0"/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2411760" y="3933056"/>
            <a:ext cx="28803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üz Ok Bağlayıcısı 6"/>
          <p:cNvCxnSpPr/>
          <p:nvPr/>
        </p:nvCxnSpPr>
        <p:spPr>
          <a:xfrm>
            <a:off x="2978080" y="3985726"/>
            <a:ext cx="36004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Ok Bağlayıcısı 7"/>
          <p:cNvCxnSpPr/>
          <p:nvPr/>
        </p:nvCxnSpPr>
        <p:spPr>
          <a:xfrm flipH="1">
            <a:off x="2978080" y="4784564"/>
            <a:ext cx="28803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üz Ok Bağlayıcısı 8"/>
          <p:cNvCxnSpPr/>
          <p:nvPr/>
        </p:nvCxnSpPr>
        <p:spPr>
          <a:xfrm>
            <a:off x="3666319" y="4772997"/>
            <a:ext cx="216024" cy="3035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40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etin Yer Tutucusu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İçerik Yer Tutucusu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tr-TR" sz="2400" dirty="0" smtClean="0"/>
          </a:p>
          <a:p>
            <a:endParaRPr lang="tr-TR" sz="2400" dirty="0"/>
          </a:p>
          <a:p>
            <a:endParaRPr lang="tr-TR" sz="2400" dirty="0" smtClean="0"/>
          </a:p>
          <a:p>
            <a:r>
              <a:rPr lang="en-US" sz="2400" dirty="0" smtClean="0"/>
              <a:t>From an </a:t>
            </a:r>
            <a:r>
              <a:rPr lang="en-US" sz="2400" dirty="0" err="1" smtClean="0"/>
              <a:t>acqus</a:t>
            </a:r>
            <a:r>
              <a:rPr lang="tr-TR" sz="2400" dirty="0" err="1" smtClean="0"/>
              <a:t>itional</a:t>
            </a:r>
            <a:r>
              <a:rPr lang="tr-TR" sz="2400" dirty="0" smtClean="0"/>
              <a:t> </a:t>
            </a:r>
            <a:r>
              <a:rPr lang="en-US" sz="2400" dirty="0" smtClean="0"/>
              <a:t> point of view, children equipped with Universal Grammar do not need to discover that language is structured into phrases  as this principle forms a blueprint in mind. So, they know that all phrases in the language they are learning are going to be ordered in relation to the head. </a:t>
            </a:r>
          </a:p>
          <a:p>
            <a:endParaRPr lang="en-US" sz="2400" dirty="0"/>
          </a:p>
        </p:txBody>
      </p:sp>
      <p:pic>
        <p:nvPicPr>
          <p:cNvPr id="1026" name="Picture 2" descr="C:\Users\ASUS\Desktop\Gears Instead of Bra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861048"/>
            <a:ext cx="38100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73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109728" indent="0">
              <a:buNone/>
            </a:pPr>
            <a:endParaRPr lang="tr-TR" sz="4100" b="1" dirty="0" smtClean="0"/>
          </a:p>
          <a:p>
            <a:pPr marL="109728" indent="0">
              <a:buNone/>
            </a:pPr>
            <a:endParaRPr lang="tr-TR" sz="4100" b="1" dirty="0"/>
          </a:p>
          <a:p>
            <a:pPr marL="109728" indent="0">
              <a:buNone/>
            </a:pPr>
            <a:r>
              <a:rPr lang="tr-TR" sz="4100" b="1" dirty="0" err="1" smtClean="0"/>
              <a:t>Governing</a:t>
            </a:r>
            <a:r>
              <a:rPr lang="tr-TR" sz="4100" b="1" dirty="0" smtClean="0"/>
              <a:t> </a:t>
            </a:r>
            <a:r>
              <a:rPr lang="tr-TR" sz="4100" b="1" dirty="0" err="1" smtClean="0"/>
              <a:t>Category</a:t>
            </a:r>
            <a:r>
              <a:rPr lang="tr-TR" sz="4100" b="1" dirty="0" smtClean="0"/>
              <a:t> </a:t>
            </a:r>
            <a:r>
              <a:rPr lang="tr-TR" sz="4100" b="1" dirty="0" err="1" smtClean="0"/>
              <a:t>Parameter</a:t>
            </a:r>
            <a:endParaRPr lang="tr-TR" sz="4100" b="1" dirty="0" smtClean="0"/>
          </a:p>
          <a:p>
            <a:pPr marL="109728" indent="0">
              <a:buNone/>
            </a:pPr>
            <a:endParaRPr lang="tr-TR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3300" dirty="0" smtClean="0"/>
              <a:t>It can be exemplified by the precise relationship between </a:t>
            </a:r>
            <a:r>
              <a:rPr lang="en-US" sz="3300" i="1" dirty="0" smtClean="0"/>
              <a:t>reflexives and their Noun- Phrase an</a:t>
            </a:r>
            <a:r>
              <a:rPr lang="tr-TR" sz="3300" i="1" dirty="0" smtClean="0"/>
              <a:t>te</a:t>
            </a:r>
            <a:r>
              <a:rPr lang="en-US" sz="3300" i="1" dirty="0" err="1" smtClean="0"/>
              <a:t>cedents</a:t>
            </a:r>
            <a:r>
              <a:rPr lang="en-US" sz="3300" i="1" dirty="0" smtClean="0"/>
              <a:t>.</a:t>
            </a:r>
          </a:p>
          <a:p>
            <a:pPr marL="109728" indent="0">
              <a:buNone/>
            </a:pPr>
            <a:endParaRPr lang="en-US" sz="3300" i="1" dirty="0" smtClean="0"/>
          </a:p>
          <a:p>
            <a:pPr marL="109728" indent="0">
              <a:buNone/>
            </a:pPr>
            <a:r>
              <a:rPr lang="en-US" sz="3300" i="1" dirty="0" smtClean="0"/>
              <a:t> Ex: Mark wanted Tom to treat himself .</a:t>
            </a:r>
          </a:p>
          <a:p>
            <a:pPr marL="109728" indent="0">
              <a:buNone/>
            </a:pPr>
            <a:r>
              <a:rPr lang="en-US" sz="3300" i="1" dirty="0" smtClean="0"/>
              <a:t>     </a:t>
            </a:r>
          </a:p>
          <a:p>
            <a:r>
              <a:rPr lang="en-US" sz="3300" i="1" dirty="0" smtClean="0"/>
              <a:t> Himself </a:t>
            </a:r>
            <a:r>
              <a:rPr lang="en-US" sz="3300" dirty="0" smtClean="0"/>
              <a:t>can only refer to Tom</a:t>
            </a:r>
            <a:r>
              <a:rPr lang="en-US" sz="3300" i="1" dirty="0" smtClean="0"/>
              <a:t>, </a:t>
            </a:r>
            <a:r>
              <a:rPr lang="en-US" sz="3300" dirty="0" smtClean="0"/>
              <a:t>not to Mark as the reflexive must be bound with a local domain in English. In other languages that allow long binding such as Chinese, </a:t>
            </a:r>
            <a:r>
              <a:rPr lang="en-US" sz="3300" i="1" dirty="0" smtClean="0"/>
              <a:t>himself </a:t>
            </a:r>
            <a:r>
              <a:rPr lang="en-US" sz="3300" dirty="0" smtClean="0"/>
              <a:t>can refer to either Tom or Mark.</a:t>
            </a:r>
          </a:p>
          <a:p>
            <a:pPr marL="109728" indent="0">
              <a:buNone/>
            </a:pPr>
            <a:endParaRPr lang="tr-TR" sz="2800" dirty="0"/>
          </a:p>
          <a:p>
            <a:pPr marL="109728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8498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904112" y="328416"/>
            <a:ext cx="7479792" cy="6529583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tr-TR" sz="2800" b="1" dirty="0" err="1" smtClean="0"/>
              <a:t>Paramedics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regarding</a:t>
            </a:r>
            <a:r>
              <a:rPr lang="tr-TR" sz="2800" b="1" dirty="0" smtClean="0"/>
              <a:t> a </a:t>
            </a:r>
            <a:r>
              <a:rPr lang="tr-TR" sz="2800" b="1" dirty="0" err="1" smtClean="0"/>
              <a:t>functional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category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Inflection</a:t>
            </a:r>
            <a:r>
              <a:rPr lang="tr-TR" sz="2800" b="1" dirty="0" smtClean="0"/>
              <a:t>. </a:t>
            </a:r>
          </a:p>
          <a:p>
            <a:pPr marL="109728" indent="0">
              <a:buNone/>
            </a:pPr>
            <a:r>
              <a:rPr lang="tr-TR" sz="2400" dirty="0" err="1" smtClean="0"/>
              <a:t>Features</a:t>
            </a:r>
            <a:r>
              <a:rPr lang="tr-TR" sz="2400" dirty="0" smtClean="0"/>
              <a:t> </a:t>
            </a:r>
            <a:r>
              <a:rPr lang="tr-TR" sz="2400" dirty="0" err="1" smtClean="0"/>
              <a:t>associated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</a:t>
            </a:r>
            <a:r>
              <a:rPr lang="tr-TR" sz="2400" dirty="0" err="1" smtClean="0"/>
              <a:t>functional</a:t>
            </a:r>
            <a:r>
              <a:rPr lang="tr-TR" sz="2400" dirty="0" smtClean="0"/>
              <a:t> </a:t>
            </a:r>
            <a:r>
              <a:rPr lang="tr-TR" sz="2400" dirty="0" err="1" smtClean="0"/>
              <a:t>categories</a:t>
            </a:r>
            <a:r>
              <a:rPr lang="tr-TR" sz="2400" dirty="0" smtClean="0"/>
              <a:t> can be </a:t>
            </a:r>
            <a:r>
              <a:rPr lang="tr-TR" sz="2400" dirty="0" err="1" smtClean="0"/>
              <a:t>either</a:t>
            </a:r>
            <a:r>
              <a:rPr lang="tr-TR" sz="2400" dirty="0" smtClean="0"/>
              <a:t> </a:t>
            </a:r>
            <a:r>
              <a:rPr lang="tr-TR" sz="2400" dirty="0" err="1" smtClean="0"/>
              <a:t>weak</a:t>
            </a:r>
            <a:r>
              <a:rPr lang="tr-TR" sz="2400" dirty="0" smtClean="0"/>
              <a:t> </a:t>
            </a:r>
            <a:r>
              <a:rPr lang="tr-TR" sz="2400" dirty="0" err="1" smtClean="0"/>
              <a:t>or</a:t>
            </a:r>
            <a:r>
              <a:rPr lang="tr-TR" sz="2400" dirty="0" smtClean="0"/>
              <a:t> </a:t>
            </a:r>
            <a:r>
              <a:rPr lang="tr-TR" sz="2400" dirty="0" err="1" smtClean="0"/>
              <a:t>strong</a:t>
            </a:r>
            <a:r>
              <a:rPr lang="tr-TR" sz="2400" dirty="0" smtClean="0"/>
              <a:t> , </a:t>
            </a:r>
            <a:r>
              <a:rPr lang="tr-TR" sz="2400" dirty="0" err="1" smtClean="0"/>
              <a:t>with</a:t>
            </a:r>
            <a:r>
              <a:rPr lang="tr-TR" sz="2400" dirty="0" smtClean="0"/>
              <a:t> </a:t>
            </a:r>
            <a:r>
              <a:rPr lang="tr-TR" sz="2400" dirty="0" err="1" smtClean="0"/>
              <a:t>implications</a:t>
            </a:r>
            <a:r>
              <a:rPr lang="tr-TR" sz="2400" dirty="0" smtClean="0"/>
              <a:t> </a:t>
            </a:r>
            <a:r>
              <a:rPr lang="tr-TR" sz="2400" dirty="0" err="1" smtClean="0"/>
              <a:t>for</a:t>
            </a:r>
            <a:r>
              <a:rPr lang="tr-TR" sz="2400" dirty="0" smtClean="0"/>
              <a:t> </a:t>
            </a:r>
            <a:r>
              <a:rPr lang="tr-TR" sz="2400" dirty="0" err="1" smtClean="0"/>
              <a:t>syntactic</a:t>
            </a:r>
            <a:r>
              <a:rPr lang="tr-TR" sz="2400" dirty="0" smtClean="0"/>
              <a:t> </a:t>
            </a:r>
            <a:r>
              <a:rPr lang="tr-TR" sz="2400" dirty="0" err="1" smtClean="0"/>
              <a:t>properties</a:t>
            </a:r>
            <a:r>
              <a:rPr lang="tr-TR" sz="2400" dirty="0" smtClean="0"/>
              <a:t> of </a:t>
            </a:r>
            <a:r>
              <a:rPr lang="tr-TR" sz="2400" dirty="0" err="1" smtClean="0"/>
              <a:t>that</a:t>
            </a:r>
            <a:r>
              <a:rPr lang="tr-TR" sz="2400" dirty="0" smtClean="0"/>
              <a:t> </a:t>
            </a:r>
            <a:r>
              <a:rPr lang="tr-TR" sz="2400" dirty="0" err="1" smtClean="0"/>
              <a:t>language</a:t>
            </a:r>
            <a:r>
              <a:rPr lang="tr-TR" sz="2400" dirty="0" smtClean="0"/>
              <a:t>.</a:t>
            </a:r>
          </a:p>
          <a:p>
            <a:pPr marL="109728" indent="0">
              <a:buNone/>
            </a:pPr>
            <a:r>
              <a:rPr lang="tr-TR" sz="2400" dirty="0" err="1" smtClean="0"/>
              <a:t>Ex</a:t>
            </a:r>
            <a:r>
              <a:rPr lang="tr-TR" sz="2400" dirty="0" smtClean="0"/>
              <a:t> :     English  IP                             French  IP</a:t>
            </a:r>
            <a:endParaRPr lang="tr-TR" sz="2400" dirty="0"/>
          </a:p>
          <a:p>
            <a:pPr marL="109728" indent="0">
              <a:buNone/>
            </a:pPr>
            <a:endParaRPr lang="tr-TR" sz="2400" dirty="0" smtClean="0"/>
          </a:p>
          <a:p>
            <a:pPr marL="109728" indent="0">
              <a:buNone/>
            </a:pPr>
            <a:r>
              <a:rPr lang="tr-TR" sz="2400" dirty="0"/>
              <a:t> </a:t>
            </a:r>
            <a:r>
              <a:rPr lang="tr-TR" sz="2400" dirty="0" smtClean="0"/>
              <a:t>                 </a:t>
            </a:r>
            <a:r>
              <a:rPr lang="tr-TR" sz="2400" dirty="0" err="1" smtClean="0"/>
              <a:t>Spec</a:t>
            </a:r>
            <a:r>
              <a:rPr lang="tr-TR" sz="2400" dirty="0" smtClean="0"/>
              <a:t>     I’                              </a:t>
            </a:r>
            <a:r>
              <a:rPr lang="tr-TR" sz="2400" dirty="0" err="1" smtClean="0"/>
              <a:t>Spec</a:t>
            </a:r>
            <a:r>
              <a:rPr lang="tr-TR" sz="2400" dirty="0" smtClean="0"/>
              <a:t>        I’</a:t>
            </a:r>
          </a:p>
          <a:p>
            <a:pPr marL="109728" indent="0">
              <a:buNone/>
            </a:pPr>
            <a:r>
              <a:rPr lang="tr-TR" sz="2400" dirty="0"/>
              <a:t> </a:t>
            </a:r>
            <a:r>
              <a:rPr lang="tr-TR" sz="2400" dirty="0" smtClean="0"/>
              <a:t>                            I    VP                                   I        VP   </a:t>
            </a:r>
          </a:p>
          <a:p>
            <a:pPr marL="109728" indent="0">
              <a:buNone/>
            </a:pPr>
            <a:r>
              <a:rPr lang="tr-TR" sz="2400" dirty="0"/>
              <a:t> </a:t>
            </a:r>
            <a:r>
              <a:rPr lang="tr-TR" sz="2400" dirty="0" smtClean="0"/>
              <a:t>                              </a:t>
            </a:r>
            <a:r>
              <a:rPr lang="tr-TR" sz="2400" dirty="0" err="1" smtClean="0"/>
              <a:t>Adv</a:t>
            </a:r>
            <a:r>
              <a:rPr lang="tr-TR" sz="2400" dirty="0" smtClean="0"/>
              <a:t>       V</a:t>
            </a:r>
            <a:r>
              <a:rPr lang="tr-TR" sz="2000" dirty="0" smtClean="0"/>
              <a:t>’                         </a:t>
            </a:r>
            <a:r>
              <a:rPr lang="tr-TR" sz="2000" dirty="0" err="1" smtClean="0"/>
              <a:t>joue</a:t>
            </a:r>
            <a:r>
              <a:rPr lang="tr-TR" sz="2000" dirty="0" smtClean="0"/>
              <a:t>        </a:t>
            </a:r>
          </a:p>
          <a:p>
            <a:pPr marL="109728" indent="0">
              <a:buNone/>
            </a:pPr>
            <a:r>
              <a:rPr lang="tr-TR" sz="2400" dirty="0"/>
              <a:t> </a:t>
            </a:r>
            <a:r>
              <a:rPr lang="tr-TR" sz="2400" dirty="0" smtClean="0"/>
              <a:t>                            </a:t>
            </a:r>
            <a:r>
              <a:rPr lang="tr-TR" sz="2000" dirty="0" err="1" smtClean="0"/>
              <a:t>always</a:t>
            </a:r>
            <a:r>
              <a:rPr lang="tr-TR" sz="2400" dirty="0" smtClean="0"/>
              <a:t>                                     </a:t>
            </a:r>
            <a:r>
              <a:rPr lang="tr-TR" sz="2400" dirty="0" err="1" smtClean="0"/>
              <a:t>Adv</a:t>
            </a:r>
            <a:r>
              <a:rPr lang="tr-TR" sz="2400" dirty="0" smtClean="0"/>
              <a:t>      V’</a:t>
            </a:r>
          </a:p>
          <a:p>
            <a:pPr marL="109728" indent="0">
              <a:buNone/>
            </a:pPr>
            <a:r>
              <a:rPr lang="tr-TR" sz="2400" dirty="0"/>
              <a:t> </a:t>
            </a:r>
            <a:r>
              <a:rPr lang="tr-TR" sz="2400" dirty="0" smtClean="0"/>
              <a:t>                                       V     NP              </a:t>
            </a:r>
            <a:r>
              <a:rPr lang="tr-TR" sz="2000" dirty="0" err="1" smtClean="0"/>
              <a:t>toujours</a:t>
            </a:r>
            <a:r>
              <a:rPr lang="tr-TR" sz="2400" dirty="0" smtClean="0"/>
              <a:t>          </a:t>
            </a:r>
          </a:p>
          <a:p>
            <a:pPr marL="109728" indent="0">
              <a:buNone/>
            </a:pPr>
            <a:r>
              <a:rPr lang="tr-TR" sz="2000" dirty="0"/>
              <a:t> </a:t>
            </a:r>
            <a:r>
              <a:rPr lang="tr-TR" sz="2000" dirty="0" smtClean="0"/>
              <a:t>                                    </a:t>
            </a:r>
            <a:r>
              <a:rPr lang="tr-TR" sz="2000" dirty="0" err="1" smtClean="0"/>
              <a:t>play</a:t>
            </a:r>
            <a:r>
              <a:rPr lang="tr-TR" sz="2000" dirty="0" smtClean="0"/>
              <a:t>   </a:t>
            </a:r>
            <a:r>
              <a:rPr lang="tr-TR" sz="2000" dirty="0" err="1" smtClean="0"/>
              <a:t>football</a:t>
            </a:r>
            <a:r>
              <a:rPr lang="tr-TR" sz="2000" dirty="0" smtClean="0"/>
              <a:t>                                      </a:t>
            </a:r>
            <a:r>
              <a:rPr lang="tr-TR" sz="2400" dirty="0" smtClean="0"/>
              <a:t>V      PP       </a:t>
            </a:r>
          </a:p>
          <a:p>
            <a:pPr marL="109728" indent="0">
              <a:buNone/>
            </a:pPr>
            <a:r>
              <a:rPr lang="tr-TR" sz="2000" dirty="0" smtClean="0"/>
              <a:t>                                                                                   </a:t>
            </a:r>
            <a:r>
              <a:rPr lang="tr-TR" sz="2000" dirty="0" smtClean="0"/>
              <a:t>t(i)          </a:t>
            </a:r>
            <a:r>
              <a:rPr lang="tr-TR" sz="2000" dirty="0" smtClean="0"/>
              <a:t>P        NP    </a:t>
            </a:r>
          </a:p>
          <a:p>
            <a:pPr marL="109728" indent="0">
              <a:buNone/>
            </a:pPr>
            <a:r>
              <a:rPr lang="tr-TR" sz="2000" dirty="0"/>
              <a:t> </a:t>
            </a:r>
            <a:r>
              <a:rPr lang="tr-TR" sz="2000" dirty="0" smtClean="0"/>
              <a:t>                                                                                     </a:t>
            </a:r>
            <a:r>
              <a:rPr lang="tr-TR" sz="2000" dirty="0" smtClean="0"/>
              <a:t>    </a:t>
            </a:r>
            <a:r>
              <a:rPr lang="tr-TR" sz="2000" dirty="0" err="1" smtClean="0"/>
              <a:t>au</a:t>
            </a:r>
            <a:r>
              <a:rPr lang="tr-TR" sz="2000" dirty="0" smtClean="0"/>
              <a:t>    </a:t>
            </a:r>
            <a:r>
              <a:rPr lang="tr-TR" sz="2000" dirty="0" err="1" smtClean="0"/>
              <a:t>football</a:t>
            </a:r>
            <a:r>
              <a:rPr lang="tr-TR" sz="2000" dirty="0" smtClean="0"/>
              <a:t> </a:t>
            </a:r>
          </a:p>
          <a:p>
            <a:pPr marL="109728" indent="0">
              <a:buNone/>
            </a:pPr>
            <a:r>
              <a:rPr lang="tr-TR" sz="2000" dirty="0" err="1" smtClean="0"/>
              <a:t>Paramedic</a:t>
            </a:r>
            <a:r>
              <a:rPr lang="tr-TR" sz="2000" dirty="0" smtClean="0"/>
              <a:t> </a:t>
            </a:r>
            <a:r>
              <a:rPr lang="tr-TR" sz="2000" dirty="0" err="1" smtClean="0"/>
              <a:t>variation</a:t>
            </a:r>
            <a:r>
              <a:rPr lang="tr-TR" sz="2000" dirty="0" smtClean="0"/>
              <a:t> </a:t>
            </a:r>
            <a:r>
              <a:rPr lang="tr-TR" sz="2000" dirty="0" err="1" smtClean="0"/>
              <a:t>for</a:t>
            </a:r>
            <a:r>
              <a:rPr lang="tr-TR" sz="2000" dirty="0" smtClean="0"/>
              <a:t> a </a:t>
            </a:r>
            <a:r>
              <a:rPr lang="tr-TR" sz="2000" dirty="0" err="1" smtClean="0"/>
              <a:t>functional</a:t>
            </a:r>
            <a:r>
              <a:rPr lang="tr-TR" sz="2000" dirty="0" smtClean="0"/>
              <a:t> </a:t>
            </a:r>
            <a:r>
              <a:rPr lang="tr-TR" sz="2000" dirty="0" err="1" smtClean="0"/>
              <a:t>category</a:t>
            </a:r>
            <a:r>
              <a:rPr lang="tr-TR" sz="2000" dirty="0" smtClean="0"/>
              <a:t> in </a:t>
            </a:r>
            <a:r>
              <a:rPr lang="tr-TR" sz="2000" dirty="0" err="1" smtClean="0"/>
              <a:t>Eng</a:t>
            </a:r>
            <a:r>
              <a:rPr lang="tr-TR" sz="2000" dirty="0" smtClean="0"/>
              <a:t>. </a:t>
            </a:r>
            <a:r>
              <a:rPr lang="tr-TR" sz="2000" dirty="0" err="1" smtClean="0"/>
              <a:t>And</a:t>
            </a:r>
            <a:r>
              <a:rPr lang="tr-TR" sz="2000" dirty="0" smtClean="0"/>
              <a:t> French.     </a:t>
            </a:r>
            <a:endParaRPr lang="en-GB" sz="2000" dirty="0"/>
          </a:p>
        </p:txBody>
      </p:sp>
      <p:cxnSp>
        <p:nvCxnSpPr>
          <p:cNvPr id="6" name="Düz Ok Bağlayıcısı 5"/>
          <p:cNvCxnSpPr/>
          <p:nvPr/>
        </p:nvCxnSpPr>
        <p:spPr>
          <a:xfrm flipH="1">
            <a:off x="2771032" y="2780928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Ok Bağlayıcısı 7"/>
          <p:cNvCxnSpPr/>
          <p:nvPr/>
        </p:nvCxnSpPr>
        <p:spPr>
          <a:xfrm>
            <a:off x="3258872" y="2735599"/>
            <a:ext cx="36004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üz Ok Bağlayıcısı 8"/>
          <p:cNvCxnSpPr/>
          <p:nvPr/>
        </p:nvCxnSpPr>
        <p:spPr>
          <a:xfrm flipH="1">
            <a:off x="3311092" y="3469134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/>
          <p:cNvCxnSpPr/>
          <p:nvPr/>
        </p:nvCxnSpPr>
        <p:spPr>
          <a:xfrm flipH="1">
            <a:off x="3486319" y="3933056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Düz Ok Bağlayıcısı 10"/>
          <p:cNvCxnSpPr/>
          <p:nvPr/>
        </p:nvCxnSpPr>
        <p:spPr>
          <a:xfrm flipH="1">
            <a:off x="4211960" y="4522017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/>
          <p:cNvCxnSpPr/>
          <p:nvPr/>
        </p:nvCxnSpPr>
        <p:spPr>
          <a:xfrm>
            <a:off x="3645914" y="3489933"/>
            <a:ext cx="36004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Düz Ok Bağlayıcısı 12"/>
          <p:cNvCxnSpPr/>
          <p:nvPr/>
        </p:nvCxnSpPr>
        <p:spPr>
          <a:xfrm>
            <a:off x="4031940" y="3832195"/>
            <a:ext cx="36004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>
            <a:off x="4644008" y="4529168"/>
            <a:ext cx="36004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 flipH="1">
            <a:off x="6156176" y="2888940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 flipH="1">
            <a:off x="6876256" y="3584560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/>
          <p:cNvCxnSpPr/>
          <p:nvPr/>
        </p:nvCxnSpPr>
        <p:spPr>
          <a:xfrm flipH="1">
            <a:off x="7164288" y="4162990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 flipH="1">
            <a:off x="7452320" y="5013176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/>
          <p:cNvCxnSpPr/>
          <p:nvPr/>
        </p:nvCxnSpPr>
        <p:spPr>
          <a:xfrm>
            <a:off x="6696236" y="2863240"/>
            <a:ext cx="36004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7236296" y="3498451"/>
            <a:ext cx="36004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7596336" y="4054978"/>
            <a:ext cx="36004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>
            <a:off x="7931042" y="4905164"/>
            <a:ext cx="36004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7958631" y="5589240"/>
            <a:ext cx="36004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 flipH="1">
            <a:off x="7164288" y="5636319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Yukarı Bükülü Ok 4"/>
          <p:cNvSpPr/>
          <p:nvPr/>
        </p:nvSpPr>
        <p:spPr>
          <a:xfrm flipH="1">
            <a:off x="6156175" y="4563329"/>
            <a:ext cx="270030" cy="158134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005064"/>
            <a:ext cx="2597308" cy="2691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400" dirty="0" err="1" smtClean="0"/>
              <a:t>Inf</a:t>
            </a:r>
            <a:r>
              <a:rPr lang="tr-TR" sz="2400" dirty="0" smtClean="0"/>
              <a:t>. </a:t>
            </a:r>
            <a:r>
              <a:rPr lang="tr-TR" sz="2400" dirty="0"/>
              <a:t>i</a:t>
            </a:r>
            <a:r>
              <a:rPr lang="tr-TR" sz="2400" dirty="0" smtClean="0"/>
              <a:t>n English is </a:t>
            </a:r>
            <a:r>
              <a:rPr lang="tr-TR" sz="2400" dirty="0" err="1" smtClean="0"/>
              <a:t>weak</a:t>
            </a:r>
            <a:r>
              <a:rPr lang="tr-TR" sz="2400" dirty="0" smtClean="0"/>
              <a:t> </a:t>
            </a:r>
            <a:r>
              <a:rPr lang="tr-TR" sz="2400" dirty="0" err="1" smtClean="0"/>
              <a:t>while</a:t>
            </a:r>
            <a:r>
              <a:rPr lang="tr-TR" sz="2400" dirty="0" smtClean="0"/>
              <a:t> it is </a:t>
            </a:r>
            <a:r>
              <a:rPr lang="tr-TR" sz="2400" dirty="0" err="1" smtClean="0"/>
              <a:t>strong</a:t>
            </a:r>
            <a:r>
              <a:rPr lang="tr-TR" sz="2400" dirty="0" smtClean="0"/>
              <a:t> in French. </a:t>
            </a:r>
          </a:p>
          <a:p>
            <a:pPr marL="109728" indent="0">
              <a:buNone/>
            </a:pPr>
            <a:endParaRPr lang="tr-TR" sz="2400" dirty="0" smtClean="0"/>
          </a:p>
          <a:p>
            <a:r>
              <a:rPr lang="tr-TR" sz="2400" dirty="0" err="1" smtClean="0"/>
              <a:t>In</a:t>
            </a:r>
            <a:r>
              <a:rPr lang="tr-TR" sz="2400" dirty="0" smtClean="0"/>
              <a:t> English </a:t>
            </a:r>
            <a:r>
              <a:rPr lang="tr-TR" sz="2400" dirty="0" err="1" smtClean="0"/>
              <a:t>verb</a:t>
            </a:r>
            <a:r>
              <a:rPr lang="tr-TR" sz="2400" dirty="0" smtClean="0"/>
              <a:t> </a:t>
            </a:r>
            <a:r>
              <a:rPr lang="tr-TR" sz="2400" dirty="0" err="1" smtClean="0"/>
              <a:t>remains</a:t>
            </a:r>
            <a:r>
              <a:rPr lang="tr-TR" sz="2400" dirty="0" smtClean="0"/>
              <a:t> as VP. </a:t>
            </a:r>
            <a:r>
              <a:rPr lang="tr-TR" sz="2400" dirty="0" err="1" smtClean="0"/>
              <a:t>In</a:t>
            </a:r>
            <a:r>
              <a:rPr lang="tr-TR" sz="2400" dirty="0" smtClean="0"/>
              <a:t> French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verb</a:t>
            </a:r>
            <a:r>
              <a:rPr lang="tr-TR" sz="2400" dirty="0" smtClean="0"/>
              <a:t> has </a:t>
            </a:r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rise</a:t>
            </a:r>
            <a:r>
              <a:rPr lang="tr-TR" sz="2400" dirty="0" smtClean="0"/>
              <a:t> </a:t>
            </a:r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the</a:t>
            </a:r>
            <a:r>
              <a:rPr lang="tr-TR" sz="2400" dirty="0" smtClean="0"/>
              <a:t> I </a:t>
            </a:r>
            <a:r>
              <a:rPr lang="tr-TR" sz="2400" dirty="0" err="1" smtClean="0"/>
              <a:t>position</a:t>
            </a:r>
            <a:r>
              <a:rPr lang="tr-TR" sz="2400" dirty="0" smtClean="0"/>
              <a:t> </a:t>
            </a:r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pick</a:t>
            </a:r>
            <a:r>
              <a:rPr lang="tr-TR" sz="2400" dirty="0" smtClean="0"/>
              <a:t> </a:t>
            </a:r>
            <a:r>
              <a:rPr lang="tr-TR" sz="2400" dirty="0" err="1" smtClean="0"/>
              <a:t>up</a:t>
            </a:r>
            <a:r>
              <a:rPr lang="tr-TR" sz="2400" dirty="0" smtClean="0"/>
              <a:t> tense </a:t>
            </a:r>
            <a:r>
              <a:rPr lang="tr-TR" sz="2400" dirty="0" err="1" smtClean="0"/>
              <a:t>and</a:t>
            </a:r>
            <a:r>
              <a:rPr lang="tr-TR" sz="2400" dirty="0" smtClean="0"/>
              <a:t> </a:t>
            </a:r>
            <a:r>
              <a:rPr lang="tr-TR" sz="2400" dirty="0" err="1" smtClean="0"/>
              <a:t>agreement</a:t>
            </a:r>
            <a:r>
              <a:rPr lang="tr-TR" sz="2400" dirty="0" smtClean="0"/>
              <a:t>  </a:t>
            </a:r>
            <a:r>
              <a:rPr lang="tr-TR" sz="2400" dirty="0" err="1" smtClean="0"/>
              <a:t>within</a:t>
            </a:r>
            <a:r>
              <a:rPr lang="tr-TR" sz="2400" dirty="0" smtClean="0"/>
              <a:t> an </a:t>
            </a:r>
            <a:r>
              <a:rPr lang="tr-TR" sz="2400" dirty="0" err="1" smtClean="0"/>
              <a:t>Inflectional</a:t>
            </a:r>
            <a:r>
              <a:rPr lang="tr-TR" sz="2400" dirty="0" smtClean="0"/>
              <a:t> </a:t>
            </a:r>
            <a:r>
              <a:rPr lang="tr-TR" sz="2400" dirty="0" err="1" smtClean="0"/>
              <a:t>Phrase</a:t>
            </a:r>
            <a:r>
              <a:rPr lang="tr-TR" sz="2400" dirty="0" smtClean="0"/>
              <a:t>. </a:t>
            </a:r>
          </a:p>
          <a:p>
            <a:r>
              <a:rPr lang="tr-TR" sz="2400" dirty="0" err="1" smtClean="0"/>
              <a:t>So</a:t>
            </a:r>
            <a:r>
              <a:rPr lang="tr-TR" sz="2400" dirty="0" smtClean="0"/>
              <a:t>, </a:t>
            </a:r>
            <a:r>
              <a:rPr lang="tr-TR" sz="2400" dirty="0" err="1" smtClean="0"/>
              <a:t>all</a:t>
            </a:r>
            <a:r>
              <a:rPr lang="tr-TR" sz="2400" dirty="0" smtClean="0"/>
              <a:t> </a:t>
            </a:r>
            <a:r>
              <a:rPr lang="tr-TR" sz="2400" dirty="0" err="1" smtClean="0"/>
              <a:t>learners</a:t>
            </a:r>
            <a:r>
              <a:rPr lang="tr-TR" sz="2400" dirty="0" smtClean="0"/>
              <a:t> </a:t>
            </a:r>
            <a:r>
              <a:rPr lang="tr-TR" sz="2400" dirty="0" err="1" smtClean="0"/>
              <a:t>have</a:t>
            </a:r>
            <a:r>
              <a:rPr lang="tr-TR" sz="2400" dirty="0" smtClean="0"/>
              <a:t> </a:t>
            </a:r>
            <a:r>
              <a:rPr lang="tr-TR" sz="2400" dirty="0" err="1" smtClean="0"/>
              <a:t>to</a:t>
            </a:r>
            <a:r>
              <a:rPr lang="tr-TR" sz="2400" dirty="0" smtClean="0"/>
              <a:t> do is set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parameter</a:t>
            </a:r>
            <a:r>
              <a:rPr lang="tr-TR" sz="2400" dirty="0" smtClean="0"/>
              <a:t> </a:t>
            </a:r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either</a:t>
            </a:r>
            <a:r>
              <a:rPr lang="tr-TR" sz="2400" dirty="0" smtClean="0"/>
              <a:t> </a:t>
            </a:r>
            <a:r>
              <a:rPr lang="tr-TR" sz="2400" dirty="0" err="1" smtClean="0"/>
              <a:t>weak</a:t>
            </a:r>
            <a:r>
              <a:rPr lang="tr-TR" sz="2400" dirty="0" smtClean="0"/>
              <a:t> </a:t>
            </a:r>
            <a:r>
              <a:rPr lang="tr-TR" sz="2400" dirty="0" err="1" smtClean="0"/>
              <a:t>or</a:t>
            </a:r>
            <a:r>
              <a:rPr lang="tr-TR" sz="2400" dirty="0" smtClean="0"/>
              <a:t> </a:t>
            </a:r>
            <a:r>
              <a:rPr lang="tr-TR" sz="2400" dirty="0" err="1" smtClean="0"/>
              <a:t>strong</a:t>
            </a:r>
            <a:r>
              <a:rPr lang="tr-TR" sz="2400" dirty="0" smtClean="0"/>
              <a:t>  on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basis</a:t>
            </a:r>
            <a:r>
              <a:rPr lang="tr-TR" sz="2400" dirty="0" smtClean="0"/>
              <a:t> of </a:t>
            </a:r>
            <a:r>
              <a:rPr lang="tr-TR" sz="2400" dirty="0" err="1" smtClean="0"/>
              <a:t>input</a:t>
            </a:r>
            <a:r>
              <a:rPr lang="tr-TR" sz="2400" dirty="0" smtClean="0"/>
              <a:t>. </a:t>
            </a:r>
          </a:p>
          <a:p>
            <a:endParaRPr lang="tr-TR" sz="2400" dirty="0" smtClean="0"/>
          </a:p>
          <a:p>
            <a:r>
              <a:rPr lang="tr-TR" sz="2400" dirty="0" err="1" smtClean="0"/>
              <a:t>According</a:t>
            </a:r>
            <a:r>
              <a:rPr lang="tr-TR" sz="2400" dirty="0" smtClean="0"/>
              <a:t> </a:t>
            </a:r>
            <a:r>
              <a:rPr lang="tr-TR" sz="2400" dirty="0" err="1" smtClean="0"/>
              <a:t>to</a:t>
            </a:r>
            <a:r>
              <a:rPr lang="tr-TR" sz="2400" dirty="0" smtClean="0"/>
              <a:t> Chomsky, a </a:t>
            </a:r>
            <a:r>
              <a:rPr lang="tr-TR" sz="2400" dirty="0" err="1" smtClean="0"/>
              <a:t>language</a:t>
            </a:r>
            <a:r>
              <a:rPr lang="tr-TR" sz="2400" dirty="0" smtClean="0"/>
              <a:t> is not , </a:t>
            </a:r>
            <a:r>
              <a:rPr lang="tr-TR" sz="2400" dirty="0" err="1" smtClean="0"/>
              <a:t>then</a:t>
            </a:r>
            <a:r>
              <a:rPr lang="tr-TR" sz="2400" dirty="0" smtClean="0"/>
              <a:t> , a </a:t>
            </a:r>
            <a:r>
              <a:rPr lang="tr-TR" sz="2400" dirty="0" err="1" smtClean="0"/>
              <a:t>system</a:t>
            </a:r>
            <a:r>
              <a:rPr lang="tr-TR" sz="2400" dirty="0" smtClean="0"/>
              <a:t> of </a:t>
            </a:r>
            <a:r>
              <a:rPr lang="tr-TR" sz="2400" dirty="0" err="1" smtClean="0"/>
              <a:t>rules</a:t>
            </a:r>
            <a:r>
              <a:rPr lang="tr-TR" sz="2400" dirty="0" smtClean="0"/>
              <a:t> , but a set of </a:t>
            </a:r>
            <a:r>
              <a:rPr lang="tr-TR" sz="2400" dirty="0" err="1" smtClean="0"/>
              <a:t>specifications</a:t>
            </a:r>
            <a:r>
              <a:rPr lang="tr-TR" sz="2400" dirty="0" smtClean="0"/>
              <a:t> </a:t>
            </a:r>
            <a:r>
              <a:rPr lang="tr-TR" sz="2400" dirty="0" err="1" smtClean="0"/>
              <a:t>for</a:t>
            </a:r>
            <a:r>
              <a:rPr lang="tr-TR" sz="2400" dirty="0" smtClean="0"/>
              <a:t> </a:t>
            </a:r>
            <a:r>
              <a:rPr lang="tr-TR" sz="2400" dirty="0" err="1" smtClean="0"/>
              <a:t>parameters</a:t>
            </a:r>
            <a:r>
              <a:rPr lang="tr-TR" sz="2400" dirty="0" smtClean="0"/>
              <a:t> in an </a:t>
            </a:r>
            <a:r>
              <a:rPr lang="tr-TR" sz="2400" dirty="0" err="1" smtClean="0"/>
              <a:t>invariant</a:t>
            </a:r>
            <a:r>
              <a:rPr lang="tr-TR" sz="2400" dirty="0" smtClean="0"/>
              <a:t> </a:t>
            </a:r>
            <a:r>
              <a:rPr lang="tr-TR" sz="2400" dirty="0" err="1" smtClean="0"/>
              <a:t>system</a:t>
            </a:r>
            <a:r>
              <a:rPr lang="tr-TR" sz="2400" dirty="0" smtClean="0"/>
              <a:t> of </a:t>
            </a:r>
            <a:r>
              <a:rPr lang="tr-TR" sz="2400" dirty="0" err="1" smtClean="0"/>
              <a:t>principles</a:t>
            </a:r>
            <a:r>
              <a:rPr lang="tr-TR" sz="2400" dirty="0" smtClean="0"/>
              <a:t> of Universal </a:t>
            </a:r>
            <a:r>
              <a:rPr lang="tr-TR" sz="2400" dirty="0" err="1" smtClean="0"/>
              <a:t>Grammar</a:t>
            </a:r>
            <a:r>
              <a:rPr lang="tr-TR" sz="2400" dirty="0" smtClean="0"/>
              <a:t>.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2005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İçerik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is evidence </a:t>
            </a:r>
            <a:r>
              <a:rPr lang="en-US" dirty="0" smtClean="0"/>
              <a:t>f</a:t>
            </a:r>
            <a:r>
              <a:rPr lang="tr-TR" dirty="0" smtClean="0"/>
              <a:t>rom</a:t>
            </a:r>
            <a:r>
              <a:rPr lang="en-US" dirty="0" smtClean="0"/>
              <a:t> </a:t>
            </a:r>
            <a:r>
              <a:rPr lang="en-US" dirty="0" smtClean="0"/>
              <a:t>first language </a:t>
            </a:r>
            <a:r>
              <a:rPr lang="en-US" dirty="0" smtClean="0"/>
              <a:t>acquisition </a:t>
            </a:r>
            <a:r>
              <a:rPr lang="en-US" dirty="0" smtClean="0"/>
              <a:t>research that children have set the head parameter as early as two-word stage and they know how to project productively X</a:t>
            </a:r>
            <a:r>
              <a:rPr lang="tr-TR" dirty="0"/>
              <a:t> </a:t>
            </a:r>
            <a:r>
              <a:rPr lang="tr-TR" dirty="0" err="1" smtClean="0"/>
              <a:t>categories</a:t>
            </a:r>
            <a:r>
              <a:rPr lang="tr-TR" dirty="0" smtClean="0"/>
              <a:t> </a:t>
            </a:r>
            <a:r>
              <a:rPr lang="tr-TR" dirty="0" err="1" smtClean="0"/>
              <a:t>into</a:t>
            </a:r>
            <a:r>
              <a:rPr lang="tr-TR" dirty="0" smtClean="0"/>
              <a:t> X’ </a:t>
            </a:r>
            <a:r>
              <a:rPr lang="tr-TR" dirty="0" err="1" smtClean="0"/>
              <a:t>categories</a:t>
            </a:r>
            <a:r>
              <a:rPr lang="tr-TR" dirty="0" smtClean="0"/>
              <a:t> in XP </a:t>
            </a:r>
            <a:r>
              <a:rPr lang="tr-TR" dirty="0" err="1" smtClean="0"/>
              <a:t>categories</a:t>
            </a:r>
            <a:r>
              <a:rPr lang="tr-TR" dirty="0" smtClean="0"/>
              <a:t>. </a:t>
            </a:r>
          </a:p>
          <a:p>
            <a:r>
              <a:rPr lang="tr-TR" dirty="0"/>
              <a:t> </a:t>
            </a:r>
            <a:r>
              <a:rPr lang="tr-TR" dirty="0" err="1" smtClean="0"/>
              <a:t>Ex</a:t>
            </a:r>
            <a:r>
              <a:rPr lang="tr-TR" dirty="0" smtClean="0"/>
              <a:t>:             XP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  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         </a:t>
            </a:r>
            <a:r>
              <a:rPr lang="tr-TR" dirty="0" err="1" smtClean="0"/>
              <a:t>Specifier</a:t>
            </a:r>
            <a:r>
              <a:rPr lang="tr-TR" dirty="0" smtClean="0"/>
              <a:t>    X’    ( </a:t>
            </a:r>
            <a:r>
              <a:rPr lang="tr-TR" dirty="0" err="1" smtClean="0"/>
              <a:t>head</a:t>
            </a:r>
            <a:r>
              <a:rPr lang="tr-TR" dirty="0" smtClean="0"/>
              <a:t> element + </a:t>
            </a:r>
            <a:r>
              <a:rPr lang="tr-TR" dirty="0" err="1" smtClean="0"/>
              <a:t>complement</a:t>
            </a:r>
            <a:r>
              <a:rPr lang="tr-TR" dirty="0" smtClean="0"/>
              <a:t>)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                   </a:t>
            </a:r>
          </a:p>
          <a:p>
            <a:pPr marL="109728" indent="0">
              <a:buNone/>
            </a:pPr>
            <a:r>
              <a:rPr lang="tr-TR" dirty="0" smtClean="0"/>
              <a:t>(</a:t>
            </a:r>
            <a:r>
              <a:rPr lang="tr-TR" dirty="0" err="1" smtClean="0"/>
              <a:t>head</a:t>
            </a:r>
            <a:r>
              <a:rPr lang="tr-TR" dirty="0" smtClean="0"/>
              <a:t> element)X    </a:t>
            </a:r>
            <a:r>
              <a:rPr lang="tr-TR" dirty="0" err="1" smtClean="0"/>
              <a:t>Complement</a:t>
            </a:r>
            <a:r>
              <a:rPr lang="tr-TR" dirty="0" smtClean="0"/>
              <a:t> </a:t>
            </a:r>
          </a:p>
          <a:p>
            <a:endParaRPr lang="en-US" dirty="0"/>
          </a:p>
        </p:txBody>
      </p:sp>
      <p:sp>
        <p:nvSpPr>
          <p:cNvPr id="5" name="Başlık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UG &amp; L1</a:t>
            </a:r>
            <a:endParaRPr lang="en-GB" dirty="0"/>
          </a:p>
        </p:txBody>
      </p:sp>
      <p:cxnSp>
        <p:nvCxnSpPr>
          <p:cNvPr id="8" name="Düz Ok Bağlayıcısı 7"/>
          <p:cNvCxnSpPr/>
          <p:nvPr/>
        </p:nvCxnSpPr>
        <p:spPr>
          <a:xfrm>
            <a:off x="2843808" y="4005064"/>
            <a:ext cx="36004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/>
          <p:cNvCxnSpPr/>
          <p:nvPr/>
        </p:nvCxnSpPr>
        <p:spPr>
          <a:xfrm flipH="1">
            <a:off x="2339752" y="4005064"/>
            <a:ext cx="28803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 flipH="1">
            <a:off x="3023828" y="5046348"/>
            <a:ext cx="28803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3635896" y="5046348"/>
            <a:ext cx="36004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12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Second Language Learning is theoretically more complicated than L1 acquisition as many factors intervene the process such as;</a:t>
            </a:r>
          </a:p>
          <a:p>
            <a:r>
              <a:rPr lang="en-US" dirty="0" smtClean="0"/>
              <a:t>L2 learner</a:t>
            </a:r>
            <a:r>
              <a:rPr lang="en-US" dirty="0" smtClean="0"/>
              <a:t>s are cognitively mature</a:t>
            </a:r>
          </a:p>
          <a:p>
            <a:r>
              <a:rPr lang="en-US" dirty="0" smtClean="0"/>
              <a:t>L2 learner</a:t>
            </a:r>
            <a:r>
              <a:rPr lang="en-US" dirty="0" smtClean="0"/>
              <a:t>s already know at least one language</a:t>
            </a:r>
          </a:p>
          <a:p>
            <a:r>
              <a:rPr lang="en-US" dirty="0" smtClean="0"/>
              <a:t>L2 learner</a:t>
            </a:r>
            <a:r>
              <a:rPr lang="en-US" dirty="0" smtClean="0"/>
              <a:t>s have different motivations f</a:t>
            </a:r>
            <a:r>
              <a:rPr lang="tr-TR" dirty="0" err="1" smtClean="0"/>
              <a:t>or</a:t>
            </a:r>
            <a:r>
              <a:rPr lang="en-US" dirty="0" smtClean="0"/>
              <a:t> learning a second language.</a:t>
            </a:r>
          </a:p>
          <a:p>
            <a:pPr marL="109728" indent="0">
              <a:buNone/>
            </a:pPr>
            <a:r>
              <a:rPr lang="en-US" i="1" dirty="0" smtClean="0"/>
              <a:t> So, even if UG hypothesis is correct for L1 , there are still a number of logical possibilities concerning its role in L2. </a:t>
            </a:r>
            <a:endParaRPr lang="en-US" i="1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UG &amp; L2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712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847130"/>
              </p:ext>
            </p:extLst>
          </p:nvPr>
        </p:nvGraphicFramePr>
        <p:xfrm>
          <a:off x="179512" y="0"/>
          <a:ext cx="82296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Başlık 2"/>
          <p:cNvSpPr>
            <a:spLocks noGrp="1"/>
          </p:cNvSpPr>
          <p:nvPr>
            <p:ph type="title"/>
          </p:nvPr>
        </p:nvSpPr>
        <p:spPr>
          <a:xfrm>
            <a:off x="251520" y="4653136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6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tr-TR" dirty="0" smtClean="0"/>
              <a:t> </a:t>
            </a:r>
            <a:r>
              <a:rPr lang="tr-TR" dirty="0" err="1" smtClean="0"/>
              <a:t>Children</a:t>
            </a:r>
            <a:r>
              <a:rPr lang="tr-TR" dirty="0" smtClean="0"/>
              <a:t> in </a:t>
            </a:r>
            <a:r>
              <a:rPr lang="tr-TR" dirty="0" err="1" smtClean="0"/>
              <a:t>early</a:t>
            </a:r>
            <a:r>
              <a:rPr lang="tr-TR" dirty="0" smtClean="0"/>
              <a:t> </a:t>
            </a:r>
            <a:r>
              <a:rPr lang="tr-TR" dirty="0" err="1" smtClean="0"/>
              <a:t>stages</a:t>
            </a:r>
            <a:r>
              <a:rPr lang="tr-TR" dirty="0" smtClean="0"/>
              <a:t> </a:t>
            </a:r>
            <a:r>
              <a:rPr lang="tr-TR" dirty="0" err="1" smtClean="0"/>
              <a:t>only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 </a:t>
            </a:r>
            <a:r>
              <a:rPr lang="tr-TR" dirty="0" err="1" smtClean="0"/>
              <a:t>access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lexical</a:t>
            </a:r>
            <a:r>
              <a:rPr lang="tr-TR" dirty="0" smtClean="0"/>
              <a:t> </a:t>
            </a:r>
            <a:r>
              <a:rPr lang="tr-TR" dirty="0" err="1" smtClean="0"/>
              <a:t>categories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lack</a:t>
            </a:r>
            <a:r>
              <a:rPr lang="tr-TR" dirty="0" smtClean="0"/>
              <a:t>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categories</a:t>
            </a:r>
            <a:r>
              <a:rPr lang="tr-TR" dirty="0" smtClean="0"/>
              <a:t> .</a:t>
            </a:r>
          </a:p>
          <a:p>
            <a:pPr marL="109728" indent="0">
              <a:buNone/>
            </a:pPr>
            <a:r>
              <a:rPr lang="tr-TR" dirty="0" err="1" smtClean="0"/>
              <a:t>Hypothesis</a:t>
            </a:r>
            <a:r>
              <a:rPr lang="tr-TR" dirty="0" smtClean="0"/>
              <a:t> </a:t>
            </a:r>
            <a:r>
              <a:rPr lang="tr-TR" dirty="0" err="1" smtClean="0"/>
              <a:t>regarding</a:t>
            </a:r>
            <a:r>
              <a:rPr lang="tr-TR" dirty="0" smtClean="0"/>
              <a:t> L1 ;</a:t>
            </a:r>
          </a:p>
          <a:p>
            <a:r>
              <a:rPr lang="tr-TR" dirty="0" smtClean="0"/>
              <a:t>  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Continuity</a:t>
            </a:r>
            <a:r>
              <a:rPr lang="tr-TR" dirty="0" smtClean="0"/>
              <a:t> </a:t>
            </a:r>
            <a:r>
              <a:rPr lang="tr-TR" dirty="0" err="1" smtClean="0"/>
              <a:t>Hypothesis</a:t>
            </a:r>
            <a:endParaRPr lang="tr-TR" dirty="0" smtClean="0"/>
          </a:p>
          <a:p>
            <a:r>
              <a:rPr lang="tr-TR" dirty="0" smtClean="0"/>
              <a:t>   </a:t>
            </a:r>
            <a:r>
              <a:rPr lang="tr-TR" dirty="0" err="1" smtClean="0"/>
              <a:t>Maturation</a:t>
            </a:r>
            <a:r>
              <a:rPr lang="tr-TR" dirty="0" smtClean="0"/>
              <a:t> </a:t>
            </a:r>
            <a:r>
              <a:rPr lang="tr-TR" dirty="0" err="1" smtClean="0"/>
              <a:t>Hypothesis</a:t>
            </a:r>
            <a:endParaRPr lang="tr-TR" dirty="0" smtClean="0"/>
          </a:p>
          <a:p>
            <a:r>
              <a:rPr lang="tr-TR" dirty="0" smtClean="0"/>
              <a:t>   </a:t>
            </a:r>
            <a:r>
              <a:rPr lang="tr-TR" dirty="0" err="1" smtClean="0"/>
              <a:t>Structural</a:t>
            </a:r>
            <a:r>
              <a:rPr lang="tr-TR" dirty="0" smtClean="0"/>
              <a:t>- </a:t>
            </a:r>
            <a:r>
              <a:rPr lang="tr-TR" dirty="0" err="1" smtClean="0"/>
              <a:t>Building</a:t>
            </a:r>
            <a:r>
              <a:rPr lang="tr-TR" dirty="0" smtClean="0"/>
              <a:t> </a:t>
            </a:r>
            <a:r>
              <a:rPr lang="tr-TR" dirty="0" err="1" smtClean="0"/>
              <a:t>Approach</a:t>
            </a:r>
            <a:endParaRPr lang="tr-TR" dirty="0" smtClean="0"/>
          </a:p>
          <a:p>
            <a:pPr marL="109728" indent="0">
              <a:buNone/>
            </a:pPr>
            <a:endParaRPr lang="tr-TR" dirty="0" smtClean="0"/>
          </a:p>
          <a:p>
            <a:pPr marL="109728" indent="0">
              <a:buNone/>
            </a:pPr>
            <a:r>
              <a:rPr lang="tr-TR" dirty="0" smtClean="0"/>
              <a:t> </a:t>
            </a:r>
            <a:r>
              <a:rPr lang="en-US" dirty="0" smtClean="0"/>
              <a:t>Debates on </a:t>
            </a:r>
            <a:r>
              <a:rPr lang="en-US" b="1" dirty="0" err="1" smtClean="0"/>
              <a:t>Init</a:t>
            </a:r>
            <a:r>
              <a:rPr lang="tr-TR" b="1" dirty="0" smtClean="0"/>
              <a:t>i</a:t>
            </a:r>
            <a:r>
              <a:rPr lang="en-US" b="1" dirty="0" smtClean="0"/>
              <a:t>al Stage  </a:t>
            </a:r>
            <a:r>
              <a:rPr lang="en-US" dirty="0" smtClean="0"/>
              <a:t>( the </a:t>
            </a:r>
            <a:r>
              <a:rPr lang="en-US" dirty="0" err="1" smtClean="0"/>
              <a:t>subconcious</a:t>
            </a:r>
            <a:r>
              <a:rPr lang="en-US" dirty="0" smtClean="0"/>
              <a:t> linguistic representations second language learners have at the onset of SLL)</a:t>
            </a:r>
          </a:p>
          <a:p>
            <a:endParaRPr lang="en-US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Hypothesis</a:t>
            </a:r>
            <a:r>
              <a:rPr lang="tr-TR" dirty="0" smtClean="0"/>
              <a:t> </a:t>
            </a:r>
            <a:r>
              <a:rPr lang="tr-TR" dirty="0" err="1" smtClean="0"/>
              <a:t>about</a:t>
            </a:r>
            <a:r>
              <a:rPr lang="tr-TR" dirty="0" smtClean="0"/>
              <a:t> </a:t>
            </a:r>
            <a:r>
              <a:rPr lang="tr-TR" dirty="0" err="1" smtClean="0"/>
              <a:t>Parameter</a:t>
            </a:r>
            <a:r>
              <a:rPr lang="tr-TR" dirty="0" smtClean="0"/>
              <a:t> </a:t>
            </a:r>
            <a:r>
              <a:rPr lang="tr-TR" dirty="0" err="1" smtClean="0"/>
              <a:t>Resetting</a:t>
            </a:r>
            <a:r>
              <a:rPr lang="tr-TR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3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SUS\Desktop\58e2d2880af81bbf3120cba58f863b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2" y="1700808"/>
            <a:ext cx="3744416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İçerik Yer Tutucusu 1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5458936"/>
          </a:xfrm>
        </p:spPr>
        <p:txBody>
          <a:bodyPr>
            <a:normAutofit fontScale="70000" lnSpcReduction="20000"/>
          </a:bodyPr>
          <a:lstStyle/>
          <a:p>
            <a:r>
              <a:rPr lang="tr-TR" dirty="0" err="1" smtClean="0"/>
              <a:t>Which</a:t>
            </a:r>
            <a:r>
              <a:rPr lang="tr-TR" dirty="0" smtClean="0"/>
              <a:t> </a:t>
            </a:r>
            <a:r>
              <a:rPr lang="tr-TR" dirty="0" err="1" smtClean="0"/>
              <a:t>aspects</a:t>
            </a:r>
            <a:r>
              <a:rPr lang="tr-TR" dirty="0" smtClean="0"/>
              <a:t> of UG </a:t>
            </a:r>
            <a:r>
              <a:rPr lang="tr-TR" dirty="0" err="1" smtClean="0"/>
              <a:t>might</a:t>
            </a:r>
            <a:r>
              <a:rPr lang="tr-TR" dirty="0" smtClean="0"/>
              <a:t> be </a:t>
            </a:r>
            <a:r>
              <a:rPr lang="tr-TR" dirty="0" err="1" smtClean="0"/>
              <a:t>avaliable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which</a:t>
            </a:r>
            <a:r>
              <a:rPr lang="tr-TR" dirty="0" smtClean="0"/>
              <a:t> not? </a:t>
            </a:r>
          </a:p>
          <a:p>
            <a:pPr marL="109728" indent="0">
              <a:buNone/>
            </a:pPr>
            <a:r>
              <a:rPr lang="tr-TR" dirty="0" err="1" smtClean="0"/>
              <a:t>Some</a:t>
            </a:r>
            <a:r>
              <a:rPr lang="tr-TR" dirty="0" smtClean="0"/>
              <a:t> </a:t>
            </a:r>
            <a:r>
              <a:rPr lang="tr-TR" dirty="0" err="1" smtClean="0"/>
              <a:t>contradictory</a:t>
            </a:r>
            <a:r>
              <a:rPr lang="tr-TR" dirty="0" smtClean="0"/>
              <a:t> </a:t>
            </a:r>
            <a:r>
              <a:rPr lang="tr-TR" dirty="0" err="1" smtClean="0"/>
              <a:t>facts</a:t>
            </a:r>
            <a:r>
              <a:rPr lang="tr-TR" dirty="0" smtClean="0"/>
              <a:t> </a:t>
            </a:r>
            <a:r>
              <a:rPr lang="tr-TR" dirty="0" err="1" smtClean="0"/>
              <a:t>about</a:t>
            </a:r>
            <a:r>
              <a:rPr lang="tr-TR" dirty="0" smtClean="0"/>
              <a:t> SLA </a:t>
            </a:r>
            <a:r>
              <a:rPr lang="tr-TR" dirty="0" err="1" smtClean="0"/>
              <a:t>process</a:t>
            </a:r>
            <a:r>
              <a:rPr lang="tr-TR" dirty="0" smtClean="0"/>
              <a:t>;</a:t>
            </a:r>
          </a:p>
          <a:p>
            <a:pPr marL="109728" indent="0">
              <a:buNone/>
            </a:pPr>
            <a:endParaRPr lang="tr-TR" dirty="0" smtClean="0"/>
          </a:p>
          <a:p>
            <a:r>
              <a:rPr lang="tr-TR" dirty="0"/>
              <a:t> </a:t>
            </a:r>
            <a:r>
              <a:rPr lang="tr-TR" dirty="0" err="1" smtClean="0"/>
              <a:t>Learners</a:t>
            </a:r>
            <a:r>
              <a:rPr lang="tr-TR" dirty="0" smtClean="0"/>
              <a:t> do not </a:t>
            </a:r>
            <a:r>
              <a:rPr lang="tr-TR" dirty="0" err="1" smtClean="0"/>
              <a:t>seem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produce</a:t>
            </a:r>
            <a:r>
              <a:rPr lang="tr-TR" dirty="0" smtClean="0"/>
              <a:t> ‘ </a:t>
            </a:r>
            <a:r>
              <a:rPr lang="tr-TR" dirty="0" err="1" smtClean="0"/>
              <a:t>wild</a:t>
            </a:r>
            <a:r>
              <a:rPr lang="tr-TR" dirty="0" smtClean="0"/>
              <a:t>’ </a:t>
            </a:r>
            <a:r>
              <a:rPr lang="tr-TR" dirty="0" err="1" smtClean="0"/>
              <a:t>grammars</a:t>
            </a:r>
            <a:r>
              <a:rPr lang="tr-TR" dirty="0" smtClean="0"/>
              <a:t> , </a:t>
            </a:r>
            <a:r>
              <a:rPr lang="tr-TR" dirty="0" err="1" smtClean="0"/>
              <a:t>that</a:t>
            </a:r>
            <a:r>
              <a:rPr lang="tr-TR" dirty="0" smtClean="0"/>
              <a:t> is, </a:t>
            </a:r>
            <a:r>
              <a:rPr lang="tr-TR" dirty="0" err="1" smtClean="0"/>
              <a:t>grammars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would</a:t>
            </a:r>
            <a:r>
              <a:rPr lang="tr-TR" dirty="0" smtClean="0"/>
              <a:t> not be </a:t>
            </a:r>
            <a:r>
              <a:rPr lang="tr-TR" dirty="0" err="1" smtClean="0"/>
              <a:t>constrained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UG. </a:t>
            </a:r>
            <a:r>
              <a:rPr lang="tr-TR" dirty="0" err="1" smtClean="0"/>
              <a:t>Does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suggest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at </a:t>
            </a:r>
            <a:r>
              <a:rPr lang="tr-TR" dirty="0" err="1" smtClean="0"/>
              <a:t>least</a:t>
            </a:r>
            <a:r>
              <a:rPr lang="tr-TR" dirty="0" smtClean="0"/>
              <a:t> </a:t>
            </a:r>
            <a:r>
              <a:rPr lang="tr-TR" dirty="0" err="1" smtClean="0"/>
              <a:t>principles</a:t>
            </a:r>
            <a:r>
              <a:rPr lang="tr-TR" dirty="0" smtClean="0"/>
              <a:t> of UG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avaliable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them</a:t>
            </a:r>
            <a:r>
              <a:rPr lang="tr-TR" dirty="0" smtClean="0"/>
              <a:t>?</a:t>
            </a:r>
          </a:p>
          <a:p>
            <a:endParaRPr lang="tr-TR" dirty="0" smtClean="0"/>
          </a:p>
          <a:p>
            <a:r>
              <a:rPr lang="tr-TR" dirty="0" err="1" smtClean="0"/>
              <a:t>Learners</a:t>
            </a:r>
            <a:r>
              <a:rPr lang="tr-TR" dirty="0" smtClean="0"/>
              <a:t> </a:t>
            </a:r>
            <a:r>
              <a:rPr lang="tr-TR" dirty="0" err="1" smtClean="0"/>
              <a:t>produce</a:t>
            </a:r>
            <a:r>
              <a:rPr lang="tr-TR" dirty="0" smtClean="0"/>
              <a:t> </a:t>
            </a:r>
            <a:r>
              <a:rPr lang="tr-TR" dirty="0" err="1" smtClean="0"/>
              <a:t>grammars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not </a:t>
            </a:r>
            <a:r>
              <a:rPr lang="tr-TR" dirty="0" err="1" smtClean="0"/>
              <a:t>necessarily</a:t>
            </a:r>
            <a:r>
              <a:rPr lang="tr-TR" dirty="0" smtClean="0"/>
              <a:t> </a:t>
            </a:r>
            <a:r>
              <a:rPr lang="tr-TR" dirty="0" err="1" smtClean="0"/>
              <a:t>like</a:t>
            </a:r>
            <a:r>
              <a:rPr lang="tr-TR" dirty="0" smtClean="0"/>
              <a:t> </a:t>
            </a:r>
            <a:r>
              <a:rPr lang="tr-TR" dirty="0" err="1" smtClean="0"/>
              <a:t>either</a:t>
            </a:r>
            <a:r>
              <a:rPr lang="tr-TR" dirty="0" smtClean="0"/>
              <a:t> </a:t>
            </a:r>
            <a:r>
              <a:rPr lang="tr-TR" dirty="0" err="1" smtClean="0"/>
              <a:t>their</a:t>
            </a:r>
            <a:r>
              <a:rPr lang="tr-TR" dirty="0" smtClean="0"/>
              <a:t> </a:t>
            </a:r>
            <a:r>
              <a:rPr lang="tr-TR" dirty="0" err="1" smtClean="0"/>
              <a:t>first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or</a:t>
            </a:r>
            <a:r>
              <a:rPr lang="tr-TR" dirty="0" smtClean="0"/>
              <a:t> </a:t>
            </a:r>
            <a:r>
              <a:rPr lang="tr-TR" dirty="0" err="1" smtClean="0"/>
              <a:t>their</a:t>
            </a:r>
            <a:r>
              <a:rPr lang="tr-TR" dirty="0" smtClean="0"/>
              <a:t> </a:t>
            </a:r>
            <a:r>
              <a:rPr lang="tr-TR" dirty="0" err="1" smtClean="0"/>
              <a:t>second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. </a:t>
            </a:r>
            <a:r>
              <a:rPr lang="tr-TR" dirty="0" err="1" smtClean="0"/>
              <a:t>Does</a:t>
            </a:r>
            <a:r>
              <a:rPr lang="tr-TR" dirty="0" smtClean="0"/>
              <a:t> </a:t>
            </a:r>
            <a:r>
              <a:rPr lang="tr-TR" dirty="0" err="1" smtClean="0"/>
              <a:t>this</a:t>
            </a:r>
            <a:r>
              <a:rPr lang="tr-TR" dirty="0" smtClean="0"/>
              <a:t> </a:t>
            </a:r>
            <a:r>
              <a:rPr lang="tr-TR" dirty="0" err="1" smtClean="0"/>
              <a:t>suggest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parameter</a:t>
            </a:r>
            <a:r>
              <a:rPr lang="tr-TR" dirty="0" smtClean="0"/>
              <a:t> </a:t>
            </a:r>
            <a:r>
              <a:rPr lang="tr-TR" dirty="0" err="1" smtClean="0"/>
              <a:t>settings</a:t>
            </a:r>
            <a:r>
              <a:rPr lang="tr-TR" dirty="0" smtClean="0"/>
              <a:t> </a:t>
            </a:r>
            <a:r>
              <a:rPr lang="tr-TR" dirty="0" err="1" smtClean="0"/>
              <a:t>other</a:t>
            </a:r>
            <a:r>
              <a:rPr lang="tr-TR" dirty="0" smtClean="0"/>
              <a:t> </a:t>
            </a:r>
            <a:r>
              <a:rPr lang="tr-TR" dirty="0" err="1" smtClean="0"/>
              <a:t>than</a:t>
            </a:r>
            <a:r>
              <a:rPr lang="tr-TR" dirty="0" smtClean="0"/>
              <a:t> </a:t>
            </a:r>
            <a:r>
              <a:rPr lang="tr-TR" dirty="0" err="1" smtClean="0"/>
              <a:t>those</a:t>
            </a:r>
            <a:r>
              <a:rPr lang="tr-TR" dirty="0" smtClean="0"/>
              <a:t> </a:t>
            </a:r>
            <a:r>
              <a:rPr lang="tr-TR" dirty="0" err="1" smtClean="0"/>
              <a:t>realized</a:t>
            </a:r>
            <a:r>
              <a:rPr lang="tr-TR" dirty="0" smtClean="0"/>
              <a:t> in </a:t>
            </a:r>
            <a:r>
              <a:rPr lang="tr-TR" dirty="0" err="1" smtClean="0"/>
              <a:t>their</a:t>
            </a:r>
            <a:r>
              <a:rPr lang="tr-TR" dirty="0" smtClean="0"/>
              <a:t> </a:t>
            </a:r>
            <a:r>
              <a:rPr lang="tr-TR" dirty="0" err="1" smtClean="0"/>
              <a:t>first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second</a:t>
            </a:r>
            <a:r>
              <a:rPr lang="tr-TR" dirty="0" smtClean="0"/>
              <a:t> </a:t>
            </a:r>
            <a:r>
              <a:rPr lang="tr-TR" dirty="0" err="1" smtClean="0"/>
              <a:t>languages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avaliable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them</a:t>
            </a:r>
            <a:r>
              <a:rPr lang="tr-TR" dirty="0" smtClean="0"/>
              <a:t>?</a:t>
            </a:r>
          </a:p>
          <a:p>
            <a:endParaRPr lang="tr-TR" dirty="0" smtClean="0"/>
          </a:p>
          <a:p>
            <a:r>
              <a:rPr lang="tr-TR" dirty="0" err="1" smtClean="0"/>
              <a:t>Some</a:t>
            </a:r>
            <a:r>
              <a:rPr lang="tr-TR" dirty="0" smtClean="0"/>
              <a:t> </a:t>
            </a:r>
            <a:r>
              <a:rPr lang="tr-TR" dirty="0" err="1" smtClean="0"/>
              <a:t>principles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parameters</a:t>
            </a:r>
            <a:r>
              <a:rPr lang="tr-TR" dirty="0" smtClean="0"/>
              <a:t> </a:t>
            </a:r>
            <a:r>
              <a:rPr lang="tr-TR" dirty="0" err="1" smtClean="0"/>
              <a:t>seem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be </a:t>
            </a:r>
            <a:r>
              <a:rPr lang="tr-TR" dirty="0" err="1" smtClean="0"/>
              <a:t>unproblematic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reset</a:t>
            </a:r>
            <a:r>
              <a:rPr lang="tr-TR" dirty="0" smtClean="0"/>
              <a:t> ; </a:t>
            </a:r>
            <a:r>
              <a:rPr lang="tr-TR" dirty="0" err="1" smtClean="0"/>
              <a:t>others</a:t>
            </a:r>
            <a:r>
              <a:rPr lang="tr-TR" dirty="0" smtClean="0"/>
              <a:t> </a:t>
            </a:r>
            <a:r>
              <a:rPr lang="tr-TR" dirty="0" err="1" smtClean="0"/>
              <a:t>more</a:t>
            </a:r>
            <a:r>
              <a:rPr lang="tr-TR" dirty="0" smtClean="0"/>
              <a:t> </a:t>
            </a:r>
            <a:r>
              <a:rPr lang="tr-TR" dirty="0" err="1" smtClean="0"/>
              <a:t>difficult</a:t>
            </a:r>
            <a:r>
              <a:rPr lang="tr-TR" dirty="0" smtClean="0"/>
              <a:t> , </a:t>
            </a:r>
            <a:r>
              <a:rPr lang="tr-TR" dirty="0" err="1" smtClean="0"/>
              <a:t>or</a:t>
            </a:r>
            <a:r>
              <a:rPr lang="tr-TR" dirty="0" smtClean="0"/>
              <a:t> </a:t>
            </a:r>
            <a:r>
              <a:rPr lang="tr-TR" dirty="0" err="1" smtClean="0"/>
              <a:t>even</a:t>
            </a:r>
            <a:r>
              <a:rPr lang="tr-TR" dirty="0" smtClean="0"/>
              <a:t> </a:t>
            </a:r>
            <a:r>
              <a:rPr lang="tr-TR" dirty="0" err="1" smtClean="0"/>
              <a:t>impossible</a:t>
            </a:r>
            <a:r>
              <a:rPr lang="tr-TR" dirty="0" smtClean="0"/>
              <a:t>. </a:t>
            </a:r>
            <a:r>
              <a:rPr lang="tr-TR" dirty="0" err="1" smtClean="0"/>
              <a:t>Why</a:t>
            </a:r>
            <a:r>
              <a:rPr lang="tr-TR" dirty="0" smtClean="0"/>
              <a:t>?</a:t>
            </a:r>
          </a:p>
          <a:p>
            <a:endParaRPr lang="tr-TR" dirty="0" smtClean="0"/>
          </a:p>
          <a:p>
            <a:endParaRPr lang="tr-TR" dirty="0" smtClean="0"/>
          </a:p>
          <a:p>
            <a:pPr marL="109728" indent="0">
              <a:buNone/>
            </a:pPr>
            <a:endParaRPr lang="tr-TR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48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Proponents</a:t>
            </a:r>
            <a:r>
              <a:rPr lang="tr-TR" dirty="0" smtClean="0"/>
              <a:t> of </a:t>
            </a:r>
            <a:r>
              <a:rPr lang="tr-TR" dirty="0" err="1" smtClean="0"/>
              <a:t>this</a:t>
            </a:r>
            <a:r>
              <a:rPr lang="tr-TR" dirty="0" smtClean="0"/>
              <a:t> </a:t>
            </a:r>
            <a:r>
              <a:rPr lang="tr-TR" dirty="0" err="1" smtClean="0"/>
              <a:t>hypothesis</a:t>
            </a:r>
            <a:r>
              <a:rPr lang="tr-TR" dirty="0" smtClean="0"/>
              <a:t> </a:t>
            </a:r>
            <a:r>
              <a:rPr lang="tr-TR" dirty="0" err="1" smtClean="0"/>
              <a:t>argue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there</a:t>
            </a:r>
            <a:r>
              <a:rPr lang="tr-TR" dirty="0" smtClean="0"/>
              <a:t> is a ‘ </a:t>
            </a:r>
            <a:r>
              <a:rPr lang="tr-TR" dirty="0" err="1" smtClean="0"/>
              <a:t>critical</a:t>
            </a:r>
            <a:r>
              <a:rPr lang="tr-TR" dirty="0" smtClean="0"/>
              <a:t> </a:t>
            </a:r>
            <a:r>
              <a:rPr lang="tr-TR" dirty="0" err="1" smtClean="0"/>
              <a:t>period</a:t>
            </a:r>
            <a:r>
              <a:rPr lang="tr-TR" dirty="0" smtClean="0"/>
              <a:t>’ </a:t>
            </a:r>
            <a:r>
              <a:rPr lang="tr-TR" dirty="0" err="1" smtClean="0"/>
              <a:t>for</a:t>
            </a:r>
            <a:r>
              <a:rPr lang="tr-TR" dirty="0" smtClean="0"/>
              <a:t> SLA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after</a:t>
            </a:r>
            <a:r>
              <a:rPr lang="tr-TR" dirty="0" smtClean="0"/>
              <a:t> </a:t>
            </a:r>
            <a:r>
              <a:rPr lang="tr-TR" dirty="0" err="1" smtClean="0"/>
              <a:t>puberty</a:t>
            </a:r>
            <a:r>
              <a:rPr lang="tr-TR" dirty="0" smtClean="0"/>
              <a:t> UG is </a:t>
            </a:r>
            <a:r>
              <a:rPr lang="tr-TR" dirty="0" err="1" smtClean="0"/>
              <a:t>no</a:t>
            </a:r>
            <a:r>
              <a:rPr lang="tr-TR" dirty="0" smtClean="0"/>
              <a:t> </a:t>
            </a:r>
            <a:r>
              <a:rPr lang="tr-TR" dirty="0" err="1" smtClean="0"/>
              <a:t>longer</a:t>
            </a:r>
            <a:r>
              <a:rPr lang="tr-TR" dirty="0" smtClean="0"/>
              <a:t> </a:t>
            </a:r>
            <a:r>
              <a:rPr lang="tr-TR" dirty="0" err="1" smtClean="0"/>
              <a:t>avaliable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SLLs</a:t>
            </a:r>
            <a:r>
              <a:rPr lang="tr-TR" dirty="0" smtClean="0"/>
              <a:t>. </a:t>
            </a:r>
          </a:p>
          <a:p>
            <a:r>
              <a:rPr lang="tr-TR" dirty="0" smtClean="0"/>
              <a:t>  A </a:t>
            </a:r>
            <a:r>
              <a:rPr lang="tr-TR" dirty="0" err="1" smtClean="0"/>
              <a:t>study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immigrant</a:t>
            </a:r>
            <a:r>
              <a:rPr lang="tr-TR" dirty="0" smtClean="0"/>
              <a:t> </a:t>
            </a:r>
            <a:r>
              <a:rPr lang="tr-TR" dirty="0" err="1" smtClean="0"/>
              <a:t>children</a:t>
            </a:r>
            <a:r>
              <a:rPr lang="tr-TR" dirty="0" smtClean="0"/>
              <a:t>; </a:t>
            </a:r>
          </a:p>
          <a:p>
            <a:pPr marL="109728" indent="0">
              <a:buNone/>
            </a:pPr>
            <a:r>
              <a:rPr lang="tr-TR" dirty="0" smtClean="0"/>
              <a:t>      Age of </a:t>
            </a:r>
            <a:r>
              <a:rPr lang="tr-TR" dirty="0" err="1" smtClean="0"/>
              <a:t>arrivals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grammatical</a:t>
            </a:r>
            <a:r>
              <a:rPr lang="tr-TR" dirty="0" smtClean="0"/>
              <a:t> </a:t>
            </a:r>
            <a:r>
              <a:rPr lang="tr-TR" dirty="0" err="1" smtClean="0"/>
              <a:t>properties</a:t>
            </a:r>
            <a:r>
              <a:rPr lang="tr-TR" dirty="0" smtClean="0"/>
              <a:t> </a:t>
            </a:r>
            <a:r>
              <a:rPr lang="tr-TR" dirty="0" err="1" smtClean="0"/>
              <a:t>were</a:t>
            </a:r>
            <a:r>
              <a:rPr lang="tr-TR" dirty="0" smtClean="0"/>
              <a:t>  </a:t>
            </a:r>
            <a:r>
              <a:rPr lang="tr-TR" dirty="0" err="1" smtClean="0"/>
              <a:t>examined</a:t>
            </a:r>
            <a:r>
              <a:rPr lang="tr-TR" dirty="0" smtClean="0"/>
              <a:t>.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   </a:t>
            </a:r>
            <a:r>
              <a:rPr lang="tr-TR" dirty="0" err="1" smtClean="0"/>
              <a:t>Result</a:t>
            </a:r>
            <a:r>
              <a:rPr lang="tr-TR" dirty="0" smtClean="0"/>
              <a:t>: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ones</a:t>
            </a:r>
            <a:r>
              <a:rPr lang="tr-TR" dirty="0" smtClean="0"/>
              <a:t> </a:t>
            </a:r>
            <a:r>
              <a:rPr lang="tr-TR" dirty="0" err="1" smtClean="0"/>
              <a:t>before</a:t>
            </a:r>
            <a:r>
              <a:rPr lang="tr-TR" dirty="0" smtClean="0"/>
              <a:t> seven </a:t>
            </a:r>
            <a:r>
              <a:rPr lang="tr-TR" dirty="0" err="1" smtClean="0"/>
              <a:t>performed</a:t>
            </a:r>
            <a:r>
              <a:rPr lang="tr-TR" dirty="0" smtClean="0"/>
              <a:t> </a:t>
            </a:r>
            <a:r>
              <a:rPr lang="tr-TR" dirty="0" err="1" smtClean="0"/>
              <a:t>native</a:t>
            </a:r>
            <a:r>
              <a:rPr lang="tr-TR" dirty="0" smtClean="0"/>
              <a:t> –</a:t>
            </a:r>
            <a:r>
              <a:rPr lang="tr-TR" dirty="0" err="1" smtClean="0"/>
              <a:t>like</a:t>
            </a:r>
            <a:r>
              <a:rPr lang="tr-TR" dirty="0" smtClean="0"/>
              <a:t> </a:t>
            </a:r>
            <a:r>
              <a:rPr lang="tr-TR" dirty="0" err="1" smtClean="0"/>
              <a:t>while</a:t>
            </a:r>
            <a:r>
              <a:rPr lang="tr-TR" dirty="0" smtClean="0"/>
              <a:t> </a:t>
            </a:r>
            <a:r>
              <a:rPr lang="tr-TR" dirty="0" err="1" smtClean="0"/>
              <a:t>others</a:t>
            </a:r>
            <a:r>
              <a:rPr lang="tr-TR" dirty="0" smtClean="0"/>
              <a:t> </a:t>
            </a:r>
            <a:r>
              <a:rPr lang="tr-TR" dirty="0" err="1" smtClean="0"/>
              <a:t>made</a:t>
            </a:r>
            <a:r>
              <a:rPr lang="tr-TR" dirty="0" smtClean="0"/>
              <a:t> </a:t>
            </a:r>
            <a:r>
              <a:rPr lang="tr-TR" dirty="0" err="1" smtClean="0"/>
              <a:t>more</a:t>
            </a:r>
            <a:r>
              <a:rPr lang="tr-TR" dirty="0" smtClean="0"/>
              <a:t> </a:t>
            </a:r>
            <a:r>
              <a:rPr lang="tr-TR" dirty="0" err="1" smtClean="0"/>
              <a:t>errors</a:t>
            </a:r>
            <a:r>
              <a:rPr lang="tr-TR" dirty="0" smtClean="0"/>
              <a:t>.</a:t>
            </a:r>
          </a:p>
          <a:p>
            <a:pPr marL="109728" indent="0">
              <a:buNone/>
            </a:pPr>
            <a:r>
              <a:rPr lang="tr-TR" dirty="0" smtClean="0"/>
              <a:t>  </a:t>
            </a:r>
            <a:r>
              <a:rPr lang="tr-TR" dirty="0" err="1" smtClean="0"/>
              <a:t>Opponents</a:t>
            </a:r>
            <a:r>
              <a:rPr lang="tr-TR" dirty="0" smtClean="0"/>
              <a:t> : it </a:t>
            </a:r>
            <a:r>
              <a:rPr lang="tr-TR" dirty="0" err="1" smtClean="0"/>
              <a:t>does</a:t>
            </a:r>
            <a:r>
              <a:rPr lang="tr-TR" dirty="0" smtClean="0"/>
              <a:t> not </a:t>
            </a:r>
            <a:r>
              <a:rPr lang="tr-TR" dirty="0" err="1" smtClean="0"/>
              <a:t>mean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adults</a:t>
            </a:r>
            <a:r>
              <a:rPr lang="tr-TR" dirty="0" smtClean="0"/>
              <a:t> </a:t>
            </a:r>
            <a:r>
              <a:rPr lang="tr-TR" dirty="0" err="1" smtClean="0"/>
              <a:t>grammars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not Universal </a:t>
            </a:r>
            <a:r>
              <a:rPr lang="tr-TR" dirty="0" err="1" smtClean="0"/>
              <a:t>Grammar</a:t>
            </a:r>
            <a:r>
              <a:rPr lang="tr-TR" dirty="0" smtClean="0"/>
              <a:t> –</a:t>
            </a:r>
            <a:r>
              <a:rPr lang="tr-TR" dirty="0" err="1" smtClean="0"/>
              <a:t>constrainted</a:t>
            </a:r>
            <a:r>
              <a:rPr lang="tr-TR" dirty="0" smtClean="0"/>
              <a:t>.</a:t>
            </a:r>
            <a:endParaRPr lang="tr-TR" dirty="0"/>
          </a:p>
          <a:p>
            <a:endParaRPr lang="en-GB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Hypothesis</a:t>
            </a:r>
            <a:r>
              <a:rPr lang="tr-TR" dirty="0" smtClean="0"/>
              <a:t> 1 : </a:t>
            </a:r>
            <a:r>
              <a:rPr lang="tr-TR" dirty="0" err="1" smtClean="0"/>
              <a:t>no</a:t>
            </a:r>
            <a:r>
              <a:rPr lang="tr-TR" dirty="0" smtClean="0"/>
              <a:t> </a:t>
            </a:r>
            <a:r>
              <a:rPr lang="tr-TR" dirty="0" err="1" smtClean="0"/>
              <a:t>access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Universal </a:t>
            </a:r>
            <a:r>
              <a:rPr lang="tr-TR" dirty="0" err="1" smtClean="0"/>
              <a:t>Grammar</a:t>
            </a:r>
            <a:r>
              <a:rPr lang="tr-TR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928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tr-TR" dirty="0" smtClean="0"/>
              <a:t>1) </a:t>
            </a:r>
            <a:r>
              <a:rPr lang="en-US" u="sng" dirty="0" smtClean="0"/>
              <a:t>Full access/ no transfer </a:t>
            </a:r>
            <a:r>
              <a:rPr lang="en-US" dirty="0" smtClean="0"/>
              <a:t>: Flynn ( 1996) claims that there is no such thing as a critical period. UG is accessible at initial stages of learning and parameter setting is done directly to L2 values.</a:t>
            </a:r>
          </a:p>
          <a:p>
            <a:pPr lvl="1"/>
            <a:r>
              <a:rPr lang="en-US" sz="2800" dirty="0" smtClean="0"/>
              <a:t> L2 acquisition is similar to L1 as learners can acquire principles and parameter settings which do not exist in their L1.</a:t>
            </a:r>
          </a:p>
          <a:p>
            <a:pPr marL="365760" lvl="1" indent="0">
              <a:buNone/>
            </a:pPr>
            <a:r>
              <a:rPr lang="en-US" sz="2800" dirty="0" smtClean="0"/>
              <a:t> </a:t>
            </a:r>
            <a:r>
              <a:rPr lang="en-US" sz="2800" b="1" dirty="0" smtClean="0"/>
              <a:t>  Research</a:t>
            </a:r>
            <a:r>
              <a:rPr lang="tr-TR" sz="2800" b="1" dirty="0" smtClean="0"/>
              <a:t> 1</a:t>
            </a:r>
            <a:r>
              <a:rPr lang="en-US" sz="2800" dirty="0" smtClean="0"/>
              <a:t>: English speakers of Japanese can  </a:t>
            </a:r>
          </a:p>
          <a:p>
            <a:pPr marL="365760" lvl="1" indent="0">
              <a:buNone/>
            </a:pPr>
            <a:r>
              <a:rPr lang="en-US" sz="2800" dirty="0" smtClean="0"/>
              <a:t>   successfully reset the head-direction parameters</a:t>
            </a:r>
          </a:p>
          <a:p>
            <a:pPr marL="365760" lvl="1" indent="0">
              <a:buNone/>
            </a:pPr>
            <a:r>
              <a:rPr lang="en-US" sz="2800" dirty="0" smtClean="0"/>
              <a:t> ( from head- last to head-first)</a:t>
            </a:r>
            <a:endParaRPr lang="tr-TR" sz="2800" dirty="0" smtClean="0"/>
          </a:p>
          <a:p>
            <a:pPr marL="365760" lvl="1" indent="0">
              <a:buNone/>
            </a:pPr>
            <a:r>
              <a:rPr lang="tr-TR" sz="2800" b="1" dirty="0"/>
              <a:t> </a:t>
            </a:r>
            <a:r>
              <a:rPr lang="tr-TR" sz="2800" b="1" dirty="0" smtClean="0"/>
              <a:t>  </a:t>
            </a:r>
            <a:r>
              <a:rPr lang="en-US" sz="2800" b="1" dirty="0" smtClean="0"/>
              <a:t>Research 2</a:t>
            </a:r>
            <a:r>
              <a:rPr lang="en-US" sz="2800" dirty="0" smtClean="0"/>
              <a:t>:  Japanese could project </a:t>
            </a:r>
            <a:r>
              <a:rPr lang="en-US" sz="2800" dirty="0" err="1" smtClean="0"/>
              <a:t>Subjacency</a:t>
            </a:r>
            <a:r>
              <a:rPr lang="en-US" sz="2800" dirty="0" smtClean="0"/>
              <a:t> principle , </a:t>
            </a:r>
            <a:r>
              <a:rPr lang="en-US" sz="2800" i="1" dirty="0" err="1" smtClean="0"/>
              <a:t>wh</a:t>
            </a:r>
            <a:r>
              <a:rPr lang="en-US" sz="2800" i="1" dirty="0" smtClean="0"/>
              <a:t>-movement </a:t>
            </a:r>
            <a:r>
              <a:rPr lang="en-US" sz="2800" dirty="0" smtClean="0"/>
              <a:t>in English.</a:t>
            </a:r>
            <a:r>
              <a:rPr lang="tr-TR" sz="2800" dirty="0" smtClean="0"/>
              <a:t> ( </a:t>
            </a:r>
            <a:r>
              <a:rPr lang="tr-TR" sz="2800" dirty="0" err="1" smtClean="0"/>
              <a:t>Flynn</a:t>
            </a:r>
            <a:r>
              <a:rPr lang="tr-TR" sz="2800" dirty="0" smtClean="0"/>
              <a:t>)</a:t>
            </a:r>
            <a:endParaRPr lang="en-US" sz="2800" dirty="0" smtClean="0"/>
          </a:p>
          <a:p>
            <a:pPr marL="109728" indent="0">
              <a:buNone/>
            </a:pPr>
            <a:r>
              <a:rPr lang="en-US" sz="2800" dirty="0" smtClean="0"/>
              <a:t>     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Hypothesis</a:t>
            </a:r>
            <a:r>
              <a:rPr lang="tr-TR" dirty="0" smtClean="0"/>
              <a:t> 2 : </a:t>
            </a:r>
            <a:r>
              <a:rPr lang="tr-TR" dirty="0" err="1" smtClean="0"/>
              <a:t>full</a:t>
            </a:r>
            <a:r>
              <a:rPr lang="tr-TR" dirty="0" smtClean="0"/>
              <a:t> </a:t>
            </a:r>
            <a:r>
              <a:rPr lang="tr-TR" dirty="0" err="1" smtClean="0"/>
              <a:t>access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Universal </a:t>
            </a:r>
            <a:r>
              <a:rPr lang="tr-TR" dirty="0" err="1" smtClean="0"/>
              <a:t>Grammar</a:t>
            </a:r>
            <a:r>
              <a:rPr lang="tr-TR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48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tr-TR" dirty="0" smtClean="0"/>
              <a:t>2) </a:t>
            </a:r>
            <a:r>
              <a:rPr lang="tr-TR" u="sng" dirty="0" smtClean="0"/>
              <a:t>Full transfer / </a:t>
            </a:r>
            <a:r>
              <a:rPr lang="tr-TR" u="sng" dirty="0" err="1" smtClean="0"/>
              <a:t>full</a:t>
            </a:r>
            <a:r>
              <a:rPr lang="tr-TR" u="sng" dirty="0" smtClean="0"/>
              <a:t> </a:t>
            </a:r>
            <a:r>
              <a:rPr lang="tr-TR" u="sng" dirty="0" err="1" smtClean="0"/>
              <a:t>access</a:t>
            </a:r>
            <a:r>
              <a:rPr lang="tr-TR" dirty="0" smtClean="0"/>
              <a:t>: </a:t>
            </a:r>
            <a:r>
              <a:rPr lang="en-US" dirty="0" smtClean="0"/>
              <a:t>Pro</a:t>
            </a:r>
            <a:r>
              <a:rPr lang="en-US" dirty="0" smtClean="0"/>
              <a:t>ponents of this hypothesis believe that SLL</a:t>
            </a:r>
            <a:r>
              <a:rPr lang="tr-TR" dirty="0" smtClean="0"/>
              <a:t>s</a:t>
            </a:r>
            <a:r>
              <a:rPr lang="en-US" dirty="0" smtClean="0"/>
              <a:t> have full access to UG principles and parameters, whether or not they are present in the learners’ first language. </a:t>
            </a:r>
          </a:p>
          <a:p>
            <a:pPr marL="109728" indent="0">
              <a:buNone/>
            </a:pPr>
            <a:r>
              <a:rPr lang="en-US" dirty="0" smtClean="0"/>
              <a:t>   In this view , </a:t>
            </a:r>
            <a:r>
              <a:rPr lang="tr-TR" dirty="0" err="1" smtClean="0"/>
              <a:t>second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learners</a:t>
            </a:r>
            <a:r>
              <a:rPr lang="en-US" dirty="0" smtClean="0"/>
              <a:t> are thought to transfer all the parameter settings from their first language in an initial stage and revise their hypothesis when </a:t>
            </a:r>
            <a:r>
              <a:rPr lang="en-US" dirty="0" err="1" smtClean="0"/>
              <a:t>secon</a:t>
            </a:r>
            <a:r>
              <a:rPr lang="tr-TR" dirty="0" smtClean="0"/>
              <a:t>d</a:t>
            </a:r>
            <a:r>
              <a:rPr lang="en-US" dirty="0" smtClean="0"/>
              <a:t> language fails to conform these settings. </a:t>
            </a:r>
            <a:endParaRPr lang="en-US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2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3) </a:t>
            </a:r>
            <a:r>
              <a:rPr lang="tr-TR" u="sng" dirty="0" smtClean="0"/>
              <a:t>Full </a:t>
            </a:r>
            <a:r>
              <a:rPr lang="tr-TR" u="sng" dirty="0" err="1" smtClean="0"/>
              <a:t>access</a:t>
            </a:r>
            <a:r>
              <a:rPr lang="tr-TR" u="sng" dirty="0" smtClean="0"/>
              <a:t> / </a:t>
            </a:r>
            <a:r>
              <a:rPr lang="tr-TR" u="sng" dirty="0" err="1" smtClean="0"/>
              <a:t>impaired</a:t>
            </a:r>
            <a:r>
              <a:rPr lang="tr-TR" u="sng" dirty="0" smtClean="0"/>
              <a:t> </a:t>
            </a:r>
            <a:r>
              <a:rPr lang="tr-TR" u="sng" dirty="0" err="1" smtClean="0"/>
              <a:t>early</a:t>
            </a:r>
            <a:r>
              <a:rPr lang="tr-TR" u="sng" dirty="0" smtClean="0"/>
              <a:t> </a:t>
            </a:r>
            <a:r>
              <a:rPr lang="tr-TR" u="sng" dirty="0" err="1" smtClean="0"/>
              <a:t>representations</a:t>
            </a:r>
            <a:r>
              <a:rPr lang="tr-TR" u="sng" dirty="0" smtClean="0"/>
              <a:t> :</a:t>
            </a:r>
          </a:p>
          <a:p>
            <a:pPr marL="109728" indent="0">
              <a:buNone/>
            </a:pPr>
            <a:r>
              <a:rPr lang="tr-TR" dirty="0" smtClean="0"/>
              <a:t>    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supporters</a:t>
            </a:r>
            <a:r>
              <a:rPr lang="tr-TR" dirty="0" smtClean="0"/>
              <a:t> of </a:t>
            </a:r>
            <a:r>
              <a:rPr lang="tr-TR" dirty="0" err="1" smtClean="0"/>
              <a:t>this</a:t>
            </a:r>
            <a:r>
              <a:rPr lang="tr-TR" dirty="0" smtClean="0"/>
              <a:t> </a:t>
            </a:r>
            <a:r>
              <a:rPr lang="tr-TR" dirty="0" err="1" smtClean="0"/>
              <a:t>hypothesis</a:t>
            </a:r>
            <a:r>
              <a:rPr lang="tr-TR" dirty="0" smtClean="0"/>
              <a:t> </a:t>
            </a:r>
            <a:r>
              <a:rPr lang="tr-TR" dirty="0" err="1" smtClean="0"/>
              <a:t>believe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learners</a:t>
            </a:r>
            <a:r>
              <a:rPr lang="tr-TR" dirty="0" smtClean="0"/>
              <a:t> can </a:t>
            </a:r>
            <a:r>
              <a:rPr lang="tr-TR" dirty="0" err="1" smtClean="0"/>
              <a:t>reset</a:t>
            </a:r>
            <a:r>
              <a:rPr lang="tr-TR" dirty="0" smtClean="0"/>
              <a:t> </a:t>
            </a:r>
            <a:r>
              <a:rPr lang="tr-TR" dirty="0" err="1" smtClean="0"/>
              <a:t>parameters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second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values</a:t>
            </a:r>
            <a:r>
              <a:rPr lang="tr-TR" dirty="0" smtClean="0"/>
              <a:t> , but </a:t>
            </a:r>
            <a:r>
              <a:rPr lang="tr-TR" dirty="0" err="1" smtClean="0"/>
              <a:t>initially</a:t>
            </a:r>
            <a:r>
              <a:rPr lang="tr-TR" dirty="0" smtClean="0"/>
              <a:t> </a:t>
            </a:r>
            <a:r>
              <a:rPr lang="tr-TR" dirty="0" err="1" smtClean="0"/>
              <a:t>learners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lacking</a:t>
            </a:r>
            <a:r>
              <a:rPr lang="tr-TR" dirty="0" smtClean="0"/>
              <a:t>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categories</a:t>
            </a:r>
            <a:r>
              <a:rPr lang="tr-TR" dirty="0" smtClean="0"/>
              <a:t>.</a:t>
            </a:r>
          </a:p>
          <a:p>
            <a:pPr marL="109728" indent="0">
              <a:buNone/>
            </a:pPr>
            <a:r>
              <a:rPr lang="tr-TR" dirty="0"/>
              <a:t>(</a:t>
            </a:r>
            <a:r>
              <a:rPr lang="tr-TR" dirty="0" smtClean="0"/>
              <a:t>1996,98) </a:t>
            </a:r>
            <a:r>
              <a:rPr lang="tr-TR" u="sng" dirty="0" smtClean="0"/>
              <a:t>Minimal </a:t>
            </a:r>
            <a:r>
              <a:rPr lang="tr-TR" u="sng" dirty="0" err="1" smtClean="0"/>
              <a:t>Trees</a:t>
            </a:r>
            <a:r>
              <a:rPr lang="tr-TR" u="sng" dirty="0" smtClean="0"/>
              <a:t> </a:t>
            </a:r>
            <a:r>
              <a:rPr lang="tr-TR" u="sng" dirty="0" err="1" smtClean="0"/>
              <a:t>Approach</a:t>
            </a:r>
            <a:r>
              <a:rPr lang="tr-TR" u="sng" dirty="0" smtClean="0"/>
              <a:t>: </a:t>
            </a:r>
            <a:r>
              <a:rPr lang="tr-TR" dirty="0" smtClean="0"/>
              <a:t>At </a:t>
            </a:r>
            <a:r>
              <a:rPr lang="tr-TR" dirty="0" err="1" smtClean="0"/>
              <a:t>initial</a:t>
            </a:r>
            <a:r>
              <a:rPr lang="tr-TR" dirty="0" smtClean="0"/>
              <a:t> </a:t>
            </a:r>
            <a:r>
              <a:rPr lang="tr-TR" dirty="0" err="1" smtClean="0"/>
              <a:t>stages</a:t>
            </a:r>
            <a:r>
              <a:rPr lang="tr-TR" dirty="0" smtClean="0"/>
              <a:t> </a:t>
            </a:r>
            <a:r>
              <a:rPr lang="tr-TR" dirty="0" err="1" smtClean="0"/>
              <a:t>only</a:t>
            </a:r>
            <a:r>
              <a:rPr lang="tr-TR" dirty="0" smtClean="0"/>
              <a:t> </a:t>
            </a:r>
            <a:r>
              <a:rPr lang="tr-TR" dirty="0" err="1" smtClean="0"/>
              <a:t>lexical</a:t>
            </a:r>
            <a:r>
              <a:rPr lang="tr-TR" dirty="0" smtClean="0"/>
              <a:t> </a:t>
            </a:r>
            <a:r>
              <a:rPr lang="tr-TR" dirty="0" err="1" smtClean="0"/>
              <a:t>categories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projected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categories</a:t>
            </a:r>
            <a:r>
              <a:rPr lang="tr-TR" dirty="0" smtClean="0"/>
              <a:t> </a:t>
            </a:r>
            <a:r>
              <a:rPr lang="tr-TR" dirty="0" err="1" smtClean="0"/>
              <a:t>develop</a:t>
            </a:r>
            <a:r>
              <a:rPr lang="tr-TR" dirty="0" smtClean="0"/>
              <a:t> </a:t>
            </a:r>
            <a:r>
              <a:rPr lang="tr-TR" dirty="0" err="1" smtClean="0"/>
              <a:t>later</a:t>
            </a:r>
            <a:r>
              <a:rPr lang="tr-TR" dirty="0" smtClean="0"/>
              <a:t>.</a:t>
            </a:r>
          </a:p>
          <a:p>
            <a:pPr marL="109728" indent="0">
              <a:buNone/>
            </a:pPr>
            <a:r>
              <a:rPr lang="tr-TR" dirty="0" smtClean="0"/>
              <a:t>(1996)  </a:t>
            </a:r>
            <a:r>
              <a:rPr lang="tr-TR" u="sng" dirty="0" err="1" smtClean="0"/>
              <a:t>Valueless</a:t>
            </a:r>
            <a:r>
              <a:rPr lang="tr-TR" u="sng" dirty="0" smtClean="0"/>
              <a:t> </a:t>
            </a:r>
            <a:r>
              <a:rPr lang="tr-TR" u="sng" dirty="0" err="1" smtClean="0"/>
              <a:t>Features</a:t>
            </a:r>
            <a:r>
              <a:rPr lang="tr-TR" u="sng" dirty="0" smtClean="0"/>
              <a:t>: </a:t>
            </a:r>
            <a:r>
              <a:rPr lang="tr-TR" dirty="0" err="1" smtClean="0"/>
              <a:t>Both</a:t>
            </a:r>
            <a:r>
              <a:rPr lang="tr-TR" dirty="0" smtClean="0"/>
              <a:t> </a:t>
            </a:r>
            <a:r>
              <a:rPr lang="tr-TR" dirty="0" err="1" smtClean="0"/>
              <a:t>lexical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categories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transfered</a:t>
            </a:r>
            <a:r>
              <a:rPr lang="tr-TR" dirty="0" smtClean="0"/>
              <a:t> </a:t>
            </a:r>
            <a:r>
              <a:rPr lang="tr-TR" dirty="0" err="1" smtClean="0"/>
              <a:t>from</a:t>
            </a:r>
            <a:r>
              <a:rPr lang="tr-TR" dirty="0" smtClean="0"/>
              <a:t> L1 but </a:t>
            </a:r>
            <a:r>
              <a:rPr lang="tr-TR" dirty="0" err="1" smtClean="0"/>
              <a:t>functional</a:t>
            </a:r>
            <a:r>
              <a:rPr lang="tr-TR" dirty="0" smtClean="0"/>
              <a:t> </a:t>
            </a:r>
            <a:r>
              <a:rPr lang="tr-TR" dirty="0" err="1" smtClean="0"/>
              <a:t>categories</a:t>
            </a:r>
            <a:r>
              <a:rPr lang="tr-TR" dirty="0" smtClean="0"/>
              <a:t> </a:t>
            </a:r>
            <a:r>
              <a:rPr lang="tr-TR" dirty="0" err="1" smtClean="0"/>
              <a:t>lack</a:t>
            </a:r>
            <a:r>
              <a:rPr lang="tr-TR" dirty="0" smtClean="0"/>
              <a:t> </a:t>
            </a:r>
            <a:r>
              <a:rPr lang="tr-TR" dirty="0" err="1" smtClean="0"/>
              <a:t>values</a:t>
            </a:r>
            <a:r>
              <a:rPr lang="tr-TR" dirty="0" smtClean="0"/>
              <a:t> </a:t>
            </a:r>
            <a:r>
              <a:rPr lang="tr-TR" dirty="0" err="1" smtClean="0"/>
              <a:t>such</a:t>
            </a:r>
            <a:r>
              <a:rPr lang="tr-TR" dirty="0" smtClean="0"/>
              <a:t> as tense , </a:t>
            </a:r>
            <a:r>
              <a:rPr lang="tr-TR" dirty="0" err="1" smtClean="0"/>
              <a:t>agreement</a:t>
            </a:r>
            <a:r>
              <a:rPr lang="tr-TR" dirty="0" smtClean="0"/>
              <a:t>..</a:t>
            </a:r>
            <a:r>
              <a:rPr lang="tr-TR" dirty="0" err="1" smtClean="0"/>
              <a:t>etc</a:t>
            </a:r>
            <a:endParaRPr lang="tr-TR" dirty="0" smtClean="0"/>
          </a:p>
          <a:p>
            <a:endParaRPr lang="en-US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4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No </a:t>
            </a:r>
            <a:r>
              <a:rPr lang="tr-TR" b="1" dirty="0" err="1" smtClean="0"/>
              <a:t>parameter</a:t>
            </a:r>
            <a:r>
              <a:rPr lang="tr-TR" b="1" dirty="0" smtClean="0"/>
              <a:t> </a:t>
            </a:r>
            <a:r>
              <a:rPr lang="tr-TR" b="1" dirty="0" err="1" smtClean="0"/>
              <a:t>resetting</a:t>
            </a:r>
            <a:r>
              <a:rPr lang="tr-TR" b="1" dirty="0" smtClean="0"/>
              <a:t> :  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 </a:t>
            </a:r>
            <a:r>
              <a:rPr lang="tr-TR" dirty="0" err="1" smtClean="0"/>
              <a:t>Proponents</a:t>
            </a:r>
            <a:r>
              <a:rPr lang="tr-TR" dirty="0" smtClean="0"/>
              <a:t> of </a:t>
            </a:r>
            <a:r>
              <a:rPr lang="tr-TR" dirty="0" err="1" smtClean="0"/>
              <a:t>this</a:t>
            </a:r>
            <a:r>
              <a:rPr lang="tr-TR" dirty="0" smtClean="0"/>
              <a:t> </a:t>
            </a:r>
            <a:r>
              <a:rPr lang="tr-TR" dirty="0" err="1" smtClean="0"/>
              <a:t>hypothesis</a:t>
            </a:r>
            <a:r>
              <a:rPr lang="tr-TR" dirty="0" smtClean="0"/>
              <a:t> </a:t>
            </a:r>
            <a:r>
              <a:rPr lang="tr-TR" dirty="0" err="1" smtClean="0"/>
              <a:t>claim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learners</a:t>
            </a:r>
            <a:r>
              <a:rPr lang="tr-TR" dirty="0" smtClean="0"/>
              <a:t> </a:t>
            </a:r>
            <a:r>
              <a:rPr lang="tr-TR" dirty="0" err="1" smtClean="0"/>
              <a:t>only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 </a:t>
            </a:r>
            <a:r>
              <a:rPr lang="tr-TR" dirty="0" err="1" smtClean="0"/>
              <a:t>access</a:t>
            </a:r>
            <a:r>
              <a:rPr lang="tr-TR" dirty="0" smtClean="0"/>
              <a:t>  </a:t>
            </a:r>
            <a:r>
              <a:rPr lang="tr-TR" dirty="0" err="1" smtClean="0"/>
              <a:t>to</a:t>
            </a:r>
            <a:r>
              <a:rPr lang="tr-TR" dirty="0" smtClean="0"/>
              <a:t> UG </a:t>
            </a:r>
            <a:r>
              <a:rPr lang="tr-TR" dirty="0" err="1" smtClean="0"/>
              <a:t>via</a:t>
            </a:r>
            <a:r>
              <a:rPr lang="tr-TR" dirty="0" smtClean="0"/>
              <a:t> </a:t>
            </a:r>
            <a:r>
              <a:rPr lang="tr-TR" dirty="0" err="1" smtClean="0"/>
              <a:t>their</a:t>
            </a:r>
            <a:r>
              <a:rPr lang="tr-TR" dirty="0" smtClean="0"/>
              <a:t> </a:t>
            </a:r>
            <a:r>
              <a:rPr lang="tr-TR" dirty="0" err="1" smtClean="0"/>
              <a:t>first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. </a:t>
            </a:r>
          </a:p>
          <a:p>
            <a:pPr marL="109728" indent="0">
              <a:buNone/>
            </a:pPr>
            <a:r>
              <a:rPr lang="tr-TR" dirty="0" smtClean="0"/>
              <a:t>SLA  is </a:t>
            </a:r>
            <a:r>
              <a:rPr lang="tr-TR" dirty="0" err="1" smtClean="0"/>
              <a:t>unlike</a:t>
            </a:r>
            <a:r>
              <a:rPr lang="tr-TR" dirty="0" smtClean="0"/>
              <a:t> L1 </a:t>
            </a:r>
            <a:r>
              <a:rPr lang="tr-TR" dirty="0" err="1" smtClean="0"/>
              <a:t>acqusition</a:t>
            </a:r>
            <a:r>
              <a:rPr lang="tr-TR" dirty="0" smtClean="0"/>
              <a:t>. 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 </a:t>
            </a:r>
            <a:r>
              <a:rPr lang="tr-TR" dirty="0" err="1" smtClean="0"/>
              <a:t>They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 </a:t>
            </a:r>
            <a:r>
              <a:rPr lang="tr-TR" dirty="0" err="1" smtClean="0"/>
              <a:t>already</a:t>
            </a:r>
            <a:r>
              <a:rPr lang="tr-TR" dirty="0" smtClean="0"/>
              <a:t> set </a:t>
            </a:r>
            <a:r>
              <a:rPr lang="tr-TR" dirty="0" err="1" smtClean="0"/>
              <a:t>parameters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their</a:t>
            </a:r>
            <a:r>
              <a:rPr lang="tr-TR" dirty="0" smtClean="0"/>
              <a:t> L1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this</a:t>
            </a:r>
            <a:r>
              <a:rPr lang="tr-TR" dirty="0" smtClean="0"/>
              <a:t> is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basis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 L2. </a:t>
            </a:r>
            <a:r>
              <a:rPr lang="tr-TR" dirty="0" err="1" smtClean="0"/>
              <a:t>Other</a:t>
            </a:r>
            <a:r>
              <a:rPr lang="tr-TR" dirty="0" smtClean="0"/>
              <a:t> </a:t>
            </a:r>
            <a:r>
              <a:rPr lang="tr-TR" dirty="0" err="1" smtClean="0"/>
              <a:t>principles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parameters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not </a:t>
            </a:r>
            <a:r>
              <a:rPr lang="tr-TR" dirty="0" err="1" smtClean="0"/>
              <a:t>avaliable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them</a:t>
            </a:r>
            <a:r>
              <a:rPr lang="tr-TR" dirty="0" smtClean="0"/>
              <a:t>.  </a:t>
            </a:r>
            <a:r>
              <a:rPr lang="tr-TR" dirty="0" err="1" smtClean="0"/>
              <a:t>They</a:t>
            </a:r>
            <a:r>
              <a:rPr lang="tr-TR" dirty="0" smtClean="0"/>
              <a:t> </a:t>
            </a:r>
            <a:r>
              <a:rPr lang="tr-TR" dirty="0" err="1" smtClean="0"/>
              <a:t>will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resort</a:t>
            </a:r>
            <a:r>
              <a:rPr lang="tr-TR" dirty="0" smtClean="0"/>
              <a:t> </a:t>
            </a:r>
            <a:r>
              <a:rPr lang="tr-TR" dirty="0" err="1" smtClean="0"/>
              <a:t>other</a:t>
            </a:r>
            <a:r>
              <a:rPr lang="tr-TR" dirty="0" smtClean="0"/>
              <a:t> </a:t>
            </a:r>
            <a:r>
              <a:rPr lang="tr-TR" dirty="0" err="1" smtClean="0"/>
              <a:t>mechanisims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different</a:t>
            </a:r>
            <a:r>
              <a:rPr lang="tr-TR" dirty="0" smtClean="0"/>
              <a:t> </a:t>
            </a:r>
            <a:r>
              <a:rPr lang="tr-TR" dirty="0" err="1" smtClean="0"/>
              <a:t>parameter</a:t>
            </a:r>
            <a:r>
              <a:rPr lang="tr-TR" dirty="0" smtClean="0"/>
              <a:t> </a:t>
            </a:r>
            <a:r>
              <a:rPr lang="tr-TR" dirty="0" err="1" smtClean="0"/>
              <a:t>settings</a:t>
            </a:r>
            <a:r>
              <a:rPr lang="tr-TR" dirty="0" smtClean="0"/>
              <a:t>.  </a:t>
            </a:r>
            <a:endParaRPr lang="en-US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Hypothesis</a:t>
            </a:r>
            <a:r>
              <a:rPr lang="tr-TR" dirty="0" smtClean="0"/>
              <a:t> 3 : </a:t>
            </a:r>
            <a:r>
              <a:rPr lang="tr-TR" dirty="0" err="1" smtClean="0"/>
              <a:t>Partial</a:t>
            </a:r>
            <a:r>
              <a:rPr lang="tr-TR" dirty="0" smtClean="0"/>
              <a:t> </a:t>
            </a:r>
            <a:r>
              <a:rPr lang="tr-TR" dirty="0" err="1" smtClean="0"/>
              <a:t>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20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etin Yer Tutucusu 5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tr-TR" dirty="0" err="1" smtClean="0"/>
              <a:t>Biley-Vroman</a:t>
            </a:r>
            <a:r>
              <a:rPr lang="tr-TR" dirty="0" smtClean="0"/>
              <a:t>, 1989, p,51</a:t>
            </a:r>
            <a:endParaRPr lang="en-US" dirty="0"/>
          </a:p>
        </p:txBody>
      </p:sp>
      <p:sp>
        <p:nvSpPr>
          <p:cNvPr id="2" name="İçerik Yer Tutucusu 1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tr-TR" b="1" dirty="0" smtClean="0"/>
              <a:t>Child </a:t>
            </a:r>
            <a:r>
              <a:rPr lang="tr-TR" b="1" dirty="0" smtClean="0"/>
              <a:t>Language Development </a:t>
            </a:r>
          </a:p>
          <a:p>
            <a:endParaRPr lang="tr-TR" dirty="0" smtClean="0"/>
          </a:p>
          <a:p>
            <a:r>
              <a:rPr lang="tr-TR" dirty="0" smtClean="0"/>
              <a:t>A. Universal </a:t>
            </a:r>
            <a:r>
              <a:rPr lang="tr-TR" dirty="0" err="1" smtClean="0"/>
              <a:t>Grammar</a:t>
            </a:r>
            <a:endParaRPr lang="tr-TR" dirty="0" smtClean="0"/>
          </a:p>
          <a:p>
            <a:r>
              <a:rPr lang="tr-TR" dirty="0" smtClean="0"/>
              <a:t>B. Domain-</a:t>
            </a:r>
            <a:r>
              <a:rPr lang="tr-TR" dirty="0" err="1" smtClean="0"/>
              <a:t>Specific</a:t>
            </a:r>
            <a:r>
              <a:rPr lang="tr-TR" dirty="0" smtClean="0"/>
              <a:t> </a:t>
            </a:r>
            <a:r>
              <a:rPr lang="tr-TR" dirty="0" err="1" smtClean="0"/>
              <a:t>learning</a:t>
            </a:r>
            <a:r>
              <a:rPr lang="tr-TR" dirty="0" smtClean="0"/>
              <a:t> </a:t>
            </a:r>
            <a:r>
              <a:rPr lang="tr-TR" dirty="0" err="1" smtClean="0"/>
              <a:t>processes</a:t>
            </a:r>
            <a:endParaRPr lang="tr-TR" dirty="0" smtClean="0"/>
          </a:p>
          <a:p>
            <a:endParaRPr lang="en-US" dirty="0"/>
          </a:p>
        </p:txBody>
      </p:sp>
      <p:sp>
        <p:nvSpPr>
          <p:cNvPr id="7" name="İçerik Yer Tutucusu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tr-TR" b="1" dirty="0" err="1" smtClean="0"/>
              <a:t>Adult</a:t>
            </a:r>
            <a:r>
              <a:rPr lang="tr-TR" b="1" dirty="0" smtClean="0"/>
              <a:t> </a:t>
            </a:r>
            <a:r>
              <a:rPr lang="tr-TR" b="1" dirty="0" err="1" smtClean="0"/>
              <a:t>Foreign</a:t>
            </a:r>
            <a:r>
              <a:rPr lang="tr-TR" b="1" dirty="0" smtClean="0"/>
              <a:t> </a:t>
            </a:r>
            <a:r>
              <a:rPr lang="tr-TR" b="1" dirty="0" err="1" smtClean="0"/>
              <a:t>language</a:t>
            </a:r>
            <a:r>
              <a:rPr lang="tr-TR" b="1" dirty="0" smtClean="0"/>
              <a:t> </a:t>
            </a:r>
            <a:r>
              <a:rPr lang="tr-TR" b="1" dirty="0" err="1" smtClean="0"/>
              <a:t>learning</a:t>
            </a:r>
            <a:endParaRPr lang="tr-TR" b="1" dirty="0" smtClean="0"/>
          </a:p>
          <a:p>
            <a:pPr marL="109728" indent="0">
              <a:buNone/>
            </a:pPr>
            <a:endParaRPr lang="tr-TR" b="1" dirty="0" smtClean="0"/>
          </a:p>
          <a:p>
            <a:r>
              <a:rPr lang="tr-TR" dirty="0" smtClean="0"/>
              <a:t>A. </a:t>
            </a:r>
            <a:r>
              <a:rPr lang="tr-TR" dirty="0" err="1" smtClean="0"/>
              <a:t>Native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knowledge</a:t>
            </a:r>
            <a:endParaRPr lang="tr-TR" dirty="0" smtClean="0"/>
          </a:p>
          <a:p>
            <a:r>
              <a:rPr lang="tr-TR" dirty="0" smtClean="0"/>
              <a:t>B. General problem </a:t>
            </a:r>
            <a:r>
              <a:rPr lang="tr-TR" dirty="0" err="1" smtClean="0"/>
              <a:t>solving</a:t>
            </a:r>
            <a:r>
              <a:rPr lang="tr-TR" dirty="0" smtClean="0"/>
              <a:t> </a:t>
            </a:r>
            <a:r>
              <a:rPr lang="tr-TR" dirty="0" err="1" smtClean="0"/>
              <a:t>system</a:t>
            </a:r>
            <a:r>
              <a:rPr lang="tr-TR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2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İçerik Yer Tutucusu 7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u="sng" dirty="0" smtClean="0"/>
              <a:t>Research</a:t>
            </a:r>
            <a:r>
              <a:rPr lang="en-US" dirty="0" smtClean="0"/>
              <a:t>: English learners of Korean speakers failed to recognize ‘ </a:t>
            </a:r>
            <a:r>
              <a:rPr lang="en-US" i="1" dirty="0" err="1" smtClean="0"/>
              <a:t>wh</a:t>
            </a:r>
            <a:r>
              <a:rPr lang="en-US" i="1" dirty="0" smtClean="0"/>
              <a:t> –movemen</a:t>
            </a:r>
            <a:r>
              <a:rPr lang="en-US" dirty="0" smtClean="0"/>
              <a:t>t’ in English. As , there is no ‘</a:t>
            </a:r>
            <a:r>
              <a:rPr lang="en-US" dirty="0" err="1" smtClean="0"/>
              <a:t>wh</a:t>
            </a:r>
            <a:r>
              <a:rPr lang="en-US" dirty="0" smtClean="0"/>
              <a:t>-movement’ in Korean so the </a:t>
            </a:r>
            <a:r>
              <a:rPr lang="en-US" dirty="0" err="1" smtClean="0"/>
              <a:t>subjacency</a:t>
            </a:r>
            <a:r>
              <a:rPr lang="en-US" dirty="0" smtClean="0"/>
              <a:t> principle is presumably not operative. </a:t>
            </a:r>
          </a:p>
          <a:p>
            <a:r>
              <a:rPr lang="en-US" dirty="0" smtClean="0"/>
              <a:t> - contradict with the study of Flynn??? –</a:t>
            </a:r>
          </a:p>
          <a:p>
            <a:r>
              <a:rPr lang="en-US" dirty="0" err="1" smtClean="0"/>
              <a:t>Schachter</a:t>
            </a:r>
            <a:r>
              <a:rPr lang="en-US" dirty="0" smtClean="0"/>
              <a:t> accepts that UG may be available for child second language learners, but argues there is a critical period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she</a:t>
            </a:r>
            <a:r>
              <a:rPr lang="tr-TR" dirty="0" smtClean="0"/>
              <a:t> </a:t>
            </a:r>
            <a:r>
              <a:rPr lang="tr-TR" dirty="0" err="1" smtClean="0"/>
              <a:t>calls</a:t>
            </a:r>
            <a:r>
              <a:rPr lang="tr-TR" dirty="0" smtClean="0"/>
              <a:t> as ‘</a:t>
            </a:r>
            <a:r>
              <a:rPr lang="en-US" dirty="0" smtClean="0"/>
              <a:t> Window of Opportunity</a:t>
            </a:r>
            <a:r>
              <a:rPr lang="tr-TR" dirty="0" smtClean="0"/>
              <a:t>’.</a:t>
            </a:r>
            <a:endParaRPr lang="en-US" dirty="0" smtClean="0"/>
          </a:p>
          <a:p>
            <a:r>
              <a:rPr lang="en-US" dirty="0" smtClean="0"/>
              <a:t>Child Second Language learners pass through different Windows for different modules of the target language. </a:t>
            </a:r>
          </a:p>
          <a:p>
            <a:endParaRPr lang="tr-TR" dirty="0"/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7" name="Başlık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818651"/>
          </a:xfrm>
        </p:spPr>
        <p:txBody>
          <a:bodyPr>
            <a:normAutofit fontScale="92500" lnSpcReduction="10000"/>
          </a:bodyPr>
          <a:lstStyle/>
          <a:p>
            <a:r>
              <a:rPr lang="en-US" i="1" u="sng" dirty="0" smtClean="0"/>
              <a:t>Impaired functional features</a:t>
            </a:r>
            <a:r>
              <a:rPr lang="en-US" dirty="0" smtClean="0"/>
              <a:t>:</a:t>
            </a:r>
            <a:r>
              <a:rPr lang="tr-TR" dirty="0" smtClean="0"/>
              <a:t> Second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grammars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Universal </a:t>
            </a:r>
            <a:r>
              <a:rPr lang="tr-TR" dirty="0" err="1" smtClean="0"/>
              <a:t>Grammar-constrained</a:t>
            </a:r>
            <a:r>
              <a:rPr lang="tr-TR" dirty="0" smtClean="0"/>
              <a:t>, but not </a:t>
            </a:r>
            <a:r>
              <a:rPr lang="tr-TR" dirty="0" err="1" smtClean="0"/>
              <a:t>all</a:t>
            </a:r>
            <a:r>
              <a:rPr lang="tr-TR" dirty="0" smtClean="0"/>
              <a:t> </a:t>
            </a:r>
            <a:r>
              <a:rPr lang="tr-TR" dirty="0" err="1" smtClean="0"/>
              <a:t>parameter</a:t>
            </a:r>
            <a:r>
              <a:rPr lang="tr-TR" dirty="0" smtClean="0"/>
              <a:t> </a:t>
            </a:r>
            <a:r>
              <a:rPr lang="tr-TR" dirty="0" err="1" smtClean="0"/>
              <a:t>settings</a:t>
            </a:r>
            <a:r>
              <a:rPr lang="tr-TR" dirty="0" smtClean="0"/>
              <a:t> </a:t>
            </a:r>
            <a:r>
              <a:rPr lang="tr-TR" dirty="0" err="1" smtClean="0"/>
              <a:t>will</a:t>
            </a:r>
            <a:r>
              <a:rPr lang="tr-TR" dirty="0" smtClean="0"/>
              <a:t> be </a:t>
            </a:r>
            <a:r>
              <a:rPr lang="tr-TR" dirty="0" err="1" smtClean="0"/>
              <a:t>available</a:t>
            </a:r>
            <a:r>
              <a:rPr lang="tr-TR" dirty="0" smtClean="0"/>
              <a:t>. SLL </a:t>
            </a:r>
            <a:r>
              <a:rPr lang="tr-TR" dirty="0" err="1" smtClean="0"/>
              <a:t>will</a:t>
            </a:r>
            <a:r>
              <a:rPr lang="tr-TR" dirty="0" smtClean="0"/>
              <a:t> </a:t>
            </a:r>
            <a:r>
              <a:rPr lang="tr-TR" dirty="0" err="1" smtClean="0"/>
              <a:t>try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accommodate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second</a:t>
            </a:r>
            <a:r>
              <a:rPr lang="tr-TR" dirty="0" smtClean="0"/>
              <a:t> </a:t>
            </a:r>
            <a:r>
              <a:rPr lang="tr-TR" dirty="0" err="1" smtClean="0"/>
              <a:t>language</a:t>
            </a:r>
            <a:r>
              <a:rPr lang="tr-TR" dirty="0" smtClean="0"/>
              <a:t> </a:t>
            </a:r>
            <a:r>
              <a:rPr lang="tr-TR" dirty="0" err="1" smtClean="0"/>
              <a:t>grammar</a:t>
            </a:r>
            <a:r>
              <a:rPr lang="tr-TR" dirty="0" smtClean="0"/>
              <a:t> </a:t>
            </a:r>
            <a:r>
              <a:rPr lang="tr-TR" dirty="0" err="1" smtClean="0"/>
              <a:t>within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settings</a:t>
            </a:r>
            <a:r>
              <a:rPr lang="tr-TR" dirty="0" smtClean="0"/>
              <a:t> </a:t>
            </a:r>
            <a:r>
              <a:rPr lang="tr-TR" dirty="0" err="1" smtClean="0"/>
              <a:t>they</a:t>
            </a:r>
            <a:r>
              <a:rPr lang="tr-TR" dirty="0" smtClean="0"/>
              <a:t> </a:t>
            </a:r>
            <a:r>
              <a:rPr lang="tr-TR" dirty="0" err="1" smtClean="0"/>
              <a:t>already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. </a:t>
            </a:r>
          </a:p>
          <a:p>
            <a:endParaRPr lang="en-US" dirty="0" smtClean="0"/>
          </a:p>
          <a:p>
            <a:r>
              <a:rPr lang="tr-TR" i="1" u="sng" dirty="0" err="1" smtClean="0"/>
              <a:t>Modulated</a:t>
            </a:r>
            <a:r>
              <a:rPr lang="tr-TR" i="1" u="sng" dirty="0" smtClean="0"/>
              <a:t> </a:t>
            </a:r>
            <a:r>
              <a:rPr lang="tr-TR" i="1" u="sng" dirty="0" err="1" smtClean="0"/>
              <a:t>structure</a:t>
            </a:r>
            <a:r>
              <a:rPr lang="tr-TR" i="1" u="sng" dirty="0" smtClean="0"/>
              <a:t> </a:t>
            </a:r>
            <a:r>
              <a:rPr lang="tr-TR" i="1" u="sng" dirty="0" err="1" smtClean="0"/>
              <a:t>building</a:t>
            </a:r>
            <a:r>
              <a:rPr lang="tr-TR" dirty="0" smtClean="0"/>
              <a:t>: </a:t>
            </a:r>
            <a:r>
              <a:rPr lang="en-US" dirty="0" smtClean="0"/>
              <a:t>Hawkins &amp; Chan argue that learners start with minimal trees that are lexical projections . Functional projections develop later. They argue that learners re-</a:t>
            </a:r>
            <a:r>
              <a:rPr lang="en-US" dirty="0" err="1" smtClean="0"/>
              <a:t>analyse</a:t>
            </a:r>
            <a:r>
              <a:rPr lang="en-US" dirty="0" smtClean="0"/>
              <a:t> the input to make it fit their first language setting.</a:t>
            </a:r>
          </a:p>
          <a:p>
            <a:endParaRPr lang="tr-TR" dirty="0" smtClean="0"/>
          </a:p>
          <a:p>
            <a:r>
              <a:rPr lang="tr-TR" i="1" u="sng" dirty="0" err="1" smtClean="0"/>
              <a:t>Constructionism</a:t>
            </a:r>
            <a:r>
              <a:rPr lang="tr-TR" u="sng" dirty="0" smtClean="0"/>
              <a:t>:   </a:t>
            </a:r>
            <a:r>
              <a:rPr lang="en-GB" dirty="0" smtClean="0"/>
              <a:t>It proposes that L2er uses a coalition of resources to construct L2 vocabulary and grammar; UG template, first language transfer, primary linguistic data, input and intake, instructional </a:t>
            </a:r>
            <a:r>
              <a:rPr lang="en-GB" dirty="0" err="1" smtClean="0"/>
              <a:t>bootst</a:t>
            </a:r>
            <a:r>
              <a:rPr lang="tr-TR" dirty="0" smtClean="0"/>
              <a:t>rap</a:t>
            </a:r>
            <a:r>
              <a:rPr lang="en-GB" dirty="0" smtClean="0"/>
              <a:t>ping</a:t>
            </a:r>
            <a:r>
              <a:rPr lang="tr-TR" u="sng" dirty="0" smtClean="0"/>
              <a:t>. </a:t>
            </a:r>
            <a:endParaRPr lang="en-US" u="sng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7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 </a:t>
            </a:r>
            <a:r>
              <a:rPr lang="en-US" dirty="0" smtClean="0"/>
              <a:t>Today researches in this area have shifted from the initial question of the availability </a:t>
            </a:r>
            <a:r>
              <a:rPr lang="en-US" dirty="0" err="1" smtClean="0"/>
              <a:t>vs</a:t>
            </a:r>
            <a:r>
              <a:rPr lang="en-US" dirty="0" smtClean="0"/>
              <a:t> non-</a:t>
            </a:r>
            <a:r>
              <a:rPr lang="en-US" dirty="0" err="1" smtClean="0"/>
              <a:t>avaliability</a:t>
            </a:r>
            <a:r>
              <a:rPr lang="en-US" dirty="0" smtClean="0"/>
              <a:t> of Universal Grammar  towards a more modular  view. New studies are being conducted on testing the availability of sub-modules of UG rather than UG itself. </a:t>
            </a:r>
            <a:endParaRPr lang="en-US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3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 </a:t>
            </a:r>
            <a:r>
              <a:rPr lang="en-US" b="1" dirty="0" smtClean="0"/>
              <a:t>The scope and achievements of UG</a:t>
            </a:r>
          </a:p>
          <a:p>
            <a:r>
              <a:rPr lang="en-US" dirty="0" smtClean="0"/>
              <a:t>   UG is a linguistic theory , not a learning theory so tries to answer the question;</a:t>
            </a:r>
          </a:p>
          <a:p>
            <a:pPr marL="109728" indent="0">
              <a:buNone/>
            </a:pPr>
            <a:r>
              <a:rPr lang="en-US" dirty="0" smtClean="0"/>
              <a:t>   What constitutes knowledge of language 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Influential in helping researches to draw up hypotheses.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Feed into a comprehensive second language acquisition theory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Evaluation of UG </a:t>
            </a:r>
            <a:r>
              <a:rPr lang="tr-TR" dirty="0" err="1" smtClean="0"/>
              <a:t>based</a:t>
            </a:r>
            <a:r>
              <a:rPr lang="tr-TR" dirty="0" smtClean="0"/>
              <a:t> on SLA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6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09728" indent="0">
              <a:buNone/>
            </a:pPr>
            <a:r>
              <a:rPr lang="tr-TR" b="1" dirty="0" smtClean="0"/>
              <a:t>UG </a:t>
            </a:r>
            <a:r>
              <a:rPr lang="tr-TR" b="1" dirty="0" err="1" smtClean="0"/>
              <a:t>view</a:t>
            </a:r>
            <a:r>
              <a:rPr lang="tr-TR" b="1" dirty="0" smtClean="0"/>
              <a:t> of </a:t>
            </a:r>
            <a:r>
              <a:rPr lang="tr-TR" b="1" dirty="0" err="1" smtClean="0"/>
              <a:t>language</a:t>
            </a:r>
            <a:r>
              <a:rPr lang="tr-TR" b="1" dirty="0" smtClean="0"/>
              <a:t> </a:t>
            </a:r>
          </a:p>
          <a:p>
            <a:r>
              <a:rPr lang="en-GB" dirty="0" smtClean="0"/>
              <a:t>UG is only concerned with the sentence and internal structure of language.  It treats language as being a mental object rather than a social and psychological one.</a:t>
            </a:r>
          </a:p>
          <a:p>
            <a:r>
              <a:rPr lang="en-GB" dirty="0" smtClean="0"/>
              <a:t>The theory is dealing with modelling linguistic competence , and the study of naturalistic performance is not seen as a suitable window into mental representations of language.</a:t>
            </a:r>
            <a:endParaRPr lang="tr-TR" dirty="0" smtClean="0"/>
          </a:p>
          <a:p>
            <a:r>
              <a:rPr lang="tr-TR" dirty="0" err="1" smtClean="0"/>
              <a:t>Lack</a:t>
            </a:r>
            <a:r>
              <a:rPr lang="tr-TR" dirty="0" smtClean="0"/>
              <a:t> of </a:t>
            </a:r>
            <a:r>
              <a:rPr lang="tr-TR" dirty="0" err="1" smtClean="0"/>
              <a:t>reliability</a:t>
            </a:r>
            <a:r>
              <a:rPr lang="tr-TR" dirty="0" smtClean="0"/>
              <a:t> is </a:t>
            </a:r>
            <a:r>
              <a:rPr lang="tr-TR" dirty="0" err="1" smtClean="0"/>
              <a:t>another</a:t>
            </a:r>
            <a:r>
              <a:rPr lang="tr-TR" dirty="0" smtClean="0"/>
              <a:t> </a:t>
            </a:r>
            <a:r>
              <a:rPr lang="tr-TR" dirty="0" err="1" smtClean="0"/>
              <a:t>concern</a:t>
            </a:r>
            <a:r>
              <a:rPr lang="tr-TR" dirty="0" smtClean="0"/>
              <a:t> in UG. </a:t>
            </a:r>
            <a:r>
              <a:rPr lang="tr-TR" dirty="0" err="1" smtClean="0"/>
              <a:t>Grammaticality</a:t>
            </a:r>
            <a:r>
              <a:rPr lang="tr-TR" dirty="0" smtClean="0"/>
              <a:t> </a:t>
            </a:r>
            <a:r>
              <a:rPr lang="tr-TR" dirty="0" err="1" smtClean="0"/>
              <a:t>judgement</a:t>
            </a:r>
            <a:r>
              <a:rPr lang="tr-TR" dirty="0" smtClean="0"/>
              <a:t> </a:t>
            </a:r>
            <a:r>
              <a:rPr lang="tr-TR" dirty="0" err="1" smtClean="0"/>
              <a:t>tests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often</a:t>
            </a:r>
            <a:r>
              <a:rPr lang="tr-TR" dirty="0" smtClean="0"/>
              <a:t> </a:t>
            </a:r>
            <a:r>
              <a:rPr lang="tr-TR" dirty="0" err="1" smtClean="0"/>
              <a:t>relied</a:t>
            </a:r>
            <a:r>
              <a:rPr lang="tr-TR" dirty="0" smtClean="0"/>
              <a:t>, </a:t>
            </a:r>
            <a:r>
              <a:rPr lang="tr-TR" dirty="0" err="1" smtClean="0"/>
              <a:t>hence</a:t>
            </a:r>
            <a:r>
              <a:rPr lang="tr-TR" dirty="0" smtClean="0"/>
              <a:t> </a:t>
            </a:r>
            <a:r>
              <a:rPr lang="tr-TR" dirty="0" err="1" smtClean="0"/>
              <a:t>drawing</a:t>
            </a:r>
            <a:r>
              <a:rPr lang="tr-TR" dirty="0" smtClean="0"/>
              <a:t> </a:t>
            </a:r>
            <a:r>
              <a:rPr lang="tr-TR" dirty="0" err="1" smtClean="0"/>
              <a:t>inferences</a:t>
            </a:r>
            <a:r>
              <a:rPr lang="tr-TR" dirty="0" smtClean="0"/>
              <a:t> </a:t>
            </a:r>
            <a:r>
              <a:rPr lang="tr-TR" dirty="0" err="1" smtClean="0"/>
              <a:t>about</a:t>
            </a:r>
            <a:r>
              <a:rPr lang="tr-TR" dirty="0" smtClean="0"/>
              <a:t> </a:t>
            </a:r>
            <a:r>
              <a:rPr lang="tr-TR" dirty="0" err="1" smtClean="0"/>
              <a:t>mental</a:t>
            </a:r>
            <a:r>
              <a:rPr lang="tr-TR" dirty="0" smtClean="0"/>
              <a:t> </a:t>
            </a:r>
            <a:r>
              <a:rPr lang="tr-TR" dirty="0" err="1" smtClean="0"/>
              <a:t>representations</a:t>
            </a:r>
            <a:r>
              <a:rPr lang="tr-TR" dirty="0" smtClean="0"/>
              <a:t> </a:t>
            </a:r>
            <a:r>
              <a:rPr lang="tr-TR" dirty="0" err="1" smtClean="0"/>
              <a:t>from</a:t>
            </a:r>
            <a:r>
              <a:rPr lang="tr-TR" dirty="0" smtClean="0"/>
              <a:t> </a:t>
            </a:r>
            <a:r>
              <a:rPr lang="tr-TR" dirty="0" err="1" smtClean="0"/>
              <a:t>such</a:t>
            </a:r>
            <a:r>
              <a:rPr lang="tr-TR" dirty="0" smtClean="0"/>
              <a:t> data </a:t>
            </a:r>
            <a:r>
              <a:rPr lang="tr-TR" dirty="0" err="1" smtClean="0"/>
              <a:t>remains</a:t>
            </a:r>
            <a:r>
              <a:rPr lang="tr-TR" dirty="0" smtClean="0"/>
              <a:t> </a:t>
            </a:r>
            <a:r>
              <a:rPr lang="tr-TR" dirty="0" err="1" smtClean="0"/>
              <a:t>doubtful</a:t>
            </a:r>
            <a:r>
              <a:rPr lang="tr-TR" dirty="0" smtClean="0"/>
              <a:t>.</a:t>
            </a:r>
            <a:r>
              <a:rPr lang="en-GB" dirty="0" smtClean="0"/>
              <a:t> </a:t>
            </a:r>
          </a:p>
          <a:p>
            <a:endParaRPr lang="en-US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2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tr-TR" b="1" dirty="0" smtClean="0"/>
              <a:t>UG </a:t>
            </a:r>
            <a:r>
              <a:rPr lang="tr-TR" b="1" dirty="0" err="1" smtClean="0"/>
              <a:t>view</a:t>
            </a:r>
            <a:r>
              <a:rPr lang="tr-TR" b="1" dirty="0" smtClean="0"/>
              <a:t> of </a:t>
            </a:r>
            <a:r>
              <a:rPr lang="tr-TR" b="1" dirty="0" err="1" smtClean="0"/>
              <a:t>language</a:t>
            </a:r>
            <a:r>
              <a:rPr lang="tr-TR" b="1" dirty="0" smtClean="0"/>
              <a:t> </a:t>
            </a:r>
            <a:r>
              <a:rPr lang="tr-TR" b="1" dirty="0" err="1" smtClean="0"/>
              <a:t>acqusition</a:t>
            </a:r>
            <a:endParaRPr lang="tr-TR" b="1" dirty="0" smtClean="0"/>
          </a:p>
          <a:p>
            <a:r>
              <a:rPr lang="en-GB" dirty="0" smtClean="0"/>
              <a:t>UG based on approaches deal with </a:t>
            </a:r>
            <a:r>
              <a:rPr lang="en-GB" dirty="0" smtClean="0"/>
              <a:t>syntax. </a:t>
            </a:r>
            <a:r>
              <a:rPr lang="en-GB" dirty="0" smtClean="0"/>
              <a:t>Semantics, pragmatics and discourse are excluded. </a:t>
            </a:r>
            <a:endParaRPr lang="tr-TR" dirty="0" smtClean="0"/>
          </a:p>
          <a:p>
            <a:pPr marL="109728" indent="0">
              <a:buNone/>
            </a:pPr>
            <a:endParaRPr lang="en-GB" dirty="0" smtClean="0"/>
          </a:p>
          <a:p>
            <a:r>
              <a:rPr lang="en-GB" dirty="0" smtClean="0"/>
              <a:t>UG approach has been concerned with explaining the nature of second language linguistic system.  The social and psychological </a:t>
            </a:r>
            <a:r>
              <a:rPr lang="en-GB" dirty="0" err="1" smtClean="0"/>
              <a:t>variabilit</a:t>
            </a:r>
            <a:r>
              <a:rPr lang="tr-TR" dirty="0" err="1" smtClean="0"/>
              <a:t>ies</a:t>
            </a:r>
            <a:r>
              <a:rPr lang="en-GB" dirty="0" smtClean="0"/>
              <a:t> are ignored</a:t>
            </a:r>
            <a:r>
              <a:rPr lang="tr-TR" b="1" dirty="0" smtClean="0"/>
              <a:t>. </a:t>
            </a:r>
          </a:p>
          <a:p>
            <a:endParaRPr lang="en-US" b="1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2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It has been a very useful tool for linguistic analysis,</a:t>
            </a:r>
          </a:p>
          <a:p>
            <a:pPr marL="109728" indent="0">
              <a:buNone/>
            </a:pPr>
            <a:r>
              <a:rPr lang="en-GB" dirty="0" smtClean="0"/>
              <a:t>  enabling more researches , such as principled way of </a:t>
            </a:r>
            <a:r>
              <a:rPr lang="tr-TR" dirty="0" smtClean="0"/>
              <a:t> 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</a:t>
            </a:r>
            <a:r>
              <a:rPr lang="en-GB" dirty="0" smtClean="0"/>
              <a:t>language transfer, cross-linguistic influence and </a:t>
            </a:r>
            <a:r>
              <a:rPr lang="tr-TR" dirty="0" smtClean="0"/>
              <a:t>   </a:t>
            </a:r>
          </a:p>
          <a:p>
            <a:pPr marL="109728" indent="0">
              <a:buNone/>
            </a:pPr>
            <a:r>
              <a:rPr lang="tr-TR" dirty="0"/>
              <a:t> </a:t>
            </a:r>
            <a:r>
              <a:rPr lang="tr-TR" dirty="0" smtClean="0"/>
              <a:t> </a:t>
            </a:r>
            <a:r>
              <a:rPr lang="en-GB" dirty="0" smtClean="0"/>
              <a:t>principles and parameters. </a:t>
            </a:r>
          </a:p>
          <a:p>
            <a:pPr marL="109728" indent="0">
              <a:buNone/>
            </a:pPr>
            <a:endParaRPr lang="en-GB" dirty="0" smtClean="0"/>
          </a:p>
          <a:p>
            <a:r>
              <a:rPr lang="en-GB" dirty="0" smtClean="0"/>
              <a:t> UG is useful not only in establishing some facts about SLA  but also explaining. </a:t>
            </a:r>
          </a:p>
          <a:p>
            <a:endParaRPr lang="en-GB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6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tr-TR" b="1" dirty="0" smtClean="0"/>
              <a:t>UG  </a:t>
            </a:r>
            <a:r>
              <a:rPr lang="tr-TR" b="1" dirty="0" err="1" smtClean="0"/>
              <a:t>view</a:t>
            </a:r>
            <a:r>
              <a:rPr lang="tr-TR" b="1" dirty="0" smtClean="0"/>
              <a:t> of </a:t>
            </a:r>
            <a:r>
              <a:rPr lang="tr-TR" b="1" dirty="0" err="1" smtClean="0"/>
              <a:t>language</a:t>
            </a:r>
            <a:r>
              <a:rPr lang="tr-TR" b="1" dirty="0" smtClean="0"/>
              <a:t> </a:t>
            </a:r>
            <a:r>
              <a:rPr lang="tr-TR" b="1" dirty="0" err="1" smtClean="0"/>
              <a:t>learner</a:t>
            </a:r>
            <a:r>
              <a:rPr lang="tr-TR" b="1" dirty="0" smtClean="0"/>
              <a:t> </a:t>
            </a:r>
          </a:p>
          <a:p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assumption</a:t>
            </a:r>
            <a:r>
              <a:rPr lang="tr-TR" dirty="0" smtClean="0"/>
              <a:t> is </a:t>
            </a:r>
            <a:r>
              <a:rPr lang="tr-TR" dirty="0" err="1" smtClean="0"/>
              <a:t>all</a:t>
            </a:r>
            <a:r>
              <a:rPr lang="tr-TR" dirty="0" smtClean="0"/>
              <a:t> </a:t>
            </a:r>
            <a:r>
              <a:rPr lang="tr-TR" dirty="0" err="1" smtClean="0"/>
              <a:t>human</a:t>
            </a:r>
            <a:r>
              <a:rPr lang="tr-TR" dirty="0" smtClean="0"/>
              <a:t> </a:t>
            </a:r>
            <a:r>
              <a:rPr lang="tr-TR" dirty="0" err="1" smtClean="0"/>
              <a:t>beings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endowed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such</a:t>
            </a:r>
            <a:r>
              <a:rPr lang="tr-TR" dirty="0" smtClean="0"/>
              <a:t> a </a:t>
            </a:r>
            <a:r>
              <a:rPr lang="tr-TR" dirty="0" err="1" smtClean="0"/>
              <a:t>mind</a:t>
            </a:r>
            <a:r>
              <a:rPr lang="tr-TR" dirty="0" smtClean="0"/>
              <a:t>  </a:t>
            </a:r>
            <a:r>
              <a:rPr lang="tr-TR" dirty="0" err="1" smtClean="0"/>
              <a:t>so</a:t>
            </a:r>
            <a:r>
              <a:rPr lang="tr-TR" dirty="0" smtClean="0"/>
              <a:t> </a:t>
            </a:r>
            <a:r>
              <a:rPr lang="tr-TR" dirty="0" err="1" smtClean="0"/>
              <a:t>variations</a:t>
            </a:r>
            <a:r>
              <a:rPr lang="tr-TR" dirty="0" smtClean="0"/>
              <a:t>  </a:t>
            </a:r>
            <a:r>
              <a:rPr lang="tr-TR" dirty="0" err="1" smtClean="0"/>
              <a:t>between</a:t>
            </a:r>
            <a:r>
              <a:rPr lang="tr-TR" dirty="0" smtClean="0"/>
              <a:t> </a:t>
            </a:r>
            <a:r>
              <a:rPr lang="tr-TR" dirty="0" err="1" smtClean="0"/>
              <a:t>individuals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ignored</a:t>
            </a:r>
            <a:r>
              <a:rPr lang="tr-TR" dirty="0" smtClean="0"/>
              <a:t>. </a:t>
            </a:r>
          </a:p>
          <a:p>
            <a:r>
              <a:rPr lang="tr-TR" dirty="0"/>
              <a:t> </a:t>
            </a:r>
            <a:r>
              <a:rPr lang="tr-TR" dirty="0" smtClean="0"/>
              <a:t>Language is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object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study</a:t>
            </a:r>
            <a:r>
              <a:rPr lang="tr-TR" dirty="0" smtClean="0"/>
              <a:t> </a:t>
            </a:r>
            <a:r>
              <a:rPr lang="tr-TR" dirty="0" err="1" smtClean="0"/>
              <a:t>itself</a:t>
            </a:r>
            <a:r>
              <a:rPr lang="tr-TR" dirty="0" smtClean="0"/>
              <a:t> , </a:t>
            </a:r>
            <a:r>
              <a:rPr lang="tr-TR" dirty="0" err="1" smtClean="0"/>
              <a:t>rather</a:t>
            </a:r>
            <a:r>
              <a:rPr lang="tr-TR" dirty="0" smtClean="0"/>
              <a:t> </a:t>
            </a:r>
            <a:r>
              <a:rPr lang="tr-TR" dirty="0" err="1" smtClean="0"/>
              <a:t>than</a:t>
            </a:r>
            <a:r>
              <a:rPr lang="tr-TR" dirty="0" smtClean="0"/>
              <a:t> on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speaker</a:t>
            </a:r>
            <a:r>
              <a:rPr lang="tr-TR" dirty="0" smtClean="0"/>
              <a:t> </a:t>
            </a:r>
            <a:r>
              <a:rPr lang="tr-TR" dirty="0" err="1" smtClean="0"/>
              <a:t>or</a:t>
            </a:r>
            <a:r>
              <a:rPr lang="tr-TR" dirty="0" smtClean="0"/>
              <a:t> </a:t>
            </a:r>
            <a:r>
              <a:rPr lang="tr-TR" dirty="0" err="1" smtClean="0"/>
              <a:t>learner</a:t>
            </a:r>
            <a:r>
              <a:rPr lang="tr-TR" dirty="0" smtClean="0"/>
              <a:t> as a </a:t>
            </a:r>
            <a:r>
              <a:rPr lang="tr-TR" dirty="0" err="1" smtClean="0"/>
              <a:t>social</a:t>
            </a:r>
            <a:r>
              <a:rPr lang="tr-TR" dirty="0" smtClean="0"/>
              <a:t> </a:t>
            </a:r>
            <a:r>
              <a:rPr lang="tr-TR" dirty="0" err="1" smtClean="0"/>
              <a:t>being</a:t>
            </a:r>
            <a:r>
              <a:rPr lang="tr-TR" dirty="0" smtClean="0"/>
              <a:t>.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4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ASUS\Desktop\yorgun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2592288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ASUS\Desktop\imag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636911"/>
            <a:ext cx="2921372" cy="217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5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alabalık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Açılar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zinti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643</TotalTime>
  <Words>3299</Words>
  <Application>Microsoft Office PowerPoint</Application>
  <PresentationFormat>Ekran Gösterisi (4:3)</PresentationFormat>
  <Paragraphs>351</Paragraphs>
  <Slides>46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46</vt:i4>
      </vt:variant>
    </vt:vector>
  </HeadingPairs>
  <TitlesOfParts>
    <vt:vector size="47" baseType="lpstr">
      <vt:lpstr>Kalabalık</vt:lpstr>
      <vt:lpstr>The Universal Grammar Approach: UG</vt:lpstr>
      <vt:lpstr>Introduction </vt:lpstr>
      <vt:lpstr>Background </vt:lpstr>
      <vt:lpstr>Aims of linguistic researches </vt:lpstr>
      <vt:lpstr>What is UG? </vt:lpstr>
      <vt:lpstr>PowerPoint Sunusu</vt:lpstr>
      <vt:lpstr> UG Arguments from L1 acquisition</vt:lpstr>
      <vt:lpstr>PowerPoint Sunusu</vt:lpstr>
      <vt:lpstr>PowerPoint Sunusu</vt:lpstr>
      <vt:lpstr>PowerPoint Sunusu</vt:lpstr>
      <vt:lpstr>More evidence for language specific module in brain  by Lenneberg’s criteria</vt:lpstr>
      <vt:lpstr>Principles and Parameters</vt:lpstr>
      <vt:lpstr>PowerPoint Sunusu</vt:lpstr>
      <vt:lpstr>Minimalist Programme of Chomsky </vt:lpstr>
      <vt:lpstr>Principles </vt:lpstr>
      <vt:lpstr>PowerPoint Sunusu</vt:lpstr>
      <vt:lpstr>PowerPoint Sunusu</vt:lpstr>
      <vt:lpstr>PowerPoint Sunusu</vt:lpstr>
      <vt:lpstr>PowerPoint Sunusu</vt:lpstr>
      <vt:lpstr>PowerPoint Sunusu</vt:lpstr>
      <vt:lpstr>Parameters ( paramedics)</vt:lpstr>
      <vt:lpstr>Binary Parameter</vt:lpstr>
      <vt:lpstr>PowerPoint Sunusu</vt:lpstr>
      <vt:lpstr>PowerPoint Sunusu</vt:lpstr>
      <vt:lpstr>PowerPoint Sunusu</vt:lpstr>
      <vt:lpstr>PowerPoint Sunusu</vt:lpstr>
      <vt:lpstr> UG &amp; L1</vt:lpstr>
      <vt:lpstr>UG &amp; L2 </vt:lpstr>
      <vt:lpstr> </vt:lpstr>
      <vt:lpstr>Hypothesis about Parameter Resetting </vt:lpstr>
      <vt:lpstr>PowerPoint Sunusu</vt:lpstr>
      <vt:lpstr>Hypothesis 1 : no access to Universal Grammar </vt:lpstr>
      <vt:lpstr>Hypothesis 2 : full access to Universal Grammar </vt:lpstr>
      <vt:lpstr>PowerPoint Sunusu</vt:lpstr>
      <vt:lpstr>PowerPoint Sunusu</vt:lpstr>
      <vt:lpstr>Hypothesis 3 : Partial access</vt:lpstr>
      <vt:lpstr>PowerPoint Sunusu</vt:lpstr>
      <vt:lpstr>PowerPoint Sunusu</vt:lpstr>
      <vt:lpstr>PowerPoint Sunusu</vt:lpstr>
      <vt:lpstr>PowerPoint Sunusu</vt:lpstr>
      <vt:lpstr>Evaluation of UG based on SLA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Universal Grammar Approach: UG</dc:title>
  <dc:creator>ASUS</dc:creator>
  <cp:lastModifiedBy>ASUS</cp:lastModifiedBy>
  <cp:revision>133</cp:revision>
  <dcterms:created xsi:type="dcterms:W3CDTF">2013-11-09T10:08:09Z</dcterms:created>
  <dcterms:modified xsi:type="dcterms:W3CDTF">2013-11-11T19:34:55Z</dcterms:modified>
</cp:coreProperties>
</file>