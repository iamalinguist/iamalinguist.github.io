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259" r:id="rId3"/>
    <p:sldId id="257" r:id="rId4"/>
    <p:sldId id="285" r:id="rId5"/>
    <p:sldId id="286" r:id="rId6"/>
    <p:sldId id="287" r:id="rId7"/>
    <p:sldId id="260" r:id="rId8"/>
    <p:sldId id="290" r:id="rId9"/>
    <p:sldId id="272" r:id="rId10"/>
    <p:sldId id="297" r:id="rId11"/>
    <p:sldId id="268" r:id="rId12"/>
    <p:sldId id="269" r:id="rId13"/>
    <p:sldId id="292" r:id="rId14"/>
    <p:sldId id="275" r:id="rId15"/>
    <p:sldId id="262" r:id="rId16"/>
    <p:sldId id="298" r:id="rId17"/>
    <p:sldId id="270" r:id="rId18"/>
    <p:sldId id="276" r:id="rId19"/>
    <p:sldId id="296" r:id="rId20"/>
    <p:sldId id="278" r:id="rId21"/>
    <p:sldId id="258" r:id="rId22"/>
    <p:sldId id="283" r:id="rId23"/>
    <p:sldId id="293" r:id="rId24"/>
    <p:sldId id="312" r:id="rId25"/>
    <p:sldId id="313" r:id="rId26"/>
    <p:sldId id="314" r:id="rId27"/>
    <p:sldId id="29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295" r:id="rId36"/>
    <p:sldId id="299" r:id="rId37"/>
    <p:sldId id="300" r:id="rId38"/>
    <p:sldId id="301" r:id="rId39"/>
    <p:sldId id="302" r:id="rId40"/>
    <p:sldId id="303" r:id="rId41"/>
    <p:sldId id="304" r:id="rId42"/>
    <p:sldId id="266" r:id="rId43"/>
    <p:sldId id="267" r:id="rId44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59" autoAdjust="0"/>
    <p:restoredTop sz="86323" autoAdjust="0"/>
  </p:normalViewPr>
  <p:slideViewPr>
    <p:cSldViewPr>
      <p:cViewPr>
        <p:scale>
          <a:sx n="75" d="100"/>
          <a:sy n="75" d="100"/>
        </p:scale>
        <p:origin x="-462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044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3EE13-5ED9-41F8-A741-14102183D6C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B03CB-B72C-47DF-8F79-CA1EA57845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15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FB03CB-B72C-47DF-8F79-CA1EA5784562}" type="slidenum">
              <a:rPr lang="cs-CZ" smtClean="0"/>
              <a:t>37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8152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99C8-194A-4A11-BE37-8B46FE89310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FFA5-8762-40FC-BB85-425C410BAD6B}" type="slidenum">
              <a:rPr lang="cs-CZ" smtClean="0"/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99C8-194A-4A11-BE37-8B46FE89310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FFA5-8762-40FC-BB85-425C410BAD6B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99C8-194A-4A11-BE37-8B46FE89310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FFA5-8762-40FC-BB85-425C410BAD6B}" type="slidenum">
              <a:rPr lang="cs-CZ" smtClean="0"/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99C8-194A-4A11-BE37-8B46FE89310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FFA5-8762-40FC-BB85-425C410BAD6B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99C8-194A-4A11-BE37-8B46FE89310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FFA5-8762-40FC-BB85-425C410BAD6B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99C8-194A-4A11-BE37-8B46FE89310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FFA5-8762-40FC-BB85-425C410BAD6B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99C8-194A-4A11-BE37-8B46FE89310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FFA5-8762-40FC-BB85-425C410BAD6B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99C8-194A-4A11-BE37-8B46FE89310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FFA5-8762-40FC-BB85-425C410BAD6B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99C8-194A-4A11-BE37-8B46FE89310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DB0FFA5-8762-40FC-BB85-425C410BAD6B}" type="slidenum">
              <a:rPr lang="cs-CZ" smtClean="0"/>
              <a:t>‹#›</a:t>
            </a:fld>
            <a:endParaRPr lang="cs-C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99C8-194A-4A11-BE37-8B46FE89310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FFA5-8762-40FC-BB85-425C410BAD6B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99C8-194A-4A11-BE37-8B46FE89310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FFA5-8762-40FC-BB85-425C410BAD6B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97799C8-194A-4A11-BE37-8B46FE893109}" type="datetimeFigureOut">
              <a:rPr lang="cs-CZ" smtClean="0"/>
              <a:t>8.4.2013</a:t>
            </a:fld>
            <a:endParaRPr lang="cs-CZ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DB0FFA5-8762-40FC-BB85-425C410BAD6B}" type="slidenum">
              <a:rPr lang="cs-CZ" smtClean="0"/>
              <a:t>‹#›</a:t>
            </a:fld>
            <a:endParaRPr lang="cs-CZ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cs-CZ" dirty="0" smtClean="0"/>
              <a:t>Principles and Parameters: Acquisition issues.</a:t>
            </a:r>
            <a:endParaRPr lang="cs-C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5696" y="5013176"/>
            <a:ext cx="6400800" cy="1440160"/>
          </a:xfrm>
        </p:spPr>
        <p:txBody>
          <a:bodyPr>
            <a:normAutofit/>
          </a:bodyPr>
          <a:lstStyle/>
          <a:p>
            <a:r>
              <a:rPr lang="cs-CZ" dirty="0" smtClean="0"/>
              <a:t>Prezentation by:M. Musilová</a:t>
            </a:r>
          </a:p>
          <a:p>
            <a:r>
              <a:rPr lang="cs-CZ" dirty="0" smtClean="0"/>
              <a:t>O.Chudada</a:t>
            </a:r>
          </a:p>
          <a:p>
            <a:r>
              <a:rPr lang="cs-CZ" dirty="0" smtClean="0"/>
              <a:t>L. Brychová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925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Background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Principles and parameters </a:t>
            </a:r>
            <a:r>
              <a:rPr lang="cs-CZ" dirty="0" smtClean="0"/>
              <a:t>is a linguistic theory</a:t>
            </a:r>
            <a:r>
              <a:rPr lang="en-US" dirty="0" smtClean="0"/>
              <a:t> </a:t>
            </a:r>
            <a:r>
              <a:rPr lang="en-US" dirty="0"/>
              <a:t>largely formulated by the linguists </a:t>
            </a:r>
            <a:r>
              <a:rPr lang="en-US" dirty="0" smtClean="0"/>
              <a:t>Noam</a:t>
            </a:r>
            <a:r>
              <a:rPr lang="cs-CZ" dirty="0" smtClean="0"/>
              <a:t> </a:t>
            </a:r>
            <a:r>
              <a:rPr lang="en-US" dirty="0" smtClean="0"/>
              <a:t>Chomsky</a:t>
            </a:r>
            <a:r>
              <a:rPr lang="en-US" dirty="0"/>
              <a:t> and Howard Lasnik, though it was the culmination of the research of many linguists</a:t>
            </a:r>
            <a:r>
              <a:rPr lang="en-US" dirty="0" smtClean="0"/>
              <a:t>.</a:t>
            </a:r>
            <a:endParaRPr lang="cs-CZ" dirty="0" smtClean="0"/>
          </a:p>
          <a:p>
            <a:r>
              <a:rPr lang="en-US" dirty="0" smtClean="0"/>
              <a:t>Today</a:t>
            </a:r>
            <a:r>
              <a:rPr lang="en-US" dirty="0"/>
              <a:t>, many linguists have adopted this framework, and it is considered the dominant form of mainstream generative linguistics.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17125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 smtClean="0"/>
              <a:t>What are the Principles and Parameters in syntax?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10000"/>
          </a:bodyPr>
          <a:lstStyle/>
          <a:p>
            <a:endParaRPr lang="cs-CZ" dirty="0" smtClean="0"/>
          </a:p>
          <a:p>
            <a:r>
              <a:rPr lang="en-US" dirty="0" smtClean="0"/>
              <a:t>An </a:t>
            </a:r>
            <a:r>
              <a:rPr lang="en-US" dirty="0"/>
              <a:t>approach to the question of how children </a:t>
            </a:r>
            <a:r>
              <a:rPr lang="en-US" dirty="0" smtClean="0"/>
              <a:t>acquire</a:t>
            </a:r>
            <a:r>
              <a:rPr lang="cs-CZ" dirty="0" smtClean="0"/>
              <a:t> </a:t>
            </a:r>
            <a:r>
              <a:rPr lang="en-US" dirty="0" smtClean="0"/>
              <a:t>language</a:t>
            </a:r>
            <a:r>
              <a:rPr lang="cs-CZ" dirty="0" smtClean="0"/>
              <a:t>.</a:t>
            </a:r>
            <a:endParaRPr lang="en-US" dirty="0"/>
          </a:p>
          <a:p>
            <a:r>
              <a:rPr lang="en-US" dirty="0"/>
              <a:t>Ideas started shaping since the early days of </a:t>
            </a:r>
            <a:r>
              <a:rPr lang="en-US" dirty="0" smtClean="0"/>
              <a:t>modern</a:t>
            </a:r>
            <a:r>
              <a:rPr lang="cs-CZ" dirty="0" smtClean="0"/>
              <a:t> </a:t>
            </a:r>
            <a:r>
              <a:rPr lang="en-US" dirty="0" smtClean="0"/>
              <a:t>generative grammar</a:t>
            </a:r>
            <a:r>
              <a:rPr lang="cs-CZ" dirty="0" smtClean="0"/>
              <a:t>.</a:t>
            </a:r>
          </a:p>
          <a:p>
            <a:endParaRPr lang="cs-CZ" dirty="0" smtClean="0"/>
          </a:p>
          <a:p>
            <a:r>
              <a:rPr lang="cs-CZ" dirty="0" smtClean="0"/>
              <a:t>Syntax is described with the use of:</a:t>
            </a:r>
          </a:p>
          <a:p>
            <a:pPr lvl="1"/>
            <a:r>
              <a:rPr lang="cs-CZ" dirty="0" smtClean="0"/>
              <a:t> A) general principles</a:t>
            </a:r>
          </a:p>
          <a:p>
            <a:pPr lvl="2"/>
            <a:r>
              <a:rPr lang="cs-CZ" dirty="0" smtClean="0"/>
              <a:t>Abstract rules</a:t>
            </a:r>
          </a:p>
          <a:p>
            <a:pPr lvl="2"/>
            <a:r>
              <a:rPr lang="cs-CZ" dirty="0" smtClean="0"/>
              <a:t>Grammar</a:t>
            </a:r>
          </a:p>
          <a:p>
            <a:pPr lvl="1"/>
            <a:r>
              <a:rPr lang="cs-CZ" dirty="0" smtClean="0"/>
              <a:t>B) specific parameters</a:t>
            </a:r>
          </a:p>
          <a:p>
            <a:pPr lvl="2"/>
            <a:r>
              <a:rPr lang="cs-CZ" dirty="0" smtClean="0"/>
              <a:t>Markers</a:t>
            </a:r>
          </a:p>
          <a:p>
            <a:pPr lvl="2"/>
            <a:r>
              <a:rPr lang="cs-CZ" dirty="0" smtClean="0"/>
              <a:t>Switches</a:t>
            </a:r>
          </a:p>
        </p:txBody>
      </p:sp>
    </p:spTree>
    <p:extLst>
      <p:ext uri="{BB962C8B-B14F-4D97-AF65-F5344CB8AC3E}">
        <p14:creationId xmlns:p14="http://schemas.microsoft.com/office/powerpoint/2010/main" val="1066450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cs-CZ" dirty="0"/>
              <a:t>Previous ideas and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endParaRPr lang="cs-CZ" dirty="0" smtClean="0"/>
          </a:p>
          <a:p>
            <a:r>
              <a:rPr lang="en-US" dirty="0" smtClean="0"/>
              <a:t>Despite </a:t>
            </a:r>
            <a:r>
              <a:rPr lang="en-US" dirty="0"/>
              <a:t>large variations, languages have many </a:t>
            </a:r>
            <a:r>
              <a:rPr lang="en-US" dirty="0" smtClean="0"/>
              <a:t>common</a:t>
            </a:r>
            <a:r>
              <a:rPr lang="cs-CZ" dirty="0" smtClean="0"/>
              <a:t> </a:t>
            </a:r>
            <a:r>
              <a:rPr lang="en-US" dirty="0" smtClean="0"/>
              <a:t>properties </a:t>
            </a:r>
            <a:r>
              <a:rPr lang="en-US" dirty="0"/>
              <a:t>on an abstract </a:t>
            </a:r>
            <a:r>
              <a:rPr lang="en-US" dirty="0" smtClean="0"/>
              <a:t>level</a:t>
            </a:r>
            <a:r>
              <a:rPr lang="cs-CZ" dirty="0" smtClean="0"/>
              <a:t>.</a:t>
            </a:r>
          </a:p>
          <a:p>
            <a:pPr lvl="1"/>
            <a:r>
              <a:rPr lang="cs-CZ" dirty="0" smtClean="0"/>
              <a:t>Parts of language that are not present in the physical world.</a:t>
            </a:r>
            <a:endParaRPr lang="en-US" dirty="0"/>
          </a:p>
          <a:p>
            <a:r>
              <a:rPr lang="en-US" dirty="0"/>
              <a:t>Children learn languages easily, despite the fact </a:t>
            </a:r>
            <a:r>
              <a:rPr lang="en-US" dirty="0" smtClean="0"/>
              <a:t>that</a:t>
            </a:r>
            <a:r>
              <a:rPr lang="cs-CZ" dirty="0" smtClean="0"/>
              <a:t> </a:t>
            </a:r>
            <a:r>
              <a:rPr lang="en-US" dirty="0" smtClean="0"/>
              <a:t>language are</a:t>
            </a:r>
            <a:r>
              <a:rPr lang="cs-CZ" dirty="0" smtClean="0"/>
              <a:t> often</a:t>
            </a:r>
            <a:r>
              <a:rPr lang="en-US" dirty="0" smtClean="0"/>
              <a:t> complex</a:t>
            </a:r>
            <a:r>
              <a:rPr lang="cs-CZ" dirty="0" smtClean="0"/>
              <a:t>.</a:t>
            </a:r>
            <a:endParaRPr lang="en-US" dirty="0"/>
          </a:p>
          <a:p>
            <a:r>
              <a:rPr lang="en-US" dirty="0"/>
              <a:t>Idea: the common properties of languages are </a:t>
            </a:r>
            <a:r>
              <a:rPr lang="cs-CZ" dirty="0" smtClean="0"/>
              <a:t>present</a:t>
            </a:r>
            <a:r>
              <a:rPr lang="en-US" dirty="0" smtClean="0"/>
              <a:t>, only</a:t>
            </a:r>
            <a:r>
              <a:rPr lang="cs-CZ" dirty="0" smtClean="0"/>
              <a:t> </a:t>
            </a:r>
            <a:r>
              <a:rPr lang="en-US" dirty="0" smtClean="0"/>
              <a:t>variations </a:t>
            </a:r>
            <a:r>
              <a:rPr lang="en-US" dirty="0"/>
              <a:t>need to be </a:t>
            </a:r>
            <a:r>
              <a:rPr lang="en-US" dirty="0" smtClean="0"/>
              <a:t>learned</a:t>
            </a:r>
            <a:r>
              <a:rPr lang="cs-CZ" dirty="0" smtClean="0"/>
              <a:t>.</a:t>
            </a:r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5828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Principles and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u="sng" dirty="0"/>
              <a:t>Universal Grammar </a:t>
            </a:r>
            <a:r>
              <a:rPr lang="en-US" dirty="0"/>
              <a:t>can be deﬁned as:</a:t>
            </a:r>
          </a:p>
          <a:p>
            <a:r>
              <a:rPr lang="en-US" dirty="0"/>
              <a:t>The set of Principles that are common to all </a:t>
            </a:r>
            <a:r>
              <a:rPr lang="en-US" dirty="0" smtClean="0"/>
              <a:t>languages</a:t>
            </a:r>
            <a:r>
              <a:rPr lang="cs-CZ" dirty="0" smtClean="0"/>
              <a:t>.</a:t>
            </a:r>
          </a:p>
          <a:p>
            <a:pPr lvl="1"/>
            <a:endParaRPr lang="cs-CZ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initial state of language knowledge for human </a:t>
            </a:r>
            <a:r>
              <a:rPr lang="en-US" dirty="0" smtClean="0"/>
              <a:t>beings</a:t>
            </a:r>
            <a:r>
              <a:rPr lang="cs-CZ" dirty="0" smtClean="0"/>
              <a:t>.</a:t>
            </a:r>
          </a:p>
          <a:p>
            <a:endParaRPr lang="cs-CZ" dirty="0" smtClean="0"/>
          </a:p>
          <a:p>
            <a:r>
              <a:rPr lang="en-US" dirty="0" smtClean="0"/>
              <a:t>Principles </a:t>
            </a:r>
            <a:r>
              <a:rPr lang="en-US" dirty="0"/>
              <a:t>may include parameters, which </a:t>
            </a:r>
            <a:r>
              <a:rPr lang="en-US" dirty="0" smtClean="0"/>
              <a:t>represent</a:t>
            </a:r>
            <a:r>
              <a:rPr lang="cs-CZ" dirty="0" smtClean="0"/>
              <a:t> </a:t>
            </a:r>
            <a:r>
              <a:rPr lang="en-US" dirty="0" smtClean="0"/>
              <a:t>settings </a:t>
            </a:r>
            <a:r>
              <a:rPr lang="en-US" dirty="0"/>
              <a:t>that may vary from language to </a:t>
            </a:r>
            <a:r>
              <a:rPr lang="en-US" dirty="0" smtClean="0"/>
              <a:t>language</a:t>
            </a:r>
            <a:r>
              <a:rPr lang="cs-CZ" dirty="0" smtClean="0"/>
              <a:t>.</a:t>
            </a:r>
            <a:endParaRPr lang="en-US" dirty="0"/>
          </a:p>
          <a:p>
            <a:endParaRPr lang="cs-CZ" dirty="0" smtClean="0"/>
          </a:p>
          <a:p>
            <a:r>
              <a:rPr lang="en-US" dirty="0" smtClean="0"/>
              <a:t>Children </a:t>
            </a:r>
            <a:r>
              <a:rPr lang="en-US" dirty="0"/>
              <a:t>’simply’ need to learn the values of </a:t>
            </a:r>
            <a:r>
              <a:rPr lang="en-US" dirty="0" smtClean="0"/>
              <a:t>relevant</a:t>
            </a:r>
            <a:r>
              <a:rPr lang="cs-CZ" dirty="0" smtClean="0"/>
              <a:t> </a:t>
            </a:r>
            <a:r>
              <a:rPr lang="en-US" dirty="0" smtClean="0"/>
              <a:t>parameters </a:t>
            </a:r>
            <a:r>
              <a:rPr lang="en-US" dirty="0"/>
              <a:t>to acquire the grammar of their </a:t>
            </a:r>
            <a:r>
              <a:rPr lang="en-US" dirty="0" smtClean="0"/>
              <a:t>native</a:t>
            </a:r>
            <a:r>
              <a:rPr lang="cs-CZ" dirty="0" smtClean="0"/>
              <a:t> </a:t>
            </a:r>
            <a:r>
              <a:rPr lang="en-US" dirty="0" smtClean="0"/>
              <a:t>language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31651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Goals of syntactic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smtClean="0"/>
              <a:t>T</a:t>
            </a:r>
            <a:r>
              <a:rPr lang="en-US" dirty="0" smtClean="0"/>
              <a:t>he </a:t>
            </a:r>
            <a:r>
              <a:rPr lang="en-US" dirty="0"/>
              <a:t>research on syntax should answer </a:t>
            </a:r>
            <a:r>
              <a:rPr lang="en-US" dirty="0" smtClean="0"/>
              <a:t>the</a:t>
            </a:r>
            <a:r>
              <a:rPr lang="cs-CZ" dirty="0" smtClean="0"/>
              <a:t> </a:t>
            </a:r>
            <a:r>
              <a:rPr lang="en-US" dirty="0" smtClean="0"/>
              <a:t>following </a:t>
            </a:r>
            <a:r>
              <a:rPr lang="en-US" dirty="0"/>
              <a:t>questions:</a:t>
            </a:r>
          </a:p>
          <a:p>
            <a:endParaRPr lang="cs-CZ" dirty="0" smtClean="0"/>
          </a:p>
          <a:p>
            <a:pPr lvl="1"/>
            <a:r>
              <a:rPr lang="en-US" dirty="0" smtClean="0"/>
              <a:t>What </a:t>
            </a:r>
            <a:r>
              <a:rPr lang="en-US" dirty="0"/>
              <a:t>are the Principles that are part of Universal </a:t>
            </a:r>
            <a:r>
              <a:rPr lang="en-US" dirty="0" smtClean="0"/>
              <a:t>Grammar</a:t>
            </a:r>
            <a:r>
              <a:rPr lang="cs-CZ" dirty="0" smtClean="0"/>
              <a:t>?</a:t>
            </a:r>
            <a:endParaRPr lang="en-US" dirty="0"/>
          </a:p>
          <a:p>
            <a:pPr lvl="1"/>
            <a:r>
              <a:rPr lang="en-US" dirty="0"/>
              <a:t>What parameters are there in Universal Grammar, </a:t>
            </a:r>
            <a:r>
              <a:rPr lang="en-US" dirty="0" smtClean="0"/>
              <a:t>and</a:t>
            </a:r>
            <a:r>
              <a:rPr lang="cs-CZ" dirty="0" smtClean="0"/>
              <a:t> </a:t>
            </a:r>
            <a:r>
              <a:rPr lang="en-US" dirty="0" smtClean="0"/>
              <a:t>what </a:t>
            </a:r>
            <a:r>
              <a:rPr lang="en-US" dirty="0"/>
              <a:t>are their possible values in individual languages</a:t>
            </a:r>
            <a:r>
              <a:rPr lang="en-US" dirty="0" smtClean="0"/>
              <a:t>?</a:t>
            </a:r>
            <a:endParaRPr lang="cs-CZ" dirty="0" smtClean="0"/>
          </a:p>
          <a:p>
            <a:endParaRPr lang="cs-CZ" dirty="0" smtClean="0"/>
          </a:p>
          <a:p>
            <a:r>
              <a:rPr lang="en-US" dirty="0" smtClean="0"/>
              <a:t>Within </a:t>
            </a:r>
            <a:r>
              <a:rPr lang="en-US" dirty="0"/>
              <a:t>this framework, the goal of linguistics is to identify all of the principles and parameters that are universal to human language (Universal Grammar). 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59330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Framework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central idea of principles and parameters is that a person's syntactic</a:t>
            </a:r>
            <a:r>
              <a:rPr lang="cs-CZ" dirty="0" smtClean="0"/>
              <a:t> </a:t>
            </a:r>
            <a:r>
              <a:rPr lang="en-US" dirty="0" smtClean="0"/>
              <a:t>knowledge can be modeled with two formal mechanisms:</a:t>
            </a:r>
            <a:endParaRPr lang="cs-CZ" dirty="0" smtClean="0"/>
          </a:p>
          <a:p>
            <a:pPr lvl="1"/>
            <a:endParaRPr lang="cs-CZ" dirty="0" smtClean="0"/>
          </a:p>
          <a:p>
            <a:pPr lvl="1"/>
            <a:r>
              <a:rPr lang="en-US" dirty="0" smtClean="0"/>
              <a:t>A </a:t>
            </a:r>
            <a:r>
              <a:rPr lang="en-US" dirty="0"/>
              <a:t>finite set of fundamental </a:t>
            </a:r>
            <a:r>
              <a:rPr lang="en-US" b="1" dirty="0"/>
              <a:t>principles</a:t>
            </a:r>
            <a:r>
              <a:rPr lang="en-US" dirty="0"/>
              <a:t> that are common to all </a:t>
            </a:r>
            <a:r>
              <a:rPr lang="en-US" dirty="0" smtClean="0"/>
              <a:t>languages</a:t>
            </a:r>
            <a:r>
              <a:rPr lang="cs-CZ" dirty="0" smtClean="0"/>
              <a:t>. </a:t>
            </a:r>
            <a:r>
              <a:rPr lang="en-US" dirty="0" smtClean="0"/>
              <a:t> </a:t>
            </a:r>
            <a:endParaRPr lang="cs-CZ" dirty="0" smtClean="0"/>
          </a:p>
          <a:p>
            <a:pPr lvl="2"/>
            <a:endParaRPr lang="cs-CZ" dirty="0" smtClean="0"/>
          </a:p>
          <a:p>
            <a:pPr lvl="2"/>
            <a:r>
              <a:rPr lang="cs-CZ" dirty="0" smtClean="0"/>
              <a:t>Example: A</a:t>
            </a:r>
            <a:r>
              <a:rPr lang="en-US" dirty="0" smtClean="0"/>
              <a:t> </a:t>
            </a:r>
            <a:r>
              <a:rPr lang="en-US" dirty="0"/>
              <a:t>sentence must always have a subject, even if it is not overtly pronounced.</a:t>
            </a:r>
          </a:p>
          <a:p>
            <a:pPr lvl="1"/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3344758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Framework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finite set of </a:t>
            </a:r>
            <a:r>
              <a:rPr lang="en-US" b="1" dirty="0"/>
              <a:t>parameters</a:t>
            </a:r>
            <a:r>
              <a:rPr lang="en-US" dirty="0"/>
              <a:t> that determine syntactic variability amongst languages</a:t>
            </a:r>
            <a:r>
              <a:rPr lang="cs-CZ" dirty="0"/>
              <a:t>.</a:t>
            </a:r>
            <a:r>
              <a:rPr lang="en-US" dirty="0"/>
              <a:t> </a:t>
            </a:r>
            <a:endParaRPr lang="cs-CZ" dirty="0"/>
          </a:p>
          <a:p>
            <a:pPr lvl="1"/>
            <a:endParaRPr lang="cs-CZ" dirty="0" smtClean="0"/>
          </a:p>
          <a:p>
            <a:pPr lvl="1"/>
            <a:r>
              <a:rPr lang="en-US" dirty="0" smtClean="0"/>
              <a:t>binary </a:t>
            </a:r>
            <a:r>
              <a:rPr lang="en-US" dirty="0"/>
              <a:t>parameter that determines whether or not the subject of a sentence must be overtly pronounced (this example is sometimes referred to as the Pro-drop parameter).</a:t>
            </a:r>
          </a:p>
          <a:p>
            <a:pPr lvl="2"/>
            <a:r>
              <a:rPr lang="cs-CZ" dirty="0" smtClean="0"/>
              <a:t>Example: [I (am)] going to the store.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65317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An</a:t>
            </a:r>
            <a:r>
              <a:rPr lang="en-US" dirty="0" smtClean="0"/>
              <a:t>y </a:t>
            </a:r>
            <a:r>
              <a:rPr lang="en-US" dirty="0"/>
              <a:t>attempt to explain the syntax of a particular language using a principle or parameter </a:t>
            </a:r>
            <a:r>
              <a:rPr lang="cs-CZ" dirty="0" smtClean="0"/>
              <a:t>has to be </a:t>
            </a:r>
            <a:r>
              <a:rPr lang="en-US" dirty="0" smtClean="0"/>
              <a:t>cross-examined </a:t>
            </a:r>
            <a:r>
              <a:rPr lang="en-US" dirty="0"/>
              <a:t>with the evidence available in other languages. </a:t>
            </a:r>
            <a:endParaRPr lang="cs-CZ" dirty="0" smtClean="0"/>
          </a:p>
          <a:p>
            <a:pPr lvl="1"/>
            <a:endParaRPr lang="cs-CZ" dirty="0" smtClean="0"/>
          </a:p>
          <a:p>
            <a:pPr lvl="1"/>
            <a:r>
              <a:rPr lang="cs-CZ" dirty="0" smtClean="0"/>
              <a:t>Part of Comperative linquistics. Finding similarities and common elements in languages.</a:t>
            </a:r>
          </a:p>
        </p:txBody>
      </p:sp>
    </p:spTree>
    <p:extLst>
      <p:ext uri="{BB962C8B-B14F-4D97-AF65-F5344CB8AC3E}">
        <p14:creationId xmlns:p14="http://schemas.microsoft.com/office/powerpoint/2010/main" val="153939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Principles within the structure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smtClean="0"/>
              <a:t>There are several principles present in the UG acording to the Principles and parameters theory: </a:t>
            </a:r>
          </a:p>
          <a:p>
            <a:pPr lvl="1"/>
            <a:endParaRPr lang="cs-CZ" dirty="0"/>
          </a:p>
          <a:p>
            <a:pPr lvl="1"/>
            <a:r>
              <a:rPr lang="en-US" dirty="0"/>
              <a:t>Structure Preservation </a:t>
            </a:r>
            <a:r>
              <a:rPr lang="en-US" dirty="0" smtClean="0"/>
              <a:t>Principle</a:t>
            </a:r>
            <a:r>
              <a:rPr lang="cs-CZ" dirty="0" smtClean="0"/>
              <a:t>:</a:t>
            </a:r>
          </a:p>
          <a:p>
            <a:pPr lvl="2"/>
            <a:r>
              <a:rPr lang="en-US" dirty="0" smtClean="0"/>
              <a:t>Deep </a:t>
            </a:r>
            <a:r>
              <a:rPr lang="en-US" dirty="0"/>
              <a:t>Structures should be preserved by a movement transformation, which simply rephrases the </a:t>
            </a:r>
            <a:r>
              <a:rPr lang="en-US" dirty="0" smtClean="0"/>
              <a:t>sentence</a:t>
            </a:r>
            <a:r>
              <a:rPr lang="cs-CZ" dirty="0"/>
              <a:t>.</a:t>
            </a:r>
          </a:p>
          <a:p>
            <a:pPr lvl="1"/>
            <a:r>
              <a:rPr lang="en-US" dirty="0"/>
              <a:t> Projection </a:t>
            </a:r>
            <a:r>
              <a:rPr lang="en-US" dirty="0" err="1"/>
              <a:t>Princip</a:t>
            </a:r>
            <a:r>
              <a:rPr lang="cs-CZ" dirty="0" smtClean="0"/>
              <a:t>le:</a:t>
            </a:r>
          </a:p>
          <a:p>
            <a:pPr lvl="2"/>
            <a:r>
              <a:rPr lang="cs-CZ" dirty="0"/>
              <a:t>T</a:t>
            </a:r>
            <a:r>
              <a:rPr lang="en-US" dirty="0" smtClean="0"/>
              <a:t>he </a:t>
            </a:r>
            <a:r>
              <a:rPr lang="en-US" dirty="0"/>
              <a:t>range of syntactic elements with which a lexical unit combines can be ‘projected from’ a lexicon as restrictions on structures that contain it.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17446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 Preservation Principle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 </a:t>
            </a:r>
            <a:r>
              <a:rPr lang="en-US" b="1" dirty="0"/>
              <a:t>Structure Preservation Principle</a:t>
            </a:r>
            <a:r>
              <a:rPr lang="en-US" dirty="0"/>
              <a:t> is a stipulation proposed by Noam Chomsky as part of the Generative-Transformational Grammar. </a:t>
            </a:r>
            <a:endParaRPr lang="cs-CZ" dirty="0" smtClean="0"/>
          </a:p>
          <a:p>
            <a:r>
              <a:rPr lang="en-US" dirty="0" smtClean="0"/>
              <a:t>Under </a:t>
            </a:r>
            <a:r>
              <a:rPr lang="en-US" dirty="0"/>
              <a:t>the Structure Preservation Principle, Deep Structures should be preserved by a movement </a:t>
            </a:r>
            <a:r>
              <a:rPr lang="en-US" dirty="0" smtClean="0"/>
              <a:t>transformation,</a:t>
            </a:r>
            <a:r>
              <a:rPr lang="cs-CZ" dirty="0" smtClean="0"/>
              <a:t> </a:t>
            </a:r>
            <a:r>
              <a:rPr lang="en-US" dirty="0" smtClean="0"/>
              <a:t>which </a:t>
            </a:r>
            <a:r>
              <a:rPr lang="en-US" dirty="0"/>
              <a:t>simply rephrases the sentence.</a:t>
            </a:r>
          </a:p>
          <a:p>
            <a:pPr marL="0" indent="0">
              <a:buNone/>
            </a:pPr>
            <a:endParaRPr lang="cs-CZ" dirty="0" smtClean="0"/>
          </a:p>
          <a:p>
            <a:pPr marL="400050" lvl="1" indent="0">
              <a:buNone/>
            </a:pPr>
            <a:r>
              <a:rPr lang="cs-CZ" dirty="0"/>
              <a:t>E</a:t>
            </a:r>
            <a:r>
              <a:rPr lang="en-US" dirty="0" smtClean="0"/>
              <a:t>xample </a:t>
            </a:r>
            <a:r>
              <a:rPr lang="en-US" dirty="0"/>
              <a:t>of this Principle:</a:t>
            </a:r>
          </a:p>
          <a:p>
            <a:pPr lvl="1"/>
            <a:r>
              <a:rPr lang="en-US" i="1" dirty="0" smtClean="0"/>
              <a:t>Fabio strangled Prince Jamal.</a:t>
            </a:r>
            <a:r>
              <a:rPr lang="cs-CZ" i="1" dirty="0" smtClean="0"/>
              <a:t> </a:t>
            </a:r>
            <a:r>
              <a:rPr lang="cs-CZ" dirty="0"/>
              <a:t>C</a:t>
            </a:r>
            <a:r>
              <a:rPr lang="en-US" dirty="0" smtClean="0"/>
              <a:t>an </a:t>
            </a:r>
            <a:r>
              <a:rPr lang="en-US" dirty="0"/>
              <a:t>be transformed into:</a:t>
            </a:r>
          </a:p>
          <a:p>
            <a:pPr lvl="1"/>
            <a:r>
              <a:rPr lang="en-US" i="1" dirty="0" smtClean="0"/>
              <a:t>Prince Jamal was strangled by Fabio.</a:t>
            </a:r>
            <a:r>
              <a:rPr lang="cs-CZ" i="1" dirty="0" smtClean="0"/>
              <a:t> </a:t>
            </a:r>
            <a:r>
              <a:rPr lang="en-US" dirty="0" smtClean="0"/>
              <a:t>and </a:t>
            </a:r>
            <a:r>
              <a:rPr lang="en-US" dirty="0"/>
              <a:t>this Principle is fulfilled.</a:t>
            </a:r>
          </a:p>
          <a:p>
            <a:endParaRPr lang="cs-CZ" dirty="0" smtClean="0"/>
          </a:p>
          <a:p>
            <a:r>
              <a:rPr lang="en-US" dirty="0" smtClean="0"/>
              <a:t>Both </a:t>
            </a:r>
            <a:r>
              <a:rPr lang="en-US" dirty="0"/>
              <a:t>sentences hold the same meaning, because their Deep Structure remains equal. Only their Surface Structure changes, this is, just the arrangement of the words changes. Of course, auxiliary words like </a:t>
            </a:r>
            <a:r>
              <a:rPr lang="en-US" i="1" dirty="0"/>
              <a:t>by</a:t>
            </a:r>
            <a:r>
              <a:rPr lang="en-US" dirty="0"/>
              <a:t> are needed for the rearrangement to work.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69733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Projection </a:t>
            </a:r>
            <a:r>
              <a:rPr lang="en-US" dirty="0" smtClean="0"/>
              <a:t>Princip</a:t>
            </a:r>
            <a:r>
              <a:rPr lang="cs-CZ" dirty="0" smtClean="0"/>
              <a:t>le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916832"/>
            <a:ext cx="8229600" cy="4637112"/>
          </a:xfrm>
        </p:spPr>
        <p:txBody>
          <a:bodyPr>
            <a:normAutofit fontScale="92500" lnSpcReduction="20000"/>
          </a:bodyPr>
          <a:lstStyle/>
          <a:p>
            <a:endParaRPr lang="cs-CZ" dirty="0" smtClean="0"/>
          </a:p>
          <a:p>
            <a:r>
              <a:rPr lang="cs-CZ" dirty="0" smtClean="0"/>
              <a:t>T</a:t>
            </a:r>
            <a:r>
              <a:rPr lang="en-US" dirty="0" smtClean="0"/>
              <a:t>he </a:t>
            </a:r>
            <a:r>
              <a:rPr lang="en-US" dirty="0"/>
              <a:t>projection principle is used in the derivation of </a:t>
            </a:r>
            <a:r>
              <a:rPr lang="en-US" dirty="0" smtClean="0"/>
              <a:t>phrases.</a:t>
            </a:r>
            <a:r>
              <a:rPr lang="cs-CZ" dirty="0" smtClean="0"/>
              <a:t> </a:t>
            </a:r>
          </a:p>
          <a:p>
            <a:pPr lvl="1"/>
            <a:endParaRPr lang="cs-CZ" dirty="0"/>
          </a:p>
          <a:p>
            <a:pPr lvl="1"/>
            <a:r>
              <a:rPr lang="en-US" dirty="0" smtClean="0"/>
              <a:t>Under </a:t>
            </a:r>
            <a:r>
              <a:rPr lang="en-US" dirty="0"/>
              <a:t>the Projection Principle, the properties of lexical items must be preserved while generating the phrase structure of a sentence. </a:t>
            </a:r>
            <a:endParaRPr lang="cs-CZ" dirty="0" smtClean="0"/>
          </a:p>
          <a:p>
            <a:endParaRPr lang="cs-CZ" dirty="0" smtClean="0"/>
          </a:p>
          <a:p>
            <a:r>
              <a:rPr lang="cs-CZ" dirty="0"/>
              <a:t>T</a:t>
            </a:r>
            <a:r>
              <a:rPr lang="en-US" dirty="0" smtClean="0"/>
              <a:t>he </a:t>
            </a:r>
            <a:r>
              <a:rPr lang="en-US" dirty="0"/>
              <a:t>Principle, as formulated by </a:t>
            </a:r>
            <a:r>
              <a:rPr lang="en-US" dirty="0" smtClean="0"/>
              <a:t>Chomsky</a:t>
            </a:r>
            <a:r>
              <a:rPr lang="cs-CZ" dirty="0" smtClean="0"/>
              <a:t>,</a:t>
            </a:r>
            <a:r>
              <a:rPr lang="en-US" dirty="0" smtClean="0"/>
              <a:t> states </a:t>
            </a:r>
            <a:r>
              <a:rPr lang="en-US" dirty="0"/>
              <a:t>that "lexical structure must be represented categorically at every syntactic level" (Chomsky 1986: 84</a:t>
            </a:r>
            <a:r>
              <a:rPr lang="en-US" dirty="0" smtClean="0"/>
              <a:t>).</a:t>
            </a:r>
            <a:endParaRPr lang="cs-CZ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3879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Projection Princip</a:t>
            </a:r>
            <a:r>
              <a:rPr lang="cs-CZ" dirty="0"/>
              <a:t>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 smtClean="0"/>
          </a:p>
          <a:p>
            <a:r>
              <a:rPr lang="en-US" dirty="0" smtClean="0"/>
              <a:t>Chomsky </a:t>
            </a:r>
            <a:r>
              <a:rPr lang="en-US" dirty="0"/>
              <a:t>further defined the projection principle as "representations at each level of </a:t>
            </a:r>
            <a:r>
              <a:rPr lang="en-US" dirty="0" smtClean="0"/>
              <a:t>syntax</a:t>
            </a:r>
            <a:r>
              <a:rPr lang="cs-CZ" dirty="0"/>
              <a:t> </a:t>
            </a:r>
            <a:r>
              <a:rPr lang="en-US" dirty="0" smtClean="0"/>
              <a:t>are </a:t>
            </a:r>
            <a:r>
              <a:rPr lang="en-US" dirty="0"/>
              <a:t>projected from the lexicon in that they observe the </a:t>
            </a:r>
            <a:r>
              <a:rPr lang="en-US" dirty="0" smtClean="0"/>
              <a:t>sub</a:t>
            </a:r>
            <a:r>
              <a:rPr lang="cs-CZ" dirty="0" smtClean="0"/>
              <a:t>-</a:t>
            </a:r>
            <a:r>
              <a:rPr lang="en-US" dirty="0" smtClean="0"/>
              <a:t>categorisation </a:t>
            </a:r>
            <a:r>
              <a:rPr lang="en-US" dirty="0"/>
              <a:t>properties of lexical items." </a:t>
            </a:r>
            <a:endParaRPr lang="cs-CZ" dirty="0"/>
          </a:p>
          <a:p>
            <a:pPr lvl="1"/>
            <a:endParaRPr lang="cs-CZ" dirty="0"/>
          </a:p>
          <a:p>
            <a:pPr lvl="1"/>
            <a:r>
              <a:rPr lang="en-US" dirty="0"/>
              <a:t>For example, the verb </a:t>
            </a:r>
            <a:r>
              <a:rPr lang="en-US" i="1" dirty="0"/>
              <a:t>strangle</a:t>
            </a:r>
            <a:r>
              <a:rPr lang="en-US" dirty="0"/>
              <a:t>, apart from the subject, has an obligatory argument, its object, which must appear in the sentence. 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49005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Projection principle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357192"/>
          </a:xfrm>
        </p:spPr>
        <p:txBody>
          <a:bodyPr>
            <a:normAutofit fontScale="70000" lnSpcReduction="20000"/>
          </a:bodyPr>
          <a:lstStyle/>
          <a:p>
            <a:endParaRPr lang="cs-CZ" dirty="0"/>
          </a:p>
          <a:p>
            <a:r>
              <a:rPr lang="en-US" sz="3300" dirty="0"/>
              <a:t>The following </a:t>
            </a:r>
            <a:r>
              <a:rPr lang="en-US" sz="3300" dirty="0" smtClean="0"/>
              <a:t>sub</a:t>
            </a:r>
            <a:r>
              <a:rPr lang="cs-CZ" sz="3300" dirty="0" smtClean="0"/>
              <a:t>-</a:t>
            </a:r>
            <a:r>
              <a:rPr lang="en-US" sz="3300" dirty="0" smtClean="0"/>
              <a:t>categorization </a:t>
            </a:r>
            <a:r>
              <a:rPr lang="en-US" sz="3300" dirty="0"/>
              <a:t>frame for the verb </a:t>
            </a:r>
            <a:r>
              <a:rPr lang="en-US" sz="3300" i="1" dirty="0"/>
              <a:t>strangle</a:t>
            </a:r>
            <a:r>
              <a:rPr lang="en-US" sz="3300" dirty="0"/>
              <a:t> specifies its properties; the underlined gap for the location of the verb is followed by the noun phrase (NP):</a:t>
            </a:r>
          </a:p>
          <a:p>
            <a:pPr lvl="1"/>
            <a:endParaRPr lang="cs-CZ" sz="3300" i="1" dirty="0" smtClean="0"/>
          </a:p>
          <a:p>
            <a:pPr lvl="1"/>
            <a:r>
              <a:rPr lang="en-US" sz="3300" i="1" dirty="0" smtClean="0"/>
              <a:t>Strangle</a:t>
            </a:r>
            <a:r>
              <a:rPr lang="cs-CZ" sz="3300" i="1" dirty="0" smtClean="0"/>
              <a:t>-</a:t>
            </a:r>
            <a:r>
              <a:rPr lang="en-US" sz="3300" dirty="0"/>
              <a:t> Verb, </a:t>
            </a:r>
            <a:r>
              <a:rPr lang="cs-CZ" sz="3300" dirty="0" smtClean="0"/>
              <a:t>[</a:t>
            </a:r>
            <a:r>
              <a:rPr lang="en-US" sz="3300" dirty="0" smtClean="0"/>
              <a:t>NP]It </a:t>
            </a:r>
            <a:r>
              <a:rPr lang="en-US" sz="3300" dirty="0"/>
              <a:t>is out of this frame that a sentence like the following can be generated:</a:t>
            </a:r>
          </a:p>
          <a:p>
            <a:pPr lvl="1"/>
            <a:endParaRPr lang="cs-CZ" sz="3300" i="1" dirty="0" smtClean="0"/>
          </a:p>
          <a:p>
            <a:pPr lvl="1"/>
            <a:r>
              <a:rPr lang="en-US" sz="3300" i="1" dirty="0" smtClean="0"/>
              <a:t>Fabio </a:t>
            </a:r>
            <a:r>
              <a:rPr lang="en-US" sz="3300" i="1" dirty="0"/>
              <a:t>strangled Prince Jamal</a:t>
            </a:r>
            <a:r>
              <a:rPr lang="en-US" sz="3300" i="1" dirty="0" smtClean="0"/>
              <a:t>.</a:t>
            </a:r>
            <a:r>
              <a:rPr lang="cs-CZ" sz="3300" i="1" dirty="0" smtClean="0"/>
              <a:t> </a:t>
            </a:r>
          </a:p>
          <a:p>
            <a:pPr marL="57150" indent="0">
              <a:buNone/>
            </a:pPr>
            <a:endParaRPr lang="cs-CZ" sz="3700" i="1" dirty="0"/>
          </a:p>
          <a:p>
            <a:pPr marL="57150" indent="0">
              <a:buNone/>
            </a:pPr>
            <a:r>
              <a:rPr lang="en-US" sz="3700" dirty="0" smtClean="0"/>
              <a:t>A </a:t>
            </a:r>
            <a:r>
              <a:rPr lang="en-US" sz="3700" dirty="0"/>
              <a:t>sentence without the object, in violation of the verb's </a:t>
            </a:r>
            <a:r>
              <a:rPr lang="en-US" sz="3700" dirty="0" smtClean="0"/>
              <a:t>sub</a:t>
            </a:r>
            <a:r>
              <a:rPr lang="cs-CZ" sz="3700" dirty="0" smtClean="0"/>
              <a:t>-</a:t>
            </a:r>
            <a:r>
              <a:rPr lang="en-US" sz="3700" dirty="0" smtClean="0"/>
              <a:t>categorization </a:t>
            </a:r>
            <a:r>
              <a:rPr lang="en-US" sz="3700" dirty="0"/>
              <a:t>frame and the Projection Principle, would be ill-formed</a:t>
            </a:r>
            <a:r>
              <a:rPr lang="en-US" sz="3700" dirty="0" smtClean="0"/>
              <a:t>:</a:t>
            </a:r>
            <a:r>
              <a:rPr lang="en-US" sz="3700" i="1" baseline="30000" dirty="0" smtClean="0"/>
              <a:t>*</a:t>
            </a:r>
            <a:r>
              <a:rPr lang="en-US" sz="3700" i="1" dirty="0"/>
              <a:t>Fabio strangled</a:t>
            </a:r>
            <a:r>
              <a:rPr lang="en-US" sz="3700" i="1" dirty="0" smtClean="0"/>
              <a:t>.</a:t>
            </a:r>
            <a:r>
              <a:rPr lang="cs-CZ" sz="3700" i="1" dirty="0" smtClean="0"/>
              <a:t> 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80674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spcBef>
                <a:spcPct val="0"/>
              </a:spcBef>
            </a:pPr>
            <a:r>
              <a:rPr lang="cs-CZ" sz="4800" dirty="0" smtClean="0">
                <a:solidFill>
                  <a:schemeClr val="tx2"/>
                </a:solidFill>
                <a:latin typeface="+mj-lt"/>
              </a:rPr>
              <a:t>Specific parameters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733880"/>
          </a:xfrm>
        </p:spPr>
        <p:txBody>
          <a:bodyPr>
            <a:normAutofit/>
          </a:bodyPr>
          <a:lstStyle/>
          <a:p>
            <a:pPr marL="0" indent="-365760">
              <a:buFont typeface="Arial" pitchFamily="34" charset="0"/>
              <a:buChar char="•"/>
            </a:pPr>
            <a:r>
              <a:rPr lang="en-US" sz="3200" dirty="0" smtClean="0"/>
              <a:t>A finite set of </a:t>
            </a:r>
            <a:r>
              <a:rPr lang="en-US" sz="3200" b="1" dirty="0" smtClean="0"/>
              <a:t>parameters</a:t>
            </a:r>
            <a:r>
              <a:rPr lang="en-US" sz="3200" dirty="0" smtClean="0"/>
              <a:t> that determine syntactic variability amongst languages; </a:t>
            </a:r>
            <a:endParaRPr lang="cs-CZ" sz="3200" dirty="0" smtClean="0"/>
          </a:p>
          <a:p>
            <a:pPr marL="800100" lvl="2" indent="-400050"/>
            <a:endParaRPr lang="cs-CZ" sz="3200" dirty="0" smtClean="0"/>
          </a:p>
          <a:p>
            <a:r>
              <a:rPr lang="en-US" sz="3200" dirty="0"/>
              <a:t>English is considered a non-pro-drop language. Nonetheless, subject pronouns are almost always dropped in imperative sentences (e.g., </a:t>
            </a:r>
            <a:r>
              <a:rPr lang="en-US" sz="3200" i="1" dirty="0"/>
              <a:t>Come here</a:t>
            </a:r>
            <a:r>
              <a:rPr lang="en-US" sz="3200" dirty="0"/>
              <a:t>). </a:t>
            </a:r>
            <a:endParaRPr lang="cs-CZ" sz="3200" dirty="0" smtClean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87321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5400" dirty="0"/>
              <a:t>Specific parameters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 informal speech, pronouns may sometimes be dropped in other type of sentences, together with some other words, especially copulas and auxiliaries:</a:t>
            </a:r>
          </a:p>
          <a:p>
            <a:pPr lvl="1"/>
            <a:endParaRPr lang="cs-CZ" sz="3200" i="1" dirty="0"/>
          </a:p>
          <a:p>
            <a:pPr lvl="1"/>
            <a:r>
              <a:rPr lang="en-US" sz="3200" i="1" dirty="0"/>
              <a:t>[Have you] ever been there?</a:t>
            </a:r>
            <a:endParaRPr lang="en-US" sz="3200" dirty="0"/>
          </a:p>
          <a:p>
            <a:pPr lvl="1"/>
            <a:r>
              <a:rPr lang="en-US" sz="3200" i="1" dirty="0"/>
              <a:t>[I'm] going to the shops. [[Do] you] want to come [with [me]]?</a:t>
            </a:r>
            <a:endParaRPr lang="en-US" sz="3200" dirty="0"/>
          </a:p>
          <a:p>
            <a:pPr marL="0" indent="0">
              <a:buNone/>
            </a:pPr>
            <a:endParaRPr lang="cs-CZ" sz="32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64959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Examples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Head-directionality parameter</a:t>
            </a:r>
          </a:p>
          <a:p>
            <a:r>
              <a:rPr lang="cs-CZ" dirty="0"/>
              <a:t>Nominal mapping </a:t>
            </a:r>
            <a:r>
              <a:rPr lang="cs-CZ" dirty="0" smtClean="0"/>
              <a:t>parameter</a:t>
            </a:r>
          </a:p>
          <a:p>
            <a:r>
              <a:rPr lang="cs-CZ" dirty="0"/>
              <a:t>Null subject </a:t>
            </a:r>
            <a:r>
              <a:rPr lang="cs-CZ" dirty="0" smtClean="0"/>
              <a:t>parameter</a:t>
            </a:r>
          </a:p>
          <a:p>
            <a:r>
              <a:rPr lang="cs-CZ" dirty="0"/>
              <a:t>Polysynthesis </a:t>
            </a:r>
            <a:r>
              <a:rPr lang="cs-CZ" dirty="0" smtClean="0"/>
              <a:t>parameter</a:t>
            </a:r>
          </a:p>
          <a:p>
            <a:r>
              <a:rPr lang="cs-CZ" dirty="0"/>
              <a:t>Serial verb </a:t>
            </a:r>
            <a:r>
              <a:rPr lang="cs-CZ" dirty="0" smtClean="0"/>
              <a:t>parameter</a:t>
            </a:r>
          </a:p>
          <a:p>
            <a:r>
              <a:rPr lang="cs-CZ" dirty="0"/>
              <a:t>Topic prominent </a:t>
            </a:r>
            <a:r>
              <a:rPr lang="cs-CZ" dirty="0" smtClean="0"/>
              <a:t>parameter</a:t>
            </a:r>
          </a:p>
          <a:p>
            <a:r>
              <a:rPr lang="cs-CZ" dirty="0"/>
              <a:t>Verb attraction parameter</a:t>
            </a:r>
          </a:p>
        </p:txBody>
      </p:sp>
    </p:spTree>
    <p:extLst>
      <p:ext uri="{BB962C8B-B14F-4D97-AF65-F5344CB8AC3E}">
        <p14:creationId xmlns:p14="http://schemas.microsoft.com/office/powerpoint/2010/main" val="3726080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Head-directionality </a:t>
            </a:r>
            <a:r>
              <a:rPr lang="cs-CZ" dirty="0" smtClean="0"/>
              <a:t>parameter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cs-CZ" dirty="0" smtClean="0"/>
          </a:p>
          <a:p>
            <a:r>
              <a:rPr lang="cs-CZ" dirty="0" smtClean="0"/>
              <a:t>I</a:t>
            </a:r>
            <a:r>
              <a:rPr lang="en-US" dirty="0" smtClean="0"/>
              <a:t>n </a:t>
            </a:r>
            <a:r>
              <a:rPr lang="en-US" dirty="0"/>
              <a:t>linguistics, the head directionality parameter is a proposed parameter that classifies word order according to the placement of heads in phrases. </a:t>
            </a:r>
            <a:endParaRPr lang="cs-CZ" dirty="0" smtClean="0"/>
          </a:p>
          <a:p>
            <a:endParaRPr lang="cs-CZ" dirty="0"/>
          </a:p>
          <a:p>
            <a:r>
              <a:rPr lang="en-US" dirty="0" smtClean="0"/>
              <a:t>Head </a:t>
            </a:r>
            <a:r>
              <a:rPr lang="en-US" dirty="0"/>
              <a:t>directionality is also understood in terms of the direction of branching. </a:t>
            </a: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1942248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Head-directionality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cs-CZ" dirty="0" smtClean="0"/>
          </a:p>
          <a:p>
            <a:pPr marL="0" indent="0">
              <a:buNone/>
            </a:pPr>
            <a:r>
              <a:rPr lang="en-US" dirty="0" smtClean="0"/>
              <a:t>One </a:t>
            </a:r>
            <a:r>
              <a:rPr lang="en-US" dirty="0"/>
              <a:t>distinguishes between two major types of phrases</a:t>
            </a:r>
            <a:r>
              <a:rPr lang="en-US" dirty="0" smtClean="0"/>
              <a:t>:</a:t>
            </a:r>
            <a:endParaRPr lang="cs-CZ" dirty="0"/>
          </a:p>
          <a:p>
            <a:pPr lvl="1"/>
            <a:endParaRPr lang="cs-CZ" dirty="0" smtClean="0"/>
          </a:p>
          <a:p>
            <a:pPr lvl="1"/>
            <a:r>
              <a:rPr lang="en-US" dirty="0" smtClean="0"/>
              <a:t>Head-initial </a:t>
            </a:r>
            <a:r>
              <a:rPr lang="en-US" dirty="0"/>
              <a:t>(= right-branching) phrases: Heads precede their dependents</a:t>
            </a:r>
            <a:r>
              <a:rPr lang="en-US" dirty="0" smtClean="0"/>
              <a:t>.</a:t>
            </a:r>
            <a:endParaRPr lang="cs-CZ" dirty="0" smtClean="0"/>
          </a:p>
          <a:p>
            <a:pPr lvl="2"/>
            <a:r>
              <a:rPr lang="en-US" dirty="0"/>
              <a:t>English (head-initial): </a:t>
            </a:r>
            <a:r>
              <a:rPr lang="en-US" i="1" dirty="0"/>
              <a:t>John has </a:t>
            </a:r>
            <a:r>
              <a:rPr lang="en-US" b="1" i="1" dirty="0"/>
              <a:t>put the book on the table</a:t>
            </a:r>
            <a:r>
              <a:rPr lang="en-US" i="1" dirty="0"/>
              <a:t>.</a:t>
            </a:r>
            <a:endParaRPr lang="cs-CZ" i="1" dirty="0"/>
          </a:p>
          <a:p>
            <a:pPr lvl="2"/>
            <a:endParaRPr lang="en-US" dirty="0"/>
          </a:p>
          <a:p>
            <a:pPr lvl="1"/>
            <a:r>
              <a:rPr lang="en-US" dirty="0"/>
              <a:t>Head-final (= left-branching) phrases: Heads follow their dependents.</a:t>
            </a:r>
            <a:endParaRPr lang="cs-CZ" dirty="0"/>
          </a:p>
          <a:p>
            <a:pPr lvl="2"/>
            <a:r>
              <a:rPr lang="en-US" dirty="0" smtClean="0"/>
              <a:t>German </a:t>
            </a:r>
            <a:r>
              <a:rPr lang="en-US" dirty="0"/>
              <a:t>(head-final): </a:t>
            </a:r>
            <a:r>
              <a:rPr lang="en-US" i="1" dirty="0"/>
              <a:t>Jan hat </a:t>
            </a:r>
            <a:r>
              <a:rPr lang="en-US" b="1" i="1" dirty="0"/>
              <a:t>das Buch auf den Tisch gelegt</a:t>
            </a:r>
            <a:r>
              <a:rPr lang="en-US" dirty="0" smtClean="0"/>
              <a:t>, </a:t>
            </a:r>
            <a:r>
              <a:rPr lang="en-US" dirty="0"/>
              <a:t> </a:t>
            </a:r>
            <a:r>
              <a:rPr lang="en-US" i="1" dirty="0"/>
              <a:t>[John-has the-book on-the-table put]</a:t>
            </a:r>
            <a:r>
              <a:rPr lang="en-US" dirty="0"/>
              <a:t>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82180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Pro-drop parameter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(</a:t>
            </a:r>
            <a:r>
              <a:rPr lang="en-US" sz="2400" dirty="0"/>
              <a:t>from "pronoun-dropping") is a language in which certain classes of pronouns may be omitted when they are in some sense pragmatically </a:t>
            </a:r>
            <a:r>
              <a:rPr lang="en-US" sz="2400" dirty="0" smtClean="0"/>
              <a:t>inferable</a:t>
            </a:r>
            <a:r>
              <a:rPr lang="cs-CZ" sz="2400" dirty="0" smtClean="0"/>
              <a:t>.</a:t>
            </a:r>
          </a:p>
          <a:p>
            <a:endParaRPr lang="cs-CZ" sz="2400" dirty="0" smtClean="0"/>
          </a:p>
          <a:p>
            <a:r>
              <a:rPr lang="cs-CZ" sz="2400" dirty="0" smtClean="0"/>
              <a:t>Can be common in some languages (Japanise, Slavic languages).</a:t>
            </a:r>
          </a:p>
          <a:p>
            <a:endParaRPr lang="cs-CZ" sz="2400" dirty="0" smtClean="0"/>
          </a:p>
          <a:p>
            <a:r>
              <a:rPr lang="cs-CZ" sz="2400" dirty="0" smtClean="0"/>
              <a:t>Or are part of the spoken part of language. (English)</a:t>
            </a:r>
          </a:p>
          <a:p>
            <a:endParaRPr lang="cs-CZ" sz="2400" dirty="0"/>
          </a:p>
          <a:p>
            <a:pPr lvl="1"/>
            <a:r>
              <a:rPr lang="en-US" sz="2000" i="1" dirty="0" smtClean="0"/>
              <a:t>[</a:t>
            </a:r>
            <a:r>
              <a:rPr lang="en-US" sz="2000" i="1" dirty="0"/>
              <a:t>Have you] ever been there?</a:t>
            </a:r>
            <a:endParaRPr lang="en-US" sz="2000" dirty="0"/>
          </a:p>
          <a:p>
            <a:pPr lvl="1"/>
            <a:r>
              <a:rPr lang="en-US" sz="2000" i="1" dirty="0" smtClean="0"/>
              <a:t>[</a:t>
            </a:r>
            <a:r>
              <a:rPr lang="cs-CZ" sz="2000" i="1" dirty="0"/>
              <a:t>I</a:t>
            </a:r>
            <a:r>
              <a:rPr lang="en-US" sz="2000" i="1" dirty="0" smtClean="0"/>
              <a:t>'m</a:t>
            </a:r>
            <a:r>
              <a:rPr lang="en-US" sz="2000" i="1" dirty="0"/>
              <a:t>] going to the shops. [[Do] you] want to come [with [me]]?</a:t>
            </a:r>
            <a:endParaRPr lang="en-US" sz="2000" dirty="0"/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183629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dirty="0"/>
              <a:t>Language acquisition</a:t>
            </a:r>
            <a:br>
              <a:rPr lang="cs-CZ" b="1" dirty="0"/>
            </a:b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According to this framework, principles and parameters are part of a genetically innate universal grammar (UG) which all humans </a:t>
            </a:r>
            <a:r>
              <a:rPr lang="en-US" dirty="0" smtClean="0"/>
              <a:t>possess. </a:t>
            </a:r>
            <a:endParaRPr lang="cs-CZ" dirty="0" smtClean="0"/>
          </a:p>
          <a:p>
            <a:endParaRPr lang="cs-CZ" dirty="0" smtClean="0"/>
          </a:p>
          <a:p>
            <a:r>
              <a:rPr lang="en-US" dirty="0" smtClean="0"/>
              <a:t>As </a:t>
            </a:r>
            <a:r>
              <a:rPr lang="en-US" dirty="0"/>
              <a:t>such, principles and parameters do not need to be learned by exposure to language. Rather, exposure to language merely triggers the parameters to adopt the correct setting.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8260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Acquisition issues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The first issues is the complexity of languages, yet children seen to aquire it almost effortlessly..</a:t>
            </a:r>
          </a:p>
          <a:p>
            <a:r>
              <a:rPr lang="cs-CZ" dirty="0" smtClean="0"/>
              <a:t>Languages differ, in pronunciation, word order, grammar.</a:t>
            </a:r>
          </a:p>
          <a:p>
            <a:pPr lvl="1"/>
            <a:r>
              <a:rPr lang="en-US" dirty="0" smtClean="0"/>
              <a:t>Universals</a:t>
            </a:r>
            <a:r>
              <a:rPr lang="en-US" dirty="0"/>
              <a:t>: language is universally acquired in the same manner and the deepest structure is the same in all languages. </a:t>
            </a:r>
            <a:endParaRPr lang="cs-CZ" dirty="0" smtClean="0"/>
          </a:p>
          <a:p>
            <a:pPr lvl="2"/>
            <a:r>
              <a:rPr lang="en-US" dirty="0" smtClean="0"/>
              <a:t>Principles</a:t>
            </a:r>
            <a:r>
              <a:rPr lang="en-US" dirty="0"/>
              <a:t>: are </a:t>
            </a:r>
            <a:r>
              <a:rPr lang="en-US" dirty="0" smtClean="0"/>
              <a:t>universal</a:t>
            </a:r>
            <a:r>
              <a:rPr lang="cs-CZ" dirty="0" smtClean="0"/>
              <a:t>:Word order,</a:t>
            </a:r>
            <a:r>
              <a:rPr lang="en-US" dirty="0" smtClean="0"/>
              <a:t> Question</a:t>
            </a:r>
            <a:r>
              <a:rPr lang="cs-CZ" dirty="0" smtClean="0"/>
              <a:t>,</a:t>
            </a:r>
            <a:r>
              <a:rPr lang="en-US" dirty="0" smtClean="0"/>
              <a:t> Formation</a:t>
            </a:r>
            <a:r>
              <a:rPr lang="cs-CZ" dirty="0" smtClean="0"/>
              <a:t>, </a:t>
            </a:r>
            <a:r>
              <a:rPr lang="en-US" dirty="0" smtClean="0"/>
              <a:t>Agreement</a:t>
            </a:r>
            <a:endParaRPr lang="cs-CZ" dirty="0" smtClean="0"/>
          </a:p>
          <a:p>
            <a:pPr lvl="2"/>
            <a:r>
              <a:rPr lang="en-US" dirty="0" smtClean="0"/>
              <a:t>Parameters </a:t>
            </a:r>
            <a:r>
              <a:rPr lang="en-US" dirty="0"/>
              <a:t>: vary across languages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71871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Rules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 smtClean="0"/>
          </a:p>
          <a:p>
            <a:r>
              <a:rPr lang="cs-CZ" dirty="0" smtClean="0"/>
              <a:t>By specifying sentences into structural patterns, linguistics believe it is possible to identify the general rules in which languages are aquired and used.</a:t>
            </a:r>
          </a:p>
          <a:p>
            <a:endParaRPr lang="cs-CZ" dirty="0" smtClean="0"/>
          </a:p>
          <a:p>
            <a:r>
              <a:rPr lang="cs-CZ" dirty="0" smtClean="0"/>
              <a:t>Two different typer of rules exist in this theory:</a:t>
            </a:r>
          </a:p>
          <a:p>
            <a:pPr lvl="1"/>
            <a:r>
              <a:rPr lang="cs-CZ" dirty="0" smtClean="0"/>
              <a:t>Phrase structure rules.</a:t>
            </a:r>
          </a:p>
          <a:p>
            <a:pPr lvl="1"/>
            <a:r>
              <a:rPr lang="cs-CZ" dirty="0" smtClean="0"/>
              <a:t>Relational dependenci rules.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87842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5400" dirty="0"/>
              <a:t>Phrase structure rules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3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sz="2800" dirty="0">
                <a:latin typeface="Arial" charset="0"/>
              </a:rPr>
              <a:t>A phrase is a syntactic unit headed by a lexical category such as Noun, Adjective, Adverb, Verb, or Preposition.</a:t>
            </a:r>
          </a:p>
          <a:p>
            <a:pPr marL="365760" lvl="1" indent="0">
              <a:lnSpc>
                <a:spcPct val="93000"/>
              </a:lnSpc>
              <a:spcAft>
                <a:spcPct val="0"/>
              </a:spcAft>
              <a:buClrTx/>
              <a:buFontTx/>
              <a:buNone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dirty="0" smtClean="0">
                <a:latin typeface="Arial" charset="0"/>
              </a:rPr>
              <a:t>•</a:t>
            </a:r>
          </a:p>
          <a:p>
            <a:pPr marL="365760" lvl="1" indent="0">
              <a:lnSpc>
                <a:spcPct val="93000"/>
              </a:lnSpc>
              <a:spcAft>
                <a:spcPct val="0"/>
              </a:spcAft>
              <a:buClrTx/>
              <a:buFontTx/>
              <a:buNone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dirty="0" smtClean="0">
                <a:latin typeface="Arial" charset="0"/>
              </a:rPr>
              <a:t> </a:t>
            </a:r>
            <a:r>
              <a:rPr lang="cs-CZ" dirty="0">
                <a:latin typeface="Arial" charset="0"/>
              </a:rPr>
              <a:t>Phrases are named for their heads:</a:t>
            </a:r>
          </a:p>
          <a:p>
            <a:pPr marL="365760" lvl="1" indent="0">
              <a:lnSpc>
                <a:spcPct val="93000"/>
              </a:lnSpc>
              <a:spcAft>
                <a:spcPct val="0"/>
              </a:spcAft>
              <a:buClrTx/>
              <a:buFontTx/>
              <a:buNone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dirty="0">
                <a:latin typeface="Arial" charset="0"/>
              </a:rPr>
              <a:t>• NP, VP, AdjP, AdvP, PP</a:t>
            </a:r>
          </a:p>
          <a:p>
            <a:pPr marL="0" indent="0">
              <a:lnSpc>
                <a:spcPct val="93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endParaRPr lang="cs-CZ" sz="2800" dirty="0" smtClean="0">
              <a:latin typeface="Arial" charset="0"/>
            </a:endParaRPr>
          </a:p>
          <a:p>
            <a:pPr marL="0" indent="0">
              <a:lnSpc>
                <a:spcPct val="93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endParaRPr lang="cs-CZ" sz="2800" dirty="0">
              <a:latin typeface="Arial" charset="0"/>
            </a:endParaRPr>
          </a:p>
          <a:p>
            <a:pPr marL="0" indent="0">
              <a:lnSpc>
                <a:spcPct val="93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sz="2800" dirty="0" smtClean="0">
                <a:latin typeface="Arial" charset="0"/>
              </a:rPr>
              <a:t>How </a:t>
            </a:r>
            <a:r>
              <a:rPr lang="cs-CZ" sz="2800" dirty="0">
                <a:latin typeface="Arial" charset="0"/>
              </a:rPr>
              <a:t>phrases are formed is governed by rules (= ‘phrase structure rules´)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76789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5400" dirty="0"/>
              <a:t>Phrase structure rules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93000"/>
              </a:lnSpc>
              <a:spcAft>
                <a:spcPct val="0"/>
              </a:spcAft>
              <a:buClrTx/>
              <a:buSzPct val="45000"/>
              <a:buFontTx/>
              <a:buNone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sz="2800" dirty="0">
                <a:latin typeface="Arial" charset="0"/>
              </a:rPr>
              <a:t>Rules that determine:</a:t>
            </a:r>
          </a:p>
          <a:p>
            <a:pPr marL="365760" lvl="1" indent="0">
              <a:lnSpc>
                <a:spcPct val="93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dirty="0">
                <a:latin typeface="Arial" charset="0"/>
              </a:rPr>
              <a:t>what goes into a phrase (‘constituents’)</a:t>
            </a:r>
          </a:p>
          <a:p>
            <a:pPr marL="365760" lvl="1" indent="0">
              <a:lnSpc>
                <a:spcPct val="93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dirty="0">
                <a:latin typeface="Arial" charset="0"/>
              </a:rPr>
              <a:t>how the constituents are ordered</a:t>
            </a:r>
          </a:p>
          <a:p>
            <a:pPr marL="0" indent="0">
              <a:lnSpc>
                <a:spcPct val="140000"/>
              </a:lnSpc>
              <a:spcAft>
                <a:spcPct val="0"/>
              </a:spcAft>
              <a:buClrTx/>
              <a:buSzPct val="45000"/>
              <a:buFontTx/>
              <a:buNone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sz="2800" dirty="0">
                <a:latin typeface="Arial" charset="0"/>
              </a:rPr>
              <a:t>Constituent is a word or group of words:</a:t>
            </a:r>
          </a:p>
          <a:p>
            <a:pPr marL="365760" lvl="1" indent="0">
              <a:lnSpc>
                <a:spcPct val="93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dirty="0">
                <a:latin typeface="Arial" charset="0"/>
              </a:rPr>
              <a:t>that function as a unit and can make </a:t>
            </a:r>
            <a:r>
              <a:rPr lang="cs-CZ" dirty="0" smtClean="0">
                <a:latin typeface="Arial" charset="0"/>
              </a:rPr>
              <a:t>up larger </a:t>
            </a:r>
            <a:r>
              <a:rPr lang="cs-CZ" dirty="0">
                <a:latin typeface="Arial" charset="0"/>
              </a:rPr>
              <a:t>grammatical units</a:t>
            </a:r>
          </a:p>
          <a:p>
            <a:pPr marL="365760" lvl="1" indent="0">
              <a:lnSpc>
                <a:spcPct val="93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dirty="0">
                <a:latin typeface="Arial" charset="0"/>
              </a:rPr>
              <a:t> Phrase and </a:t>
            </a:r>
            <a:r>
              <a:rPr lang="cs-CZ" dirty="0" smtClean="0">
                <a:latin typeface="Arial" charset="0"/>
              </a:rPr>
              <a:t>head</a:t>
            </a:r>
          </a:p>
          <a:p>
            <a:pPr marL="365760" lvl="1" indent="0">
              <a:lnSpc>
                <a:spcPct val="93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endParaRPr lang="cs-CZ" sz="2800" dirty="0">
              <a:latin typeface="Arial" charset="0"/>
            </a:endParaRPr>
          </a:p>
          <a:p>
            <a:pPr marL="0" indent="0">
              <a:lnSpc>
                <a:spcPct val="93000"/>
              </a:lnSpc>
              <a:spcAft>
                <a:spcPct val="0"/>
              </a:spcAft>
              <a:buSzPct val="45000"/>
              <a:buNone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sz="3000" dirty="0" smtClean="0">
                <a:latin typeface="Arial" charset="0"/>
              </a:rPr>
              <a:t>Each </a:t>
            </a:r>
            <a:r>
              <a:rPr lang="cs-CZ" sz="3000" dirty="0">
                <a:latin typeface="Arial" charset="0"/>
              </a:rPr>
              <a:t>rule “rewrites” a constituent into one or more constituents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46995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5400" dirty="0"/>
              <a:t>Phrase structure rules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3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sz="2800" dirty="0">
                <a:latin typeface="Arial" charset="0"/>
              </a:rPr>
              <a:t>are generative, allow </a:t>
            </a:r>
            <a:r>
              <a:rPr lang="cs-CZ" sz="2800" dirty="0" smtClean="0">
                <a:latin typeface="Arial" charset="0"/>
              </a:rPr>
              <a:t>recursion.</a:t>
            </a:r>
            <a:endParaRPr lang="cs-CZ" sz="2800" dirty="0">
              <a:latin typeface="Arial" charset="0"/>
            </a:endParaRPr>
          </a:p>
          <a:p>
            <a:pPr marL="0" indent="0">
              <a:lnSpc>
                <a:spcPct val="140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endParaRPr lang="cs-CZ" sz="2800" dirty="0" smtClean="0">
              <a:latin typeface="Arial" charset="0"/>
            </a:endParaRPr>
          </a:p>
          <a:p>
            <a:pPr marL="0" indent="0">
              <a:lnSpc>
                <a:spcPct val="140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sz="2800" dirty="0" smtClean="0">
                <a:latin typeface="Arial" charset="0"/>
              </a:rPr>
              <a:t>give </a:t>
            </a:r>
            <a:r>
              <a:rPr lang="cs-CZ" sz="2800" dirty="0">
                <a:latin typeface="Arial" charset="0"/>
              </a:rPr>
              <a:t>different analyses of syntactically ambiguous </a:t>
            </a:r>
            <a:r>
              <a:rPr lang="cs-CZ" sz="2800" dirty="0" smtClean="0">
                <a:latin typeface="Arial" charset="0"/>
              </a:rPr>
              <a:t>		sentences.</a:t>
            </a:r>
            <a:endParaRPr lang="cs-CZ" sz="2800" dirty="0">
              <a:latin typeface="Arial" charset="0"/>
            </a:endParaRPr>
          </a:p>
          <a:p>
            <a:pPr marL="0" indent="0">
              <a:lnSpc>
                <a:spcPct val="140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endParaRPr lang="cs-CZ" sz="2800" dirty="0" smtClean="0">
              <a:latin typeface="Arial" charset="0"/>
            </a:endParaRPr>
          </a:p>
          <a:p>
            <a:pPr marL="0" indent="0">
              <a:lnSpc>
                <a:spcPct val="140000"/>
              </a:lnSpc>
              <a:spcAft>
                <a:spcPct val="0"/>
              </a:spcAft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cs-CZ" sz="2800" dirty="0" smtClean="0">
                <a:latin typeface="Arial" charset="0"/>
              </a:rPr>
              <a:t>have </a:t>
            </a:r>
            <a:r>
              <a:rPr lang="cs-CZ" sz="2800" dirty="0">
                <a:latin typeface="Arial" charset="0"/>
              </a:rPr>
              <a:t>a hierarchical </a:t>
            </a:r>
            <a:r>
              <a:rPr lang="cs-CZ" sz="2800" dirty="0" smtClean="0">
                <a:latin typeface="Arial" charset="0"/>
              </a:rPr>
              <a:t>structure.</a:t>
            </a:r>
            <a:endParaRPr lang="cs-CZ" sz="2800" dirty="0">
              <a:latin typeface="Arial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04578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cs-CZ" sz="4800" dirty="0" smtClean="0"/>
              <a:t>Phrase structure rules.</a:t>
            </a:r>
            <a:endParaRPr lang="cs-CZ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General x-bar schema for phrase </a:t>
            </a:r>
            <a:r>
              <a:rPr lang="cs-CZ" dirty="0" smtClean="0"/>
              <a:t>structure:</a:t>
            </a:r>
          </a:p>
          <a:p>
            <a:endParaRPr lang="cs-CZ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636913"/>
            <a:ext cx="2675023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936" y="4221089"/>
            <a:ext cx="2990292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27" y="2786511"/>
            <a:ext cx="4601145" cy="3057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7648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5400" dirty="0"/>
              <a:t>Phrase structure rules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0213" indent="-323850">
              <a:buSzPct val="45000"/>
              <a:buFont typeface="Wingdings" charset="2"/>
              <a:buChar char=""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r>
              <a:rPr lang="cs-CZ" dirty="0"/>
              <a:t>Examples – structure of the English noun phrase(NP)</a:t>
            </a:r>
          </a:p>
          <a:p>
            <a:pPr marL="430213" indent="-323850">
              <a:buClrTx/>
              <a:buSzTx/>
              <a:buFontTx/>
              <a:buNone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endParaRPr lang="cs-CZ" dirty="0"/>
          </a:p>
          <a:p>
            <a:pPr marL="430213" indent="-323850">
              <a:buClrTx/>
              <a:buSzTx/>
              <a:buFontTx/>
              <a:buNone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r>
              <a:rPr lang="cs-CZ" dirty="0" smtClean="0"/>
              <a:t>						NP </a:t>
            </a:r>
            <a:r>
              <a:rPr lang="cs-CZ" dirty="0"/>
              <a:t>→ (Det) (Adj) N (PP) </a:t>
            </a:r>
          </a:p>
          <a:p>
            <a:pPr marL="430213" indent="-323850">
              <a:buClrTx/>
              <a:buFontTx/>
              <a:buNone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r>
              <a:rPr lang="cs-CZ" dirty="0" smtClean="0"/>
              <a:t>					the </a:t>
            </a:r>
            <a:r>
              <a:rPr lang="cs-CZ" dirty="0"/>
              <a:t>unopened books on the table </a:t>
            </a:r>
          </a:p>
          <a:p>
            <a:pPr marL="430213" indent="-323850">
              <a:buClrTx/>
              <a:buFontTx/>
              <a:buNone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endParaRPr lang="cs-CZ" b="1" dirty="0" smtClean="0"/>
          </a:p>
          <a:p>
            <a:pPr marL="430213" indent="-323850">
              <a:buClrTx/>
              <a:buFontTx/>
              <a:buNone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endParaRPr lang="cs-CZ" b="1" dirty="0"/>
          </a:p>
          <a:p>
            <a:pPr marL="430213" indent="-323850">
              <a:buClrTx/>
              <a:buFontTx/>
              <a:buNone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r>
              <a:rPr lang="cs-CZ" b="1" dirty="0" smtClean="0"/>
              <a:t>So </a:t>
            </a:r>
            <a:r>
              <a:rPr lang="cs-CZ" b="1" dirty="0"/>
              <a:t>NP must contain </a:t>
            </a:r>
            <a:r>
              <a:rPr lang="cs-CZ" b="1" dirty="0" smtClean="0"/>
              <a:t>a NP </a:t>
            </a:r>
            <a:r>
              <a:rPr lang="cs-CZ" b="1" dirty="0"/>
              <a:t>but can also contain a lot of other </a:t>
            </a:r>
            <a:r>
              <a:rPr lang="cs-CZ" b="1" dirty="0" smtClean="0"/>
              <a:t>phrases. </a:t>
            </a:r>
            <a:endParaRPr lang="cs-CZ" b="1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56424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8229600" cy="1143000"/>
          </a:xfrm>
        </p:spPr>
        <p:txBody>
          <a:bodyPr/>
          <a:lstStyle/>
          <a:p>
            <a:r>
              <a:rPr lang="cs-CZ" sz="5400" dirty="0"/>
              <a:t>Phrase structure rules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Examples- structure of the verbal phrase (VP)</a:t>
            </a:r>
          </a:p>
          <a:p>
            <a:pPr>
              <a:lnSpc>
                <a:spcPct val="100000"/>
              </a:lnSpc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cs-CZ" sz="2800" dirty="0" smtClean="0"/>
          </a:p>
          <a:p>
            <a:pPr lvl="1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 smtClean="0"/>
              <a:t>VP </a:t>
            </a:r>
            <a:r>
              <a:rPr lang="cs-CZ" dirty="0"/>
              <a:t>→ V </a:t>
            </a:r>
            <a:r>
              <a:rPr lang="cs-CZ" dirty="0" smtClean="0"/>
              <a:t>talked </a:t>
            </a:r>
            <a:endParaRPr lang="cs-CZ" dirty="0"/>
          </a:p>
          <a:p>
            <a:pPr lvl="1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VP → V Adv   talked loudly </a:t>
            </a:r>
          </a:p>
          <a:p>
            <a:pPr lvl="1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VP → V NP  ate their desserts </a:t>
            </a:r>
          </a:p>
          <a:p>
            <a:pPr lvl="1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VP → V NP PP (Adv) put the book on the table (wearily) </a:t>
            </a:r>
          </a:p>
          <a:p>
            <a:pPr lvl="1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VP → V (S) know (the students attended their lectures) </a:t>
            </a:r>
          </a:p>
          <a:p>
            <a:pPr marL="0" indent="0">
              <a:lnSpc>
                <a:spcPct val="100000"/>
              </a:lnSpc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cs-CZ" sz="2800" b="1" dirty="0" smtClean="0"/>
          </a:p>
          <a:p>
            <a:pPr marL="0" indent="0">
              <a:lnSpc>
                <a:spcPct val="100000"/>
              </a:lnSpc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sz="2800" b="1" dirty="0" smtClean="0"/>
              <a:t>So</a:t>
            </a:r>
            <a:r>
              <a:rPr lang="cs-CZ" sz="2800" b="1" dirty="0"/>
              <a:t>, a VP must contain a verb, but can also contain a lot of other phrases (...): </a:t>
            </a:r>
            <a:r>
              <a:rPr lang="cs-CZ" sz="2800" b="1" dirty="0" smtClean="0"/>
              <a:t>VP </a:t>
            </a:r>
            <a:r>
              <a:rPr lang="cs-CZ" sz="2800" b="1" dirty="0"/>
              <a:t>→ V (NP) (PP)(Adv) (S)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3419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5400" dirty="0"/>
              <a:t>Phrase structure rules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Sentence/Clause-level PS Rules (English has quite a fixed clause-level PS Rule) </a:t>
            </a:r>
          </a:p>
          <a:p>
            <a:pPr lvl="1"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1. S → NP VP (a sentence is obligatorily comprised of a NP and a VP) </a:t>
            </a:r>
          </a:p>
          <a:p>
            <a:pPr lvl="1"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 [NP The students] [VP attended their lectures]</a:t>
            </a:r>
          </a:p>
          <a:p>
            <a:pPr lvl="1"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2. S → NP (Aux) VP </a:t>
            </a:r>
          </a:p>
          <a:p>
            <a:pPr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 smtClean="0"/>
              <a:t>The </a:t>
            </a:r>
            <a:r>
              <a:rPr lang="cs-CZ" dirty="0"/>
              <a:t>students will take exams. </a:t>
            </a:r>
          </a:p>
          <a:p>
            <a:pPr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cs-CZ" b="1" dirty="0"/>
          </a:p>
          <a:p>
            <a:pPr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b="1" dirty="0" smtClean="0"/>
              <a:t>Sentence </a:t>
            </a:r>
            <a:r>
              <a:rPr lang="cs-CZ" b="1" dirty="0"/>
              <a:t>must contain NP and VP, the auxiliary is optional, we can indicate this with (...).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40853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5400" dirty="0"/>
              <a:t>Phrase structure rules</a:t>
            </a:r>
            <a:endParaRPr lang="cs-CZ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916832"/>
            <a:ext cx="4716784" cy="438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4844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5400" dirty="0"/>
              <a:t>Phrase structure </a:t>
            </a:r>
            <a:r>
              <a:rPr lang="cs-CZ" sz="5400" dirty="0" smtClean="0"/>
              <a:t>rules;</a:t>
            </a:r>
            <a:r>
              <a:rPr lang="cs-CZ" sz="5400" dirty="0"/>
              <a:t/>
            </a:r>
            <a:br>
              <a:rPr lang="cs-CZ" sz="5400" dirty="0"/>
            </a:br>
            <a:r>
              <a:rPr lang="cs-CZ" sz="3200" dirty="0"/>
              <a:t>Ambiguous sentences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0213" indent="-323850">
              <a:buSzPct val="45000"/>
              <a:buFont typeface="Wingdings" charset="2"/>
              <a:buChar char=""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r>
              <a:rPr lang="cs-CZ" dirty="0"/>
              <a:t>Heads and dependants(=other elements of the phrase)  </a:t>
            </a:r>
            <a:r>
              <a:rPr lang="cs-CZ" u="sng" dirty="0"/>
              <a:t>form phrases</a:t>
            </a:r>
            <a:r>
              <a:rPr lang="cs-CZ" dirty="0"/>
              <a:t>, sentences can be syntactically correct but semantically wrong</a:t>
            </a:r>
          </a:p>
          <a:p>
            <a:pPr marL="430213" indent="-323850">
              <a:buClrTx/>
              <a:buFontTx/>
              <a:buNone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r>
              <a:rPr lang="cs-CZ" dirty="0" smtClean="0"/>
              <a:t>		</a:t>
            </a:r>
          </a:p>
          <a:p>
            <a:pPr marL="430213" indent="-323850">
              <a:buClrTx/>
              <a:buFontTx/>
              <a:buNone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r>
              <a:rPr lang="cs-CZ" dirty="0"/>
              <a:t>	</a:t>
            </a:r>
            <a:r>
              <a:rPr lang="cs-CZ" dirty="0" smtClean="0"/>
              <a:t>			e</a:t>
            </a:r>
            <a:r>
              <a:rPr lang="cs-CZ" dirty="0"/>
              <a:t>. g</a:t>
            </a:r>
            <a:r>
              <a:rPr lang="cs-CZ" sz="1100" dirty="0"/>
              <a:t>. </a:t>
            </a:r>
            <a:r>
              <a:rPr lang="cs-CZ" dirty="0"/>
              <a:t>- </a:t>
            </a:r>
            <a:r>
              <a:rPr lang="cs-CZ" i="1" dirty="0"/>
              <a:t>Mary saw the man with the telescope</a:t>
            </a:r>
          </a:p>
          <a:p>
            <a:pPr marL="430213" indent="-323850">
              <a:buClrTx/>
              <a:buFontTx/>
              <a:buNone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endParaRPr lang="cs-CZ" dirty="0" smtClean="0"/>
          </a:p>
          <a:p>
            <a:pPr marL="430213" indent="-323850">
              <a:buClrTx/>
              <a:buFontTx/>
              <a:buNone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r>
              <a:rPr lang="cs-CZ" dirty="0" smtClean="0"/>
              <a:t>Two </a:t>
            </a:r>
            <a:r>
              <a:rPr lang="cs-CZ" dirty="0"/>
              <a:t>meanings – </a:t>
            </a:r>
            <a:r>
              <a:rPr lang="cs-CZ" i="1" dirty="0"/>
              <a:t>Mary used a telescope for seeing a man</a:t>
            </a:r>
            <a:r>
              <a:rPr lang="cs-CZ" dirty="0"/>
              <a:t>. or </a:t>
            </a:r>
            <a:r>
              <a:rPr lang="cs-CZ" i="1" dirty="0"/>
              <a:t>Mary saw a man holding a telescope. </a:t>
            </a:r>
            <a:endParaRPr lang="cs-CZ" i="1" dirty="0" smtClean="0"/>
          </a:p>
          <a:p>
            <a:pPr marL="430213" indent="-323850">
              <a:buClrTx/>
              <a:buFontTx/>
              <a:buNone/>
              <a:tabLst>
                <a:tab pos="430213" algn="l"/>
                <a:tab pos="534988" algn="l"/>
                <a:tab pos="984250" algn="l"/>
                <a:tab pos="1433513" algn="l"/>
                <a:tab pos="1882775" algn="l"/>
                <a:tab pos="2332038" algn="l"/>
                <a:tab pos="2781300" algn="l"/>
                <a:tab pos="3230563" algn="l"/>
                <a:tab pos="3679825" algn="l"/>
                <a:tab pos="4129088" algn="l"/>
                <a:tab pos="4578350" algn="l"/>
                <a:tab pos="5027613" algn="l"/>
                <a:tab pos="5476875" algn="l"/>
                <a:tab pos="5926138" algn="l"/>
                <a:tab pos="6375400" algn="l"/>
                <a:tab pos="6824663" algn="l"/>
                <a:tab pos="7273925" algn="l"/>
                <a:tab pos="7723188" algn="l"/>
                <a:tab pos="8172450" algn="l"/>
                <a:tab pos="8621713" algn="l"/>
                <a:tab pos="9070975" algn="l"/>
              </a:tabLst>
            </a:pPr>
            <a:r>
              <a:rPr lang="cs-CZ" dirty="0" smtClean="0">
                <a:latin typeface="Cambria;Cambria" pitchFamily="32" charset="0"/>
              </a:rPr>
              <a:t>→ </a:t>
            </a:r>
            <a:r>
              <a:rPr lang="cs-CZ" b="1" dirty="0" smtClean="0"/>
              <a:t>ambiguous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992038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5400" dirty="0"/>
              <a:t>Phrase structure rules</a:t>
            </a:r>
            <a:endParaRPr lang="cs-CZ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22" y="2044869"/>
            <a:ext cx="7980356" cy="41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4313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5400" dirty="0"/>
              <a:t>Phrase structure rules</a:t>
            </a:r>
            <a:br>
              <a:rPr lang="cs-CZ" sz="5400" dirty="0"/>
            </a:br>
            <a:r>
              <a:rPr lang="cs-CZ" sz="4000" dirty="0"/>
              <a:t>Recursion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Language is infinite – you can say sentences that have never been said before</a:t>
            </a:r>
          </a:p>
          <a:p>
            <a:endParaRPr lang="cs-CZ" dirty="0" smtClean="0"/>
          </a:p>
          <a:p>
            <a:pPr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a)NP         N     PP</a:t>
            </a:r>
          </a:p>
          <a:p>
            <a:pPr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b)PP          P      NP</a:t>
            </a:r>
          </a:p>
          <a:p>
            <a:pPr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 NP</a:t>
            </a:r>
          </a:p>
          <a:p>
            <a:pPr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 N           PP</a:t>
            </a:r>
          </a:p>
          <a:p>
            <a:pPr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       P            NP</a:t>
            </a:r>
          </a:p>
          <a:p>
            <a:pPr indent="-341313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cs-CZ" dirty="0"/>
              <a:t>                N         PP  etc.. (applying the same rule)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475656" y="3501008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331640" y="4005064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187624" y="4653136"/>
            <a:ext cx="576064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971600" y="4653136"/>
            <a:ext cx="216024" cy="108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475656" y="5085184"/>
            <a:ext cx="432048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907704" y="5085184"/>
            <a:ext cx="288032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2195736" y="5556696"/>
            <a:ext cx="288032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483768" y="5556696"/>
            <a:ext cx="288032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425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435280" cy="1370416"/>
          </a:xfrm>
        </p:spPr>
        <p:txBody>
          <a:bodyPr>
            <a:noAutofit/>
          </a:bodyPr>
          <a:lstStyle/>
          <a:p>
            <a:pPr lvl="1" algn="l" rtl="0">
              <a:spcBef>
                <a:spcPct val="0"/>
              </a:spcBef>
            </a:pPr>
            <a:r>
              <a:rPr lang="cs-CZ" sz="4600" dirty="0" smtClean="0">
                <a:solidFill>
                  <a:schemeClr val="tx2"/>
                </a:solidFill>
                <a:latin typeface="+mj-lt"/>
              </a:rPr>
              <a:t>The lexicon and sub-categorization</a:t>
            </a:r>
            <a:endParaRPr lang="cs-CZ" sz="46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The frog died</a:t>
            </a:r>
          </a:p>
          <a:p>
            <a:r>
              <a:rPr lang="cs-CZ" dirty="0" smtClean="0"/>
              <a:t>The frog died the cat</a:t>
            </a:r>
          </a:p>
          <a:p>
            <a:r>
              <a:rPr lang="cs-CZ" dirty="0" smtClean="0"/>
              <a:t>The frog died the cat to the mouse</a:t>
            </a:r>
          </a:p>
          <a:p>
            <a:endParaRPr lang="cs-CZ" dirty="0"/>
          </a:p>
          <a:p>
            <a:r>
              <a:rPr lang="cs-CZ" dirty="0" smtClean="0"/>
              <a:t>The V´in (a) is that of an intransitive verb, and accordingly intransitive verbs like </a:t>
            </a:r>
            <a:r>
              <a:rPr lang="cs-CZ" i="1" dirty="0" smtClean="0"/>
              <a:t>die</a:t>
            </a:r>
            <a:r>
              <a:rPr lang="cs-CZ" dirty="0" smtClean="0"/>
              <a:t> and </a:t>
            </a:r>
            <a:r>
              <a:rPr lang="cs-CZ" i="1" dirty="0" smtClean="0"/>
              <a:t>dissappear</a:t>
            </a:r>
            <a:r>
              <a:rPr lang="cs-CZ" dirty="0" smtClean="0"/>
              <a:t> should occur in it but transitive and other verbs should not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65935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4400" dirty="0"/>
              <a:t>The lexicon and sub-categorization</a:t>
            </a:r>
            <a:endParaRPr lang="cs-CZ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The cat devoured.</a:t>
            </a:r>
          </a:p>
          <a:p>
            <a:r>
              <a:rPr lang="cs-CZ" dirty="0"/>
              <a:t>The cat devoured the mouse.</a:t>
            </a:r>
          </a:p>
          <a:p>
            <a:r>
              <a:rPr lang="cs-CZ" dirty="0"/>
              <a:t>The cat devoured themouse the </a:t>
            </a:r>
            <a:r>
              <a:rPr lang="cs-CZ" dirty="0" smtClean="0"/>
              <a:t>frog</a:t>
            </a:r>
          </a:p>
          <a:p>
            <a:endParaRPr lang="cs-CZ" dirty="0"/>
          </a:p>
          <a:p>
            <a:r>
              <a:rPr lang="cs-CZ" dirty="0" smtClean="0"/>
              <a:t>Transitive verb (b)</a:t>
            </a:r>
            <a:endParaRPr lang="cs-CZ" dirty="0"/>
          </a:p>
          <a:p>
            <a:endParaRPr lang="cs-CZ" dirty="0"/>
          </a:p>
          <a:p>
            <a:pPr marL="0" indent="0">
              <a:buNone/>
            </a:pP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3291784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4400" dirty="0"/>
              <a:t>The lexicon and sub-categorization</a:t>
            </a:r>
            <a:endParaRPr lang="cs-CZ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The boy put.</a:t>
            </a:r>
          </a:p>
          <a:p>
            <a:r>
              <a:rPr lang="cs-CZ" dirty="0" smtClean="0"/>
              <a:t>The boy put the magazine.</a:t>
            </a:r>
          </a:p>
          <a:p>
            <a:r>
              <a:rPr lang="cs-CZ" dirty="0" smtClean="0"/>
              <a:t>The boy put the magazine on the table</a:t>
            </a:r>
          </a:p>
          <a:p>
            <a:endParaRPr lang="cs-CZ" dirty="0"/>
          </a:p>
          <a:p>
            <a:r>
              <a:rPr lang="cs-CZ" dirty="0" smtClean="0"/>
              <a:t>Transitive verb with PP in V´ (c)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269096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4847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cs-CZ" dirty="0" smtClean="0"/>
              <a:t>How would such a principle be realized formally in the kind of grammar? 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636912"/>
            <a:ext cx="8229600" cy="4389120"/>
          </a:xfrm>
        </p:spPr>
        <p:txBody>
          <a:bodyPr/>
          <a:lstStyle/>
          <a:p>
            <a:r>
              <a:rPr lang="cs-CZ" dirty="0" smtClean="0"/>
              <a:t>1. step is categorizing verbs as intransitive, transitive, etc. </a:t>
            </a:r>
          </a:p>
          <a:p>
            <a:r>
              <a:rPr lang="cs-CZ" dirty="0" smtClean="0"/>
              <a:t>This inormation is represented in the </a:t>
            </a:r>
            <a:r>
              <a:rPr lang="cs-CZ" b="1" dirty="0" smtClean="0"/>
              <a:t>lexical entry </a:t>
            </a:r>
            <a:r>
              <a:rPr lang="cs-CZ" dirty="0" smtClean="0"/>
              <a:t>for each verb in the lexicon</a:t>
            </a:r>
          </a:p>
          <a:p>
            <a:r>
              <a:rPr lang="cs-CZ" dirty="0" smtClean="0"/>
              <a:t>The lexical entry for a lexical item like verb contains phonological, semantic and syntactic information about it</a:t>
            </a:r>
          </a:p>
          <a:p>
            <a:r>
              <a:rPr lang="cs-CZ" dirty="0" smtClean="0"/>
              <a:t>e.g. </a:t>
            </a:r>
            <a:r>
              <a:rPr lang="cs-CZ" dirty="0"/>
              <a:t>t</a:t>
            </a:r>
            <a:r>
              <a:rPr lang="cs-CZ" dirty="0" smtClean="0"/>
              <a:t>he English verb </a:t>
            </a:r>
            <a:r>
              <a:rPr lang="cs-CZ" i="1" dirty="0" smtClean="0"/>
              <a:t>talk</a:t>
            </a:r>
            <a:r>
              <a:rPr lang="cs-CZ" dirty="0" smtClean="0"/>
              <a:t>, the form in the lexical entry -&gt; </a:t>
            </a:r>
            <a:r>
              <a:rPr lang="cs-CZ" i="1" dirty="0" smtClean="0"/>
              <a:t>talk</a:t>
            </a:r>
            <a:endParaRPr lang="cs-CZ" i="1" dirty="0"/>
          </a:p>
        </p:txBody>
      </p:sp>
    </p:spTree>
    <p:extLst>
      <p:ext uri="{BB962C8B-B14F-4D97-AF65-F5344CB8AC3E}">
        <p14:creationId xmlns:p14="http://schemas.microsoft.com/office/powerpoint/2010/main" val="4202660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4400" dirty="0"/>
              <a:t>The lexicon and sub-categorization</a:t>
            </a:r>
            <a:endParaRPr lang="cs-CZ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The semantic information includes its argument structure</a:t>
            </a:r>
          </a:p>
          <a:p>
            <a:endParaRPr lang="cs-CZ" dirty="0" smtClean="0"/>
          </a:p>
          <a:p>
            <a:pPr lvl="1"/>
            <a:r>
              <a:rPr lang="cs-CZ" dirty="0"/>
              <a:t>e</a:t>
            </a:r>
            <a:r>
              <a:rPr lang="cs-CZ" dirty="0" smtClean="0"/>
              <a:t>.g. &lt;Patient&gt; for </a:t>
            </a:r>
            <a:r>
              <a:rPr lang="cs-CZ" i="1" dirty="0" smtClean="0"/>
              <a:t>die</a:t>
            </a:r>
            <a:r>
              <a:rPr lang="cs-CZ" dirty="0" smtClean="0"/>
              <a:t> or </a:t>
            </a:r>
          </a:p>
          <a:p>
            <a:pPr lvl="1"/>
            <a:r>
              <a:rPr lang="cs-CZ" dirty="0" smtClean="0"/>
              <a:t>&lt;Agent Theme recipient&gt; for </a:t>
            </a:r>
            <a:r>
              <a:rPr lang="cs-CZ" i="1" dirty="0" smtClean="0"/>
              <a:t>donate</a:t>
            </a:r>
          </a:p>
          <a:p>
            <a:pPr marL="0" indent="0">
              <a:buNone/>
            </a:pPr>
            <a:endParaRPr lang="cs-CZ" i="1" dirty="0" smtClean="0"/>
          </a:p>
          <a:p>
            <a:pPr marL="0" indent="0">
              <a:buNone/>
            </a:pPr>
            <a:endParaRPr lang="cs-CZ" i="1" dirty="0" smtClean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980564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Subcategorization frame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a. die    [v´_]</a:t>
            </a:r>
          </a:p>
          <a:p>
            <a:r>
              <a:rPr lang="cs-CZ" dirty="0"/>
              <a:t>b</a:t>
            </a:r>
            <a:r>
              <a:rPr lang="cs-CZ" dirty="0" smtClean="0"/>
              <a:t>. devour [v´_NP]</a:t>
            </a:r>
          </a:p>
          <a:p>
            <a:r>
              <a:rPr lang="cs-CZ" dirty="0"/>
              <a:t>c</a:t>
            </a:r>
            <a:r>
              <a:rPr lang="cs-CZ" dirty="0" smtClean="0"/>
              <a:t>. Put [v´_NP PP]</a:t>
            </a:r>
          </a:p>
          <a:p>
            <a:endParaRPr lang="cs-CZ" dirty="0"/>
          </a:p>
          <a:p>
            <a:r>
              <a:rPr lang="cs-CZ" dirty="0" smtClean="0"/>
              <a:t>The ´_´ indicates the possition occupied by the verb</a:t>
            </a:r>
          </a:p>
          <a:p>
            <a:r>
              <a:rPr lang="cs-CZ" dirty="0" smtClean="0"/>
              <a:t>Die occurs in a V´ without any sister NPs  - &gt; intransitive verb 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08810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 smtClean="0"/>
              <a:t>Syntactic subcategorization frame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If an argument is represented in the semantic argument atructure of the verb and it would not bethe subject, then it must be in the verb´s </a:t>
            </a:r>
            <a:r>
              <a:rPr lang="cs-CZ" b="1" dirty="0" smtClean="0"/>
              <a:t>syntactic subcategorization frame.</a:t>
            </a:r>
          </a:p>
          <a:p>
            <a:r>
              <a:rPr lang="cs-CZ" b="1" dirty="0" smtClean="0"/>
              <a:t>a. die	[v´_]</a:t>
            </a:r>
          </a:p>
          <a:p>
            <a:pPr lvl="5"/>
            <a:r>
              <a:rPr lang="cs-CZ" b="1" dirty="0"/>
              <a:t>	</a:t>
            </a:r>
            <a:r>
              <a:rPr lang="cs-CZ" b="1" dirty="0" smtClean="0"/>
              <a:t>&lt;Patient&gt;</a:t>
            </a:r>
          </a:p>
          <a:p>
            <a:r>
              <a:rPr lang="cs-CZ" b="1" dirty="0" smtClean="0"/>
              <a:t>b. devour [v´_NP]</a:t>
            </a:r>
          </a:p>
          <a:p>
            <a:pPr lvl="5"/>
            <a:r>
              <a:rPr lang="cs-CZ" b="1" dirty="0" smtClean="0"/>
              <a:t>&lt;Agent Patient&gt;</a:t>
            </a:r>
          </a:p>
          <a:p>
            <a:r>
              <a:rPr lang="cs-CZ" b="1" dirty="0" smtClean="0"/>
              <a:t>c. put	[v´_NP PP]</a:t>
            </a:r>
          </a:p>
          <a:p>
            <a:pPr lvl="5"/>
            <a:r>
              <a:rPr lang="cs-CZ" b="1" dirty="0" smtClean="0"/>
              <a:t>&lt;Agent Theme Location&gt;	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40810343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Conclusion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 smtClean="0"/>
          </a:p>
          <a:p>
            <a:r>
              <a:rPr lang="cs-CZ" dirty="0" smtClean="0"/>
              <a:t>In this prezentation we tried to explain what the principles and paraments of language acquisition are, as well as the issues that arise in explaining their presence in language learning.</a:t>
            </a:r>
          </a:p>
          <a:p>
            <a:endParaRPr lang="cs-CZ" dirty="0"/>
          </a:p>
          <a:p>
            <a:pPr marL="393192" lvl="1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193605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References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Chomsky, N. (1981). </a:t>
            </a:r>
            <a:r>
              <a:rPr lang="en-US" sz="2400" i="1" dirty="0"/>
              <a:t>Lectures on Government and Binding</a:t>
            </a:r>
            <a:r>
              <a:rPr lang="en-US" sz="2400" dirty="0"/>
              <a:t>. Mouton de Gruyter.</a:t>
            </a:r>
          </a:p>
          <a:p>
            <a:r>
              <a:rPr lang="en-US" sz="2400" dirty="0"/>
              <a:t>Chomsky, N. and Lasnik, H. (1993) Principles and Parameters Theory, in </a:t>
            </a:r>
            <a:r>
              <a:rPr lang="en-US" sz="2400" i="1" dirty="0"/>
              <a:t>Syntax: An International Handbook of Contemporary Research</a:t>
            </a:r>
            <a:r>
              <a:rPr lang="en-US" sz="2400" dirty="0"/>
              <a:t>, Berlin: de Gruyter.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295556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729</TotalTime>
  <Words>1551</Words>
  <Application>Microsoft Office PowerPoint</Application>
  <PresentationFormat>On-screen Show (4:3)</PresentationFormat>
  <Paragraphs>272</Paragraphs>
  <Slides>43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Flow</vt:lpstr>
      <vt:lpstr>Principles and Parameters: Acquisition issues.</vt:lpstr>
      <vt:lpstr>Background</vt:lpstr>
      <vt:lpstr>What are the Principles and Parameters in syntax?</vt:lpstr>
      <vt:lpstr>Previous ideas and observations</vt:lpstr>
      <vt:lpstr>Principles and Parameters</vt:lpstr>
      <vt:lpstr>Goals of syntactic research</vt:lpstr>
      <vt:lpstr>Framework</vt:lpstr>
      <vt:lpstr>Framework</vt:lpstr>
      <vt:lpstr>Framework</vt:lpstr>
      <vt:lpstr>Principles within the structure</vt:lpstr>
      <vt:lpstr>Structure Preservation Principle</vt:lpstr>
      <vt:lpstr> Projection Principle</vt:lpstr>
      <vt:lpstr> Projection Principle</vt:lpstr>
      <vt:lpstr>Projection principle</vt:lpstr>
      <vt:lpstr>Specific parameters</vt:lpstr>
      <vt:lpstr>Specific parameters</vt:lpstr>
      <vt:lpstr>Examples</vt:lpstr>
      <vt:lpstr>Head-directionality parameter</vt:lpstr>
      <vt:lpstr>Head-directionality parameter</vt:lpstr>
      <vt:lpstr>Pro-drop parameter</vt:lpstr>
      <vt:lpstr>Language acquisition </vt:lpstr>
      <vt:lpstr>Acquisition issues</vt:lpstr>
      <vt:lpstr>Rules</vt:lpstr>
      <vt:lpstr>Phrase structure rules</vt:lpstr>
      <vt:lpstr>Phrase structure rules</vt:lpstr>
      <vt:lpstr>Phrase structure rules</vt:lpstr>
      <vt:lpstr>Phrase structure rules.</vt:lpstr>
      <vt:lpstr>Phrase structure rules</vt:lpstr>
      <vt:lpstr>Phrase structure rules</vt:lpstr>
      <vt:lpstr>Phrase structure rules</vt:lpstr>
      <vt:lpstr>Phrase structure rules</vt:lpstr>
      <vt:lpstr>Phrase structure rules; Ambiguous sentences</vt:lpstr>
      <vt:lpstr>Phrase structure rules</vt:lpstr>
      <vt:lpstr>Phrase structure rules Recursion</vt:lpstr>
      <vt:lpstr>The lexicon and sub-categorization</vt:lpstr>
      <vt:lpstr>The lexicon and sub-categorization</vt:lpstr>
      <vt:lpstr>The lexicon and sub-categorization</vt:lpstr>
      <vt:lpstr>How would such a principle be realized formally in the kind of grammar? </vt:lpstr>
      <vt:lpstr>The lexicon and sub-categorization</vt:lpstr>
      <vt:lpstr>Subcategorization frame</vt:lpstr>
      <vt:lpstr>Syntactic subcategorization frame</vt:lpstr>
      <vt:lpstr>Conclusion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Parameters: Acquisition issues.</dc:title>
  <dc:creator>Velnar</dc:creator>
  <cp:lastModifiedBy>Velnar</cp:lastModifiedBy>
  <cp:revision>44</cp:revision>
  <dcterms:created xsi:type="dcterms:W3CDTF">2013-03-16T07:46:41Z</dcterms:created>
  <dcterms:modified xsi:type="dcterms:W3CDTF">2013-04-08T12:02:16Z</dcterms:modified>
</cp:coreProperties>
</file>