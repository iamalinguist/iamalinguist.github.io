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2"/>
  </p:notesMasterIdLst>
  <p:sldIdLst>
    <p:sldId id="288" r:id="rId2"/>
    <p:sldId id="29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7" d="100"/>
          <a:sy n="77" d="100"/>
        </p:scale>
        <p:origin x="-2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F5DA5-4CC1-4E4D-90BC-2A6DB04D5E56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48DF7-8556-4023-85ED-DFEC22EB1423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="" xmlns:p14="http://schemas.microsoft.com/office/powerpoint/2010/main" val="558686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848DF7-8556-4023-85ED-DFEC22EB1423}" type="slidenum">
              <a:rPr lang="id-ID" smtClean="0"/>
              <a:pPr/>
              <a:t>26</a:t>
            </a:fld>
            <a:endParaRPr lang="id-ID"/>
          </a:p>
        </p:txBody>
      </p:sp>
    </p:spTree>
    <p:extLst>
      <p:ext uri="{BB962C8B-B14F-4D97-AF65-F5344CB8AC3E}">
        <p14:creationId xmlns="" xmlns:p14="http://schemas.microsoft.com/office/powerpoint/2010/main" val="1533692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id-ID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id-ID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id-ID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id-ID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88D3E5DD-B0FA-41B3-8886-D08616B87F39}" type="datetimeFigureOut">
              <a:rPr lang="id-ID" smtClean="0"/>
              <a:pPr/>
              <a:t>28/03/2014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40F7DA8-C827-4ADD-A597-27415A5B2527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med">
    <p:wipe dir="r"/>
  </p:transition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7467600" cy="1143000"/>
          </a:xfrm>
        </p:spPr>
        <p:txBody>
          <a:bodyPr/>
          <a:lstStyle/>
          <a:p>
            <a:pPr algn="ctr"/>
            <a:r>
              <a:rPr lang="id-ID" b="1" dirty="0" smtClean="0"/>
              <a:t>GENERATIVE TRANSFORMATIONAL GRAMMAR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endParaRPr lang="id-ID" dirty="0" smtClean="0"/>
          </a:p>
          <a:p>
            <a:pPr algn="ctr">
              <a:buNone/>
            </a:pPr>
            <a:endParaRPr lang="id-ID" dirty="0" smtClean="0"/>
          </a:p>
          <a:p>
            <a:pPr algn="ctr">
              <a:buNone/>
            </a:pPr>
            <a:r>
              <a:rPr lang="id-ID" dirty="0" smtClean="0"/>
              <a:t>By :</a:t>
            </a:r>
          </a:p>
          <a:p>
            <a:pPr algn="ctr">
              <a:buNone/>
            </a:pPr>
            <a:r>
              <a:rPr lang="id-ID" dirty="0" smtClean="0"/>
              <a:t>Mahbubiyah Ulfah</a:t>
            </a:r>
            <a:endParaRPr lang="id-ID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083" y="214290"/>
            <a:ext cx="8632438" cy="1190765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pPr algn="ctr"/>
            <a:r>
              <a:rPr lang="id-ID" sz="4000" b="1" dirty="0" smtClean="0">
                <a:solidFill>
                  <a:schemeClr val="tx1"/>
                </a:solidFill>
              </a:rPr>
              <a:t>The POWER of Generative-Transformational Grammar</a:t>
            </a:r>
            <a:endParaRPr lang="id-ID" sz="40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714488"/>
            <a:ext cx="8498624" cy="4714908"/>
          </a:xfrm>
        </p:spPr>
        <p:txBody>
          <a:bodyPr>
            <a:normAutofit fontScale="70000" lnSpcReduction="20000"/>
          </a:bodyPr>
          <a:lstStyle/>
          <a:p>
            <a:pPr marL="536575" indent="-536575">
              <a:buFont typeface="Wingdings" pitchFamily="2" charset="2"/>
              <a:buChar char="q"/>
            </a:pPr>
            <a:r>
              <a:rPr lang="id-ID" sz="3000" b="1" dirty="0" smtClean="0"/>
              <a:t>This grammar will generate well-formed syntactic structures (e.g. sentences) of the language.</a:t>
            </a:r>
          </a:p>
          <a:p>
            <a:pPr marL="536575" lvl="0" indent="-536575">
              <a:buFont typeface="Wingdings" panose="05000000000000000000" pitchFamily="2" charset="2"/>
              <a:buChar char="q"/>
            </a:pPr>
            <a:endParaRPr lang="id-ID" sz="3000" b="1" dirty="0" smtClean="0"/>
          </a:p>
          <a:p>
            <a:pPr marL="536575" lvl="0" indent="-536575">
              <a:buFont typeface="Wingdings" panose="05000000000000000000" pitchFamily="2" charset="2"/>
              <a:buChar char="q"/>
            </a:pPr>
            <a:r>
              <a:rPr lang="id-ID" sz="3000" b="1" dirty="0" smtClean="0"/>
              <a:t>This grammar will have a finite (i.e. limited) number of rules but will be capable of generating an infinite number of well-formed structures. </a:t>
            </a:r>
          </a:p>
          <a:p>
            <a:pPr marL="536575" lvl="0" indent="-536575">
              <a:buFont typeface="Wingdings" panose="05000000000000000000" pitchFamily="2" charset="2"/>
              <a:buChar char="q"/>
            </a:pPr>
            <a:endParaRPr lang="id-ID" sz="3000" b="1" dirty="0" smtClean="0"/>
          </a:p>
          <a:p>
            <a:pPr marL="536575" lvl="0" indent="-536575">
              <a:buFont typeface="Wingdings" panose="05000000000000000000" pitchFamily="2" charset="2"/>
              <a:buChar char="q"/>
            </a:pPr>
            <a:r>
              <a:rPr lang="id-ID" sz="3000" b="1" dirty="0" smtClean="0"/>
              <a:t>The rules of this grammar give ‘recursiveness’, that is the capacity to be applied more than once in generating a structure.</a:t>
            </a:r>
          </a:p>
          <a:p>
            <a:pPr marL="536575" lvl="0" indent="-536575">
              <a:buFont typeface="Wingdings" panose="05000000000000000000" pitchFamily="2" charset="2"/>
              <a:buChar char="q"/>
            </a:pPr>
            <a:endParaRPr lang="id-ID" sz="3000" b="1" dirty="0" smtClean="0"/>
          </a:p>
          <a:p>
            <a:pPr marL="536575" lvl="0" indent="-536575">
              <a:buFont typeface="Wingdings" panose="05000000000000000000" pitchFamily="2" charset="2"/>
              <a:buChar char="q"/>
            </a:pPr>
            <a:r>
              <a:rPr lang="id-ID" sz="3000" b="1" dirty="0" smtClean="0"/>
              <a:t>This grammar is also capable of revealing the basis two other phenomena:</a:t>
            </a:r>
          </a:p>
          <a:p>
            <a:pPr marL="534988" lvl="0" indent="-534988">
              <a:buFont typeface="Wingdings" panose="05000000000000000000" pitchFamily="2" charset="2"/>
              <a:buChar char="§"/>
            </a:pPr>
            <a:r>
              <a:rPr lang="id-ID" sz="2300" dirty="0" smtClean="0"/>
              <a:t>How some superficially distinct sentences are closely related.</a:t>
            </a:r>
          </a:p>
          <a:p>
            <a:pPr marL="534988" lvl="0" indent="-534988">
              <a:buFont typeface="Wingdings" panose="05000000000000000000" pitchFamily="2" charset="2"/>
              <a:buChar char="§"/>
            </a:pPr>
            <a:r>
              <a:rPr lang="id-ID" sz="2300" dirty="0" smtClean="0"/>
              <a:t>How some superficially similar sentences are in fact distinct.</a:t>
            </a:r>
          </a:p>
          <a:p>
            <a:pPr marL="534988" indent="-534988">
              <a:buFont typeface="Wingdings" panose="05000000000000000000" pitchFamily="2" charset="2"/>
              <a:buChar char="§"/>
            </a:pPr>
            <a:endParaRPr lang="id-ID" dirty="0"/>
          </a:p>
          <a:p>
            <a:endParaRPr lang="id-ID" dirty="0"/>
          </a:p>
        </p:txBody>
      </p:sp>
      <p:pic>
        <p:nvPicPr>
          <p:cNvPr id="4" name="Picture 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969" y="5526157"/>
            <a:ext cx="1138031" cy="129838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6856308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24" y="714356"/>
            <a:ext cx="7772400" cy="1500198"/>
          </a:xfrm>
        </p:spPr>
        <p:txBody>
          <a:bodyPr>
            <a:normAutofit/>
          </a:bodyPr>
          <a:lstStyle/>
          <a:p>
            <a:pPr algn="ctr"/>
            <a:r>
              <a:rPr lang="id-ID" b="1" dirty="0" smtClean="0"/>
              <a:t>Critisizm of Generative-Transformational Grammar</a:t>
            </a:r>
            <a:r>
              <a:rPr lang="id-ID" b="1" dirty="0"/>
              <a:t/>
            </a:r>
            <a:br>
              <a:rPr lang="id-ID" b="1" dirty="0"/>
            </a:br>
            <a:endParaRPr lang="id-ID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2143116"/>
            <a:ext cx="6686552" cy="3857652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id-ID" sz="3300" b="1" dirty="0" smtClean="0">
                <a:solidFill>
                  <a:schemeClr val="tx1"/>
                </a:solidFill>
              </a:rPr>
              <a:t>It </a:t>
            </a:r>
            <a:r>
              <a:rPr lang="id-ID" sz="3300" b="1" dirty="0">
                <a:solidFill>
                  <a:schemeClr val="tx1"/>
                </a:solidFill>
              </a:rPr>
              <a:t>is far from clear what contribution </a:t>
            </a:r>
            <a:r>
              <a:rPr lang="id-ID" sz="3300" b="1" dirty="0" smtClean="0">
                <a:solidFill>
                  <a:schemeClr val="tx1"/>
                </a:solidFill>
              </a:rPr>
              <a:t>Generative-Transformational </a:t>
            </a:r>
            <a:r>
              <a:rPr lang="id-ID" sz="3300" dirty="0" smtClean="0">
                <a:solidFill>
                  <a:schemeClr val="tx1"/>
                </a:solidFill>
              </a:rPr>
              <a:t>G</a:t>
            </a:r>
            <a:r>
              <a:rPr lang="id-ID" sz="3300" b="1" dirty="0" smtClean="0">
                <a:solidFill>
                  <a:schemeClr val="tx1"/>
                </a:solidFill>
              </a:rPr>
              <a:t>rammar is </a:t>
            </a:r>
            <a:r>
              <a:rPr lang="id-ID" sz="3300" b="1" dirty="0">
                <a:solidFill>
                  <a:schemeClr val="tx1"/>
                </a:solidFill>
              </a:rPr>
              <a:t>likely to make to language teaching methodology."</a:t>
            </a:r>
          </a:p>
          <a:p>
            <a:pPr algn="ctr"/>
            <a:r>
              <a:rPr lang="id-ID" dirty="0" smtClean="0">
                <a:solidFill>
                  <a:schemeClr val="tx1"/>
                </a:solidFill>
              </a:rPr>
              <a:t>Silalahi (1993), "</a:t>
            </a:r>
            <a:endParaRPr lang="id-ID" dirty="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85786" y="571480"/>
            <a:ext cx="7467600" cy="457203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id-ID" sz="3200" b="1" dirty="0" smtClean="0"/>
              <a:t>  Many teachers of English as a second language assume that Generative-Transformational Grammar is pedagogically unadaptable to the needs of a secondary curriculum.</a:t>
            </a:r>
          </a:p>
          <a:p>
            <a:pPr>
              <a:buNone/>
            </a:pPr>
            <a:endParaRPr lang="id-ID" sz="3200" b="1" dirty="0" smtClean="0"/>
          </a:p>
          <a:p>
            <a:pPr>
              <a:buNone/>
            </a:pPr>
            <a:r>
              <a:rPr lang="id-ID" sz="3200" b="1" dirty="0" smtClean="0"/>
              <a:t>   It means that it is not applicable   to language teaching.</a:t>
            </a:r>
          </a:p>
          <a:p>
            <a:endParaRPr lang="id-ID" sz="3200" b="1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785794"/>
            <a:ext cx="7467600" cy="5000660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id-ID" b="1" dirty="0" smtClean="0"/>
              <a:t>       </a:t>
            </a:r>
            <a:r>
              <a:rPr lang="id-ID" sz="3500" b="1" dirty="0" smtClean="0"/>
              <a:t>There are two important reasons:</a:t>
            </a:r>
          </a:p>
          <a:p>
            <a:r>
              <a:rPr lang="id-ID" sz="3200" b="1" dirty="0" smtClean="0"/>
              <a:t>The first reason is that the explication of the theory is directed more towards linguists, psychologists and mathematicians than toward teachers of English.</a:t>
            </a:r>
          </a:p>
          <a:p>
            <a:pPr>
              <a:buNone/>
            </a:pPr>
            <a:endParaRPr lang="id-ID" sz="3200" b="1" dirty="0" smtClean="0"/>
          </a:p>
          <a:p>
            <a:r>
              <a:rPr lang="id-ID" sz="3200" b="1" dirty="0" smtClean="0"/>
              <a:t> The second reason is that the criticism of this theory by other linguists made the concept more complicated.</a:t>
            </a:r>
          </a:p>
          <a:p>
            <a:endParaRPr lang="id-ID" sz="3200" dirty="0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797040"/>
          </a:xfrm>
        </p:spPr>
        <p:txBody>
          <a:bodyPr>
            <a:normAutofit fontScale="90000"/>
          </a:bodyPr>
          <a:lstStyle/>
          <a:p>
            <a:pPr algn="ctr"/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sz="3600" b="1" dirty="0" smtClean="0">
                <a:solidFill>
                  <a:srgbClr val="C00000"/>
                </a:solidFill>
              </a:rPr>
              <a:t>The Implication of Generative-Transformational Grammar in ELT</a:t>
            </a:r>
            <a:r>
              <a:rPr lang="id-ID" b="1" dirty="0" smtClean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id-ID" b="1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id-ID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42910" y="1928802"/>
            <a:ext cx="7467600" cy="4071966"/>
          </a:xfrm>
        </p:spPr>
        <p:txBody>
          <a:bodyPr>
            <a:normAutofit fontScale="92500" lnSpcReduction="20000"/>
          </a:bodyPr>
          <a:lstStyle/>
          <a:p>
            <a:r>
              <a:rPr lang="id-ID" sz="2800" b="1" dirty="0" smtClean="0"/>
              <a:t>Actually, there might be still many other linguists  who accept that Generative-Transfromational Grammar can be contributed in teaching and learning process.</a:t>
            </a:r>
          </a:p>
          <a:p>
            <a:pPr>
              <a:buNone/>
            </a:pPr>
            <a:endParaRPr lang="id-ID" sz="2800" b="1" dirty="0" smtClean="0"/>
          </a:p>
          <a:p>
            <a:r>
              <a:rPr lang="id-ID" sz="2800" b="1" dirty="0" smtClean="0"/>
              <a:t>Silalahi (1993) in her paper concentrates more on the opinions which can see the contribution of Generative-Transformational Grammar to the teaching of grammar.</a:t>
            </a:r>
          </a:p>
          <a:p>
            <a:endParaRPr lang="id-ID" dirty="0"/>
          </a:p>
        </p:txBody>
      </p:sp>
    </p:spTree>
  </p:cSld>
  <p:clrMapOvr>
    <a:masterClrMapping/>
  </p:clrMapOvr>
  <p:transition spd="med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8662" y="428604"/>
            <a:ext cx="7467600" cy="5715040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id-ID" sz="3200" b="1" dirty="0" smtClean="0"/>
              <a:t>Dealing with the process of learning and acquisition</a:t>
            </a:r>
          </a:p>
          <a:p>
            <a:pPr algn="ctr">
              <a:buNone/>
            </a:pPr>
            <a:endParaRPr lang="id-ID" sz="3200" b="1" dirty="0" smtClean="0"/>
          </a:p>
          <a:p>
            <a:r>
              <a:rPr lang="id-ID" sz="2800" b="1" dirty="0" smtClean="0"/>
              <a:t>These two terms are different in case they are used to separated between the first language acquisition and the second language acquisition learning.</a:t>
            </a:r>
          </a:p>
          <a:p>
            <a:pPr>
              <a:buNone/>
            </a:pPr>
            <a:endParaRPr lang="id-ID" sz="2800" b="1" dirty="0" smtClean="0"/>
          </a:p>
          <a:p>
            <a:r>
              <a:rPr lang="id-ID" sz="2800" b="1" dirty="0" smtClean="0"/>
              <a:t> In learning second language, it is a conscious activity, while the first language acquisition deals with unconsious one. </a:t>
            </a:r>
          </a:p>
          <a:p>
            <a:pPr>
              <a:buNone/>
            </a:pPr>
            <a:endParaRPr lang="id-ID" sz="2800" b="1" dirty="0" smtClean="0"/>
          </a:p>
          <a:p>
            <a:r>
              <a:rPr lang="id-ID" sz="2800" b="1" dirty="0" smtClean="0"/>
              <a:t>In language acquisition the focus is communication or reception of a message as opposed to syntax and grammar as in language learning. </a:t>
            </a:r>
          </a:p>
          <a:p>
            <a:endParaRPr lang="id-ID" dirty="0"/>
          </a:p>
        </p:txBody>
      </p:sp>
    </p:spTree>
  </p:cSld>
  <p:clrMapOvr>
    <a:masterClrMapping/>
  </p:clrMapOvr>
  <p:transition spd="med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85786" y="500042"/>
            <a:ext cx="7467600" cy="4873752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id-ID" sz="3600" dirty="0" smtClean="0"/>
              <a:t>  </a:t>
            </a:r>
            <a:r>
              <a:rPr lang="id-ID" sz="3600" b="1" dirty="0" smtClean="0"/>
              <a:t>Saporta (in Silalahi,1993) claims that the main contribution of Generative-Transformational Grammar is to provide relevant data which enables textbook writers to base their material on the most adequate description. </a:t>
            </a:r>
          </a:p>
          <a:p>
            <a:pPr algn="ctr"/>
            <a:endParaRPr lang="id-ID" b="1" dirty="0"/>
          </a:p>
        </p:txBody>
      </p:sp>
    </p:spTree>
  </p:cSld>
  <p:clrMapOvr>
    <a:masterClrMapping/>
  </p:clrMapOvr>
  <p:transition spd="med">
    <p:wheel spokes="3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1214422"/>
            <a:ext cx="7467600" cy="4873752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id-ID" sz="4000" b="1" dirty="0" smtClean="0"/>
              <a:t>If someone wants to apply this Generative-Transformational Grammar, there should be a clear differences between scientific grammar and pedagogical grammar.</a:t>
            </a:r>
          </a:p>
          <a:p>
            <a:endParaRPr lang="id-ID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428604"/>
            <a:ext cx="7467600" cy="928694"/>
          </a:xfrm>
        </p:spPr>
        <p:txBody>
          <a:bodyPr>
            <a:noAutofit/>
          </a:bodyPr>
          <a:lstStyle/>
          <a:p>
            <a:pPr algn="ctr"/>
            <a:r>
              <a:rPr lang="id-ID" sz="3200" b="1" dirty="0" smtClean="0">
                <a:solidFill>
                  <a:schemeClr val="bg2">
                    <a:lumMod val="25000"/>
                  </a:schemeClr>
                </a:solidFill>
                <a:latin typeface="Aharoni" pitchFamily="2" charset="-79"/>
                <a:cs typeface="Aharoni" pitchFamily="2" charset="-79"/>
              </a:rPr>
              <a:t>WHAT IS  A SCIENTIFIC GRAMMAR?</a:t>
            </a:r>
            <a:endParaRPr lang="id-ID" sz="3200" b="1" dirty="0">
              <a:solidFill>
                <a:schemeClr val="bg2">
                  <a:lumMod val="25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71472" y="1571612"/>
            <a:ext cx="7929618" cy="4873752"/>
          </a:xfrm>
        </p:spPr>
        <p:txBody>
          <a:bodyPr/>
          <a:lstStyle/>
          <a:p>
            <a:pPr algn="ctr">
              <a:buNone/>
            </a:pPr>
            <a:r>
              <a:rPr lang="id-ID" sz="3200" b="1" dirty="0" smtClean="0">
                <a:solidFill>
                  <a:schemeClr val="bg2">
                    <a:lumMod val="25000"/>
                  </a:schemeClr>
                </a:solidFill>
                <a:latin typeface="Aharoni" pitchFamily="2" charset="-79"/>
                <a:cs typeface="Aharoni" pitchFamily="2" charset="-79"/>
              </a:rPr>
              <a:t>It provides</a:t>
            </a:r>
          </a:p>
          <a:p>
            <a:pPr>
              <a:buNone/>
            </a:pPr>
            <a:r>
              <a:rPr lang="id-ID" dirty="0" smtClean="0"/>
              <a:t>                             </a:t>
            </a:r>
          </a:p>
          <a:p>
            <a:pPr>
              <a:buNone/>
            </a:pPr>
            <a:r>
              <a:rPr lang="id-ID" dirty="0" smtClean="0"/>
              <a:t>			</a:t>
            </a:r>
            <a:endParaRPr lang="id-ID" sz="3200" b="1" dirty="0" smtClean="0">
              <a:solidFill>
                <a:schemeClr val="bg2">
                  <a:lumMod val="25000"/>
                </a:schemeClr>
              </a:solidFill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endParaRPr lang="id-ID" sz="3200" b="1" dirty="0" smtClean="0">
              <a:solidFill>
                <a:schemeClr val="bg2">
                  <a:lumMod val="25000"/>
                </a:schemeClr>
              </a:solidFill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id-ID" sz="3200" b="1" dirty="0" smtClean="0">
                <a:solidFill>
                  <a:schemeClr val="bg2">
                    <a:lumMod val="25000"/>
                  </a:schemeClr>
                </a:solidFill>
                <a:latin typeface="Aharoni" pitchFamily="2" charset="-79"/>
                <a:cs typeface="Aharoni" pitchFamily="2" charset="-79"/>
              </a:rPr>
              <a:t>			      		</a:t>
            </a:r>
            <a:endParaRPr lang="id-ID" sz="3200" b="1" dirty="0">
              <a:solidFill>
                <a:schemeClr val="bg2">
                  <a:lumMod val="25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1000100" y="2571744"/>
            <a:ext cx="1785950" cy="857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ight Arrow 4"/>
          <p:cNvSpPr/>
          <p:nvPr/>
        </p:nvSpPr>
        <p:spPr>
          <a:xfrm>
            <a:off x="1071538" y="4786322"/>
            <a:ext cx="1785950" cy="857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Oval 5"/>
          <p:cNvSpPr/>
          <p:nvPr/>
        </p:nvSpPr>
        <p:spPr>
          <a:xfrm>
            <a:off x="3786182" y="2357430"/>
            <a:ext cx="3857652" cy="135732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STRUCTURAL DESCRIPTION</a:t>
            </a:r>
            <a:endParaRPr lang="id-ID" sz="28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7" name="Oval 6"/>
          <p:cNvSpPr/>
          <p:nvPr/>
        </p:nvSpPr>
        <p:spPr>
          <a:xfrm>
            <a:off x="3714744" y="4286256"/>
            <a:ext cx="4286280" cy="1857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SEMANTIC INTERPRETATION</a:t>
            </a:r>
            <a:endParaRPr lang="id-ID" sz="2800" b="1" dirty="0"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 spd="med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5" grpId="0" animBg="1"/>
      <p:bldP spid="6" grpId="0" build="p" animBg="1"/>
      <p:bldP spid="7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id-ID" sz="3600" b="1" dirty="0" smtClean="0">
                <a:solidFill>
                  <a:schemeClr val="bg2">
                    <a:lumMod val="25000"/>
                  </a:schemeClr>
                </a:solidFill>
                <a:latin typeface="Aharoni" pitchFamily="2" charset="-79"/>
                <a:cs typeface="Aharoni" pitchFamily="2" charset="-79"/>
              </a:rPr>
              <a:t>WHAT IS A PEDAGOGICAL GRAMMAR?</a:t>
            </a:r>
            <a:endParaRPr lang="id-ID" sz="3600" b="1" dirty="0">
              <a:solidFill>
                <a:schemeClr val="bg2">
                  <a:lumMod val="25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id-ID" dirty="0" smtClean="0"/>
          </a:p>
          <a:p>
            <a:endParaRPr lang="id-ID" dirty="0" smtClean="0"/>
          </a:p>
          <a:p>
            <a:endParaRPr lang="id-ID" dirty="0" smtClean="0"/>
          </a:p>
        </p:txBody>
      </p:sp>
      <p:sp>
        <p:nvSpPr>
          <p:cNvPr id="4" name="Down Arrow 3"/>
          <p:cNvSpPr/>
          <p:nvPr/>
        </p:nvSpPr>
        <p:spPr>
          <a:xfrm>
            <a:off x="3714744" y="1857364"/>
            <a:ext cx="857256" cy="13573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Oval 4"/>
          <p:cNvSpPr/>
          <p:nvPr/>
        </p:nvSpPr>
        <p:spPr>
          <a:xfrm>
            <a:off x="1071538" y="3500438"/>
            <a:ext cx="6286544" cy="15716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600" b="1" dirty="0" smtClean="0">
                <a:latin typeface="Aharoni" pitchFamily="2" charset="-79"/>
                <a:cs typeface="Aharoni" pitchFamily="2" charset="-79"/>
              </a:rPr>
              <a:t>A COLLECTION OF MATERIAL</a:t>
            </a:r>
            <a:endParaRPr lang="id-ID" sz="3600" b="1" dirty="0"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85786" y="1142984"/>
            <a:ext cx="7467600" cy="487375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d-ID" sz="3200" b="1" dirty="0" smtClean="0">
                <a:solidFill>
                  <a:schemeClr val="bg2">
                    <a:lumMod val="25000"/>
                  </a:schemeClr>
                </a:solidFill>
                <a:latin typeface="Aharoni" pitchFamily="2" charset="-79"/>
                <a:cs typeface="Aharoni" pitchFamily="2" charset="-79"/>
              </a:rPr>
              <a:t>  </a:t>
            </a:r>
            <a:r>
              <a:rPr lang="id-ID" sz="4000" b="1" dirty="0" smtClean="0">
                <a:solidFill>
                  <a:schemeClr val="bg2">
                    <a:lumMod val="25000"/>
                  </a:schemeClr>
                </a:solidFill>
                <a:latin typeface="Aharoni" pitchFamily="2" charset="-79"/>
                <a:cs typeface="Aharoni" pitchFamily="2" charset="-79"/>
              </a:rPr>
              <a:t>GENERATIVE-TRANSFORMATIONAL GRAMMAR CAN BE APPLIED IN THE FORM OF PEDAGOGICAL GRAMMAR (IN TEACHING ENGLISH GRAMMAR)</a:t>
            </a:r>
          </a:p>
          <a:p>
            <a:pPr>
              <a:buNone/>
            </a:pPr>
            <a:endParaRPr lang="id-ID" sz="3200" b="1" dirty="0">
              <a:solidFill>
                <a:schemeClr val="bg2">
                  <a:lumMod val="25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 spd="med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7224" y="500042"/>
            <a:ext cx="7467600" cy="564360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   Thomas (in Silalahi,1993) who is convinced with his contribution of Generative-Transformational Grammar, suggests that in the beginning of teaching, the teachers should teach the kernel sentence first.</a:t>
            </a:r>
          </a:p>
          <a:p>
            <a:pPr>
              <a:buNone/>
            </a:pPr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    Kernel sentences consist of:</a:t>
            </a:r>
          </a:p>
          <a:p>
            <a:pPr marL="273050" indent="0"/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 Simple;</a:t>
            </a:r>
          </a:p>
          <a:p>
            <a:pPr marL="273050" indent="0"/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 Declarative;</a:t>
            </a:r>
          </a:p>
          <a:p>
            <a:pPr marL="546100" indent="-273050"/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 Active with no complex verb or noun phrase.</a:t>
            </a:r>
          </a:p>
          <a:p>
            <a:pPr>
              <a:buNone/>
            </a:pPr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   Later on the students are taught to construct passive, negative sentences in the form of Transformational Grammar.</a:t>
            </a:r>
          </a:p>
          <a:p>
            <a:endParaRPr lang="id-ID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71472" y="1785926"/>
            <a:ext cx="7467600" cy="3429024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d-ID" sz="4400" b="1" dirty="0" smtClean="0">
                <a:latin typeface="Aharoni" pitchFamily="2" charset="-79"/>
                <a:cs typeface="Aharoni" pitchFamily="2" charset="-79"/>
              </a:rPr>
              <a:t>Why should the teacher know the theory of language structure?  </a:t>
            </a:r>
          </a:p>
          <a:p>
            <a:endParaRPr lang="id-ID" sz="4400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285728"/>
            <a:ext cx="7467600" cy="5143536"/>
          </a:xfrm>
        </p:spPr>
        <p:txBody>
          <a:bodyPr>
            <a:normAutofit/>
          </a:bodyPr>
          <a:lstStyle/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/>
          </a:p>
        </p:txBody>
      </p:sp>
      <p:sp>
        <p:nvSpPr>
          <p:cNvPr id="5" name="Oval 4"/>
          <p:cNvSpPr/>
          <p:nvPr/>
        </p:nvSpPr>
        <p:spPr>
          <a:xfrm>
            <a:off x="2571736" y="1785926"/>
            <a:ext cx="4214842" cy="15001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400" b="1" dirty="0" smtClean="0">
                <a:latin typeface="Aharoni" pitchFamily="2" charset="-79"/>
                <a:cs typeface="Aharoni" pitchFamily="2" charset="-79"/>
              </a:rPr>
              <a:t>Do not only teach the language</a:t>
            </a:r>
            <a:endParaRPr lang="id-ID" sz="24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6" name="Oval 5"/>
          <p:cNvSpPr/>
          <p:nvPr/>
        </p:nvSpPr>
        <p:spPr>
          <a:xfrm>
            <a:off x="2857488" y="285728"/>
            <a:ext cx="2571768" cy="1285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400" b="1" dirty="0" smtClean="0">
                <a:latin typeface="Aharoni" pitchFamily="2" charset="-79"/>
                <a:cs typeface="Aharoni" pitchFamily="2" charset="-79"/>
              </a:rPr>
              <a:t>TEACHER</a:t>
            </a:r>
            <a:endParaRPr lang="id-ID" sz="24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7" name="Curved Right Arrow 6"/>
          <p:cNvSpPr/>
          <p:nvPr/>
        </p:nvSpPr>
        <p:spPr>
          <a:xfrm>
            <a:off x="2000232" y="857232"/>
            <a:ext cx="857256" cy="150019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428992" y="3500438"/>
            <a:ext cx="3857652" cy="18573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400" b="1" dirty="0" smtClean="0">
                <a:latin typeface="Aharoni" pitchFamily="2" charset="-79"/>
                <a:cs typeface="Aharoni" pitchFamily="2" charset="-79"/>
              </a:rPr>
              <a:t>Teach the rules how the sentences are produced</a:t>
            </a:r>
            <a:endParaRPr lang="id-ID" sz="24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12" name="Curved Left Arrow 11"/>
          <p:cNvSpPr/>
          <p:nvPr/>
        </p:nvSpPr>
        <p:spPr>
          <a:xfrm>
            <a:off x="6786578" y="2357430"/>
            <a:ext cx="1214446" cy="1714512"/>
          </a:xfrm>
          <a:prstGeom prst="curvedLeftArrow">
            <a:avLst>
              <a:gd name="adj1" fmla="val 25000"/>
              <a:gd name="adj2" fmla="val 50000"/>
              <a:gd name="adj3" fmla="val 263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build="p" animBg="1"/>
      <p:bldP spid="7" grpId="0" animBg="1"/>
      <p:bldP spid="9" grpId="0" build="p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500042"/>
            <a:ext cx="7467600" cy="5159504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id-ID" sz="3200" b="1" dirty="0" smtClean="0">
                <a:latin typeface="Aharoni" pitchFamily="2" charset="-79"/>
                <a:cs typeface="Aharoni" pitchFamily="2" charset="-79"/>
              </a:rPr>
              <a:t>The stages of teaching second language</a:t>
            </a:r>
          </a:p>
          <a:p>
            <a:pPr algn="ctr">
              <a:buNone/>
            </a:pPr>
            <a:endParaRPr lang="id-ID" sz="3200" b="1" dirty="0" smtClean="0">
              <a:latin typeface="Aharoni" pitchFamily="2" charset="-79"/>
              <a:cs typeface="Aharoni" pitchFamily="2" charset="-79"/>
            </a:endParaRPr>
          </a:p>
          <a:p>
            <a:pPr algn="ctr">
              <a:buFont typeface="Wingdings" pitchFamily="2" charset="2"/>
              <a:buChar char="q"/>
            </a:pPr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The teachers should use relatively uncomplicated construction ideally.</a:t>
            </a:r>
          </a:p>
          <a:p>
            <a:pPr algn="ctr">
              <a:buFont typeface="Wingdings" pitchFamily="2" charset="2"/>
              <a:buChar char="q"/>
            </a:pPr>
            <a:r>
              <a:rPr lang="id-ID" sz="2800" b="1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id-ID" sz="2800" dirty="0" smtClean="0">
                <a:latin typeface="Aharoni" pitchFamily="2" charset="-79"/>
                <a:cs typeface="Aharoni" pitchFamily="2" charset="-79"/>
              </a:rPr>
              <a:t>The teachers would begin with the simplest meaningful utterences in language. </a:t>
            </a:r>
          </a:p>
          <a:p>
            <a:pPr algn="ctr">
              <a:buFont typeface="Wingdings" pitchFamily="2" charset="2"/>
              <a:buChar char="q"/>
            </a:pPr>
            <a:r>
              <a:rPr lang="id-ID" sz="2800" dirty="0" smtClean="0">
                <a:latin typeface="Aharoni" pitchFamily="2" charset="-79"/>
                <a:cs typeface="Aharoni" pitchFamily="2" charset="-79"/>
              </a:rPr>
              <a:t>The teachers present simple construction first before moving on to the more complex ones</a:t>
            </a:r>
            <a:endParaRPr lang="id-ID" sz="2800" dirty="0"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 spd="med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939916"/>
          </a:xfrm>
        </p:spPr>
        <p:txBody>
          <a:bodyPr>
            <a:noAutofit/>
          </a:bodyPr>
          <a:lstStyle/>
          <a:p>
            <a:pPr algn="ctr"/>
            <a:r>
              <a:rPr lang="id-ID" sz="4000" b="1" dirty="0" smtClean="0">
                <a:latin typeface="Aharoni" pitchFamily="2" charset="-79"/>
                <a:cs typeface="Aharoni" pitchFamily="2" charset="-79"/>
              </a:rPr>
              <a:t>The simplest kind of english sentences is the intransitive sentenceS</a:t>
            </a:r>
            <a:endParaRPr lang="id-ID" sz="40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28596" y="2357430"/>
            <a:ext cx="7467600" cy="3786214"/>
          </a:xfrm>
        </p:spPr>
        <p:txBody>
          <a:bodyPr/>
          <a:lstStyle/>
          <a:p>
            <a:pPr>
              <a:buNone/>
            </a:pPr>
            <a:r>
              <a:rPr lang="id-ID" sz="3200" dirty="0" smtClean="0">
                <a:latin typeface="Aharoni" pitchFamily="2" charset="-79"/>
                <a:cs typeface="Aharoni" pitchFamily="2" charset="-79"/>
              </a:rPr>
              <a:t>Examples:</a:t>
            </a:r>
          </a:p>
          <a:p>
            <a:pPr algn="ctr">
              <a:buNone/>
            </a:pPr>
            <a:endParaRPr lang="id-ID" sz="3200" dirty="0" smtClean="0">
              <a:latin typeface="Aharoni" pitchFamily="2" charset="-79"/>
              <a:cs typeface="Aharoni" pitchFamily="2" charset="-79"/>
            </a:endParaRPr>
          </a:p>
          <a:p>
            <a:pPr algn="ctr"/>
            <a:r>
              <a:rPr lang="id-ID" sz="4000" dirty="0" smtClean="0">
                <a:latin typeface="Aharoni" pitchFamily="2" charset="-79"/>
                <a:cs typeface="Aharoni" pitchFamily="2" charset="-79"/>
              </a:rPr>
              <a:t>The children swim</a:t>
            </a:r>
          </a:p>
          <a:p>
            <a:pPr algn="ctr">
              <a:buNone/>
            </a:pPr>
            <a:endParaRPr lang="id-ID" sz="4000" dirty="0" smtClean="0">
              <a:latin typeface="Aharoni" pitchFamily="2" charset="-79"/>
              <a:cs typeface="Aharoni" pitchFamily="2" charset="-79"/>
            </a:endParaRPr>
          </a:p>
          <a:p>
            <a:pPr algn="ctr"/>
            <a:r>
              <a:rPr lang="id-ID" sz="4000" dirty="0" smtClean="0">
                <a:latin typeface="Aharoni" pitchFamily="2" charset="-79"/>
                <a:cs typeface="Aharoni" pitchFamily="2" charset="-79"/>
              </a:rPr>
              <a:t>People laugh</a:t>
            </a:r>
          </a:p>
          <a:p>
            <a:endParaRPr lang="id-ID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7467600" cy="1143000"/>
          </a:xfrm>
        </p:spPr>
        <p:txBody>
          <a:bodyPr>
            <a:noAutofit/>
          </a:bodyPr>
          <a:lstStyle/>
          <a:p>
            <a:pPr algn="ctr"/>
            <a:r>
              <a:rPr lang="id-ID" sz="3600" b="1" dirty="0" smtClean="0">
                <a:latin typeface="Aharoni" pitchFamily="2" charset="-79"/>
                <a:cs typeface="Aharoni" pitchFamily="2" charset="-79"/>
              </a:rPr>
              <a:t>other matters must surely be considered </a:t>
            </a:r>
            <a:endParaRPr lang="id-ID" sz="36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42910" y="1643050"/>
            <a:ext cx="7467600" cy="4873752"/>
          </a:xfrm>
        </p:spPr>
        <p:txBody>
          <a:bodyPr>
            <a:normAutofit/>
          </a:bodyPr>
          <a:lstStyle/>
          <a:p>
            <a:r>
              <a:rPr lang="id-ID" sz="3200" dirty="0" smtClean="0">
                <a:solidFill>
                  <a:schemeClr val="accent5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Meaningfulness to the learners;</a:t>
            </a:r>
          </a:p>
          <a:p>
            <a:r>
              <a:rPr lang="id-ID" sz="3200" dirty="0" smtClean="0">
                <a:solidFill>
                  <a:schemeClr val="accent5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Utility of the structure being learned;</a:t>
            </a:r>
          </a:p>
          <a:p>
            <a:r>
              <a:rPr lang="id-ID" sz="3200" dirty="0" smtClean="0">
                <a:solidFill>
                  <a:schemeClr val="accent5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Appropriateness for age group.</a:t>
            </a:r>
          </a:p>
          <a:p>
            <a:endParaRPr lang="id-ID" sz="3200" dirty="0" smtClean="0">
              <a:solidFill>
                <a:schemeClr val="accent5">
                  <a:lumMod val="50000"/>
                </a:schemeClr>
              </a:solidFill>
              <a:latin typeface="Aharoni" pitchFamily="2" charset="-79"/>
              <a:cs typeface="Aharoni" pitchFamily="2" charset="-79"/>
            </a:endParaRPr>
          </a:p>
          <a:p>
            <a:pPr algn="ctr">
              <a:buNone/>
            </a:pPr>
            <a:r>
              <a:rPr lang="id-ID" sz="3200" dirty="0" smtClean="0">
                <a:solidFill>
                  <a:srgbClr val="FF0000"/>
                </a:solidFill>
                <a:latin typeface="Aharoni" pitchFamily="2" charset="-79"/>
                <a:cs typeface="Aharoni" pitchFamily="2" charset="-79"/>
              </a:rPr>
              <a:t>But the concept of progressing from the simple to the more complex should not be ignored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1571612"/>
            <a:ext cx="7467600" cy="3786214"/>
          </a:xfrm>
        </p:spPr>
        <p:txBody>
          <a:bodyPr/>
          <a:lstStyle/>
          <a:p>
            <a:pPr algn="ctr">
              <a:buNone/>
            </a:pPr>
            <a:r>
              <a:rPr lang="id-ID" sz="3600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So, Generative-Transformational Grammar can serve as a guide to help us to determine whether it is a simple or more complicated sentence form.</a:t>
            </a:r>
          </a:p>
          <a:p>
            <a:endParaRPr lang="id-ID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7467600" cy="1143000"/>
          </a:xfrm>
        </p:spPr>
        <p:txBody>
          <a:bodyPr>
            <a:noAutofit/>
          </a:bodyPr>
          <a:lstStyle/>
          <a:p>
            <a:pPr algn="ctr"/>
            <a:r>
              <a:rPr lang="id-ID" sz="3600" b="1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WHICH SENTENCE IS EASIER TO LEARN?</a:t>
            </a:r>
            <a:endParaRPr lang="id-ID" sz="3600" b="1" dirty="0">
              <a:solidFill>
                <a:schemeClr val="accent1">
                  <a:lumMod val="5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0034" y="1984248"/>
            <a:ext cx="7467600" cy="4373710"/>
          </a:xfrm>
        </p:spPr>
        <p:txBody>
          <a:bodyPr/>
          <a:lstStyle/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 algn="ctr">
              <a:spcBef>
                <a:spcPts val="0"/>
              </a:spcBef>
              <a:buNone/>
            </a:pPr>
            <a:endParaRPr lang="id-ID" sz="3600" dirty="0" smtClean="0">
              <a:latin typeface="Aharoni" pitchFamily="2" charset="-79"/>
              <a:cs typeface="Aharoni" pitchFamily="2" charset="-79"/>
            </a:endParaRPr>
          </a:p>
          <a:p>
            <a:pPr algn="ctr">
              <a:spcBef>
                <a:spcPts val="0"/>
              </a:spcBef>
              <a:buNone/>
            </a:pPr>
            <a:r>
              <a:rPr lang="id-ID" sz="3600" dirty="0" smtClean="0">
                <a:latin typeface="Aharoni" pitchFamily="2" charset="-79"/>
                <a:cs typeface="Aharoni" pitchFamily="2" charset="-79"/>
              </a:rPr>
              <a:t>Or</a:t>
            </a:r>
            <a:endParaRPr lang="id-ID" sz="3600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14546" y="2143116"/>
            <a:ext cx="4071966" cy="13573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b="1" dirty="0" smtClean="0">
                <a:latin typeface="Aharoni" pitchFamily="2" charset="-79"/>
                <a:cs typeface="Aharoni" pitchFamily="2" charset="-79"/>
              </a:rPr>
              <a:t>It is a big ball</a:t>
            </a:r>
            <a:endParaRPr lang="id-ID" sz="40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57356" y="4572008"/>
            <a:ext cx="5000660" cy="13573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 smtClean="0">
                <a:latin typeface="Aharoni" pitchFamily="2" charset="-79"/>
                <a:cs typeface="Aharoni" pitchFamily="2" charset="-79"/>
              </a:rPr>
              <a:t>The Teachers put the book on the table</a:t>
            </a:r>
            <a:endParaRPr lang="id-ID" sz="3200" b="1" dirty="0"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 spd="med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 animBg="1"/>
      <p:bldP spid="5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85786" y="1000108"/>
            <a:ext cx="7467600" cy="4643470"/>
          </a:xfrm>
        </p:spPr>
        <p:txBody>
          <a:bodyPr/>
          <a:lstStyle/>
          <a:p>
            <a:pPr algn="ctr">
              <a:spcBef>
                <a:spcPts val="0"/>
              </a:spcBef>
              <a:buNone/>
            </a:pPr>
            <a:r>
              <a:rPr lang="id-ID" dirty="0" smtClean="0"/>
              <a:t>   </a:t>
            </a:r>
            <a:r>
              <a:rPr lang="id-ID" sz="3600" b="1" dirty="0" smtClean="0">
                <a:latin typeface="Aharoni" pitchFamily="2" charset="-79"/>
                <a:cs typeface="Aharoni" pitchFamily="2" charset="-79"/>
              </a:rPr>
              <a:t>The best ways for the students to generate sentences are:</a:t>
            </a:r>
          </a:p>
          <a:p>
            <a:pPr algn="ctr">
              <a:spcBef>
                <a:spcPts val="0"/>
              </a:spcBef>
              <a:buNone/>
            </a:pPr>
            <a:endParaRPr lang="id-ID" sz="3200" b="1" dirty="0" smtClean="0">
              <a:latin typeface="Aharoni" pitchFamily="2" charset="-79"/>
              <a:cs typeface="Aharoni" pitchFamily="2" charset="-79"/>
            </a:endParaRPr>
          </a:p>
          <a:p>
            <a:pPr>
              <a:spcBef>
                <a:spcPts val="0"/>
              </a:spcBef>
            </a:pPr>
            <a:r>
              <a:rPr lang="id-ID" sz="3200" b="1" dirty="0" smtClean="0">
                <a:latin typeface="Aharoni" pitchFamily="2" charset="-79"/>
                <a:cs typeface="Aharoni" pitchFamily="2" charset="-79"/>
              </a:rPr>
              <a:t>Preparing some examples and </a:t>
            </a:r>
          </a:p>
          <a:p>
            <a:r>
              <a:rPr lang="id-ID" sz="3200" b="1" dirty="0" smtClean="0">
                <a:latin typeface="Aharoni" pitchFamily="2" charset="-79"/>
                <a:cs typeface="Aharoni" pitchFamily="2" charset="-79"/>
              </a:rPr>
              <a:t>Excercise are used to have the students supply sentence elements. </a:t>
            </a:r>
            <a:endParaRPr lang="id-ID" sz="3200" b="1" dirty="0"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 spd="med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857232"/>
            <a:ext cx="7467600" cy="1500198"/>
          </a:xfrm>
        </p:spPr>
        <p:txBody>
          <a:bodyPr>
            <a:normAutofit fontScale="90000"/>
          </a:bodyPr>
          <a:lstStyle/>
          <a:p>
            <a:pPr algn="ctr"/>
            <a:r>
              <a:rPr lang="id-ID" sz="4000" b="1" dirty="0" smtClean="0">
                <a:latin typeface="Aharoni" pitchFamily="2" charset="-79"/>
                <a:cs typeface="Aharoni" pitchFamily="2" charset="-79"/>
              </a:rPr>
              <a:t>There are some rules for students to create (generate) utterences</a:t>
            </a:r>
            <a:r>
              <a:rPr lang="id-ID" dirty="0" smtClean="0"/>
              <a:t/>
            </a:r>
            <a:br>
              <a:rPr lang="id-ID" dirty="0" smtClean="0"/>
            </a:b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42910" y="2643182"/>
            <a:ext cx="7215238" cy="27146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d-ID" sz="3600" b="1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>One of the phrase structural rules in Transformational Grammar is the following example:</a:t>
            </a:r>
          </a:p>
          <a:p>
            <a:pPr marL="0" indent="0">
              <a:buFont typeface="Wingdings" pitchFamily="2" charset="2"/>
              <a:buChar char="Ø"/>
            </a:pPr>
            <a:endParaRPr lang="id-ID" sz="3600" dirty="0" smtClean="0"/>
          </a:p>
          <a:p>
            <a:pPr marL="0" indent="0">
              <a:buFont typeface="Wingdings" pitchFamily="2" charset="2"/>
              <a:buChar char="Ø"/>
            </a:pPr>
            <a:endParaRPr lang="id-ID" sz="3600" dirty="0" smtClean="0"/>
          </a:p>
          <a:p>
            <a:endParaRPr lang="id-ID" sz="3600" dirty="0"/>
          </a:p>
        </p:txBody>
      </p:sp>
    </p:spTree>
  </p:cSld>
  <p:clrMapOvr>
    <a:masterClrMapping/>
  </p:clrMapOvr>
  <p:transition spd="med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642918"/>
            <a:ext cx="7467600" cy="51435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sz="2800" b="1" dirty="0" smtClean="0"/>
              <a:t>Stage one</a:t>
            </a:r>
          </a:p>
          <a:p>
            <a:pPr>
              <a:buNone/>
            </a:pPr>
            <a:r>
              <a:rPr lang="id-ID" sz="2800" b="1" dirty="0" smtClean="0"/>
              <a:t>The boy writes</a:t>
            </a:r>
          </a:p>
          <a:p>
            <a:pPr algn="ctr">
              <a:buNone/>
            </a:pPr>
            <a:endParaRPr lang="id-ID" dirty="0" smtClean="0"/>
          </a:p>
          <a:p>
            <a:pPr algn="ctr">
              <a:buNone/>
            </a:pPr>
            <a:r>
              <a:rPr lang="id-ID" dirty="0" smtClean="0"/>
              <a:t>Sentence</a:t>
            </a:r>
          </a:p>
          <a:p>
            <a:endParaRPr lang="id-ID" dirty="0" smtClean="0"/>
          </a:p>
          <a:p>
            <a:pPr>
              <a:buNone/>
            </a:pPr>
            <a:r>
              <a:rPr lang="id-ID" dirty="0" smtClean="0"/>
              <a:t>			          NP              VP</a:t>
            </a:r>
          </a:p>
          <a:p>
            <a:pPr>
              <a:buNone/>
            </a:pPr>
            <a:r>
              <a:rPr lang="id-ID" dirty="0" smtClean="0"/>
              <a:t>  </a:t>
            </a:r>
          </a:p>
          <a:p>
            <a:pPr>
              <a:buNone/>
            </a:pPr>
            <a:r>
              <a:rPr lang="id-ID" dirty="0" smtClean="0"/>
              <a:t>		            Det	         N        V</a:t>
            </a:r>
          </a:p>
          <a:p>
            <a:pPr>
              <a:buNone/>
            </a:pPr>
            <a:r>
              <a:rPr lang="id-ID" dirty="0" smtClean="0"/>
              <a:t> </a:t>
            </a:r>
          </a:p>
          <a:p>
            <a:pPr>
              <a:buNone/>
            </a:pPr>
            <a:r>
              <a:rPr lang="id-ID" dirty="0" smtClean="0"/>
              <a:t>		           The	        boy    writes</a:t>
            </a:r>
          </a:p>
          <a:p>
            <a:endParaRPr lang="id-ID" dirty="0"/>
          </a:p>
        </p:txBody>
      </p:sp>
      <p:cxnSp>
        <p:nvCxnSpPr>
          <p:cNvPr id="8" name="Straight Connector 7"/>
          <p:cNvCxnSpPr/>
          <p:nvPr/>
        </p:nvCxnSpPr>
        <p:spPr>
          <a:xfrm rot="10800000" flipV="1">
            <a:off x="3714744" y="2357430"/>
            <a:ext cx="714380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29124" y="2357430"/>
            <a:ext cx="85725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 flipV="1">
            <a:off x="2928926" y="3357562"/>
            <a:ext cx="642942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57620" y="3357562"/>
            <a:ext cx="50006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5001422" y="3571876"/>
            <a:ext cx="57071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5400000">
            <a:off x="2678893" y="4464851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4179885" y="4392619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5108579" y="4392619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7224" y="642918"/>
            <a:ext cx="7467600" cy="48737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b="1" dirty="0" smtClean="0"/>
              <a:t>Stage two</a:t>
            </a:r>
          </a:p>
          <a:p>
            <a:pPr>
              <a:buNone/>
            </a:pPr>
            <a:r>
              <a:rPr lang="id-ID" b="1" dirty="0" smtClean="0"/>
              <a:t>The clever boy writes</a:t>
            </a:r>
          </a:p>
          <a:p>
            <a:pPr algn="ctr">
              <a:buNone/>
            </a:pPr>
            <a:r>
              <a:rPr lang="id-ID" dirty="0" smtClean="0"/>
              <a:t>Sentence</a:t>
            </a:r>
          </a:p>
          <a:p>
            <a:endParaRPr lang="id-ID" dirty="0" smtClean="0"/>
          </a:p>
          <a:p>
            <a:pPr>
              <a:buNone/>
            </a:pPr>
            <a:r>
              <a:rPr lang="id-ID" dirty="0" smtClean="0"/>
              <a:t>			         NP                 VP</a:t>
            </a:r>
          </a:p>
          <a:p>
            <a:pPr>
              <a:buNone/>
            </a:pPr>
            <a:r>
              <a:rPr lang="id-ID" dirty="0" smtClean="0"/>
              <a:t> </a:t>
            </a:r>
          </a:p>
          <a:p>
            <a:pPr>
              <a:buNone/>
            </a:pPr>
            <a:r>
              <a:rPr lang="id-ID" dirty="0" smtClean="0"/>
              <a:t>		     Det       adj         N        V</a:t>
            </a:r>
          </a:p>
          <a:p>
            <a:pPr>
              <a:buNone/>
            </a:pPr>
            <a:r>
              <a:rPr lang="id-ID" dirty="0" smtClean="0"/>
              <a:t>                </a:t>
            </a:r>
          </a:p>
          <a:p>
            <a:pPr>
              <a:buNone/>
            </a:pPr>
            <a:r>
              <a:rPr lang="id-ID" dirty="0" smtClean="0"/>
              <a:t>               The     clever     boy   writes</a:t>
            </a:r>
          </a:p>
          <a:p>
            <a:pPr>
              <a:buNone/>
            </a:pPr>
            <a:endParaRPr lang="id-ID" dirty="0"/>
          </a:p>
        </p:txBody>
      </p:sp>
      <p:cxnSp>
        <p:nvCxnSpPr>
          <p:cNvPr id="5" name="Straight Connector 4"/>
          <p:cNvCxnSpPr/>
          <p:nvPr/>
        </p:nvCxnSpPr>
        <p:spPr>
          <a:xfrm rot="10800000" flipV="1">
            <a:off x="3714744" y="1928802"/>
            <a:ext cx="714380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429124" y="1928802"/>
            <a:ext cx="1214446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 flipV="1">
            <a:off x="2571736" y="2786058"/>
            <a:ext cx="1071570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643306" y="2786058"/>
            <a:ext cx="1000132" cy="5000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3394067" y="3106735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>
            <a:off x="5322099" y="3107529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5400000">
            <a:off x="3322629" y="3963991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2251059" y="3892553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4465637" y="3963991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5322893" y="3892553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heel spokes="8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57224" y="714356"/>
            <a:ext cx="7467600" cy="514353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id-ID" b="1" dirty="0" smtClean="0"/>
              <a:t>Stage three</a:t>
            </a:r>
          </a:p>
          <a:p>
            <a:pPr>
              <a:buNone/>
            </a:pPr>
            <a:r>
              <a:rPr lang="id-ID" b="1" dirty="0" smtClean="0"/>
              <a:t>A beautiful girl sings a beautiful song</a:t>
            </a:r>
          </a:p>
          <a:p>
            <a:pPr algn="ctr">
              <a:buNone/>
            </a:pPr>
            <a:r>
              <a:rPr lang="id-ID" dirty="0" smtClean="0"/>
              <a:t>Sentence</a:t>
            </a:r>
          </a:p>
          <a:p>
            <a:pPr algn="ctr">
              <a:buNone/>
            </a:pPr>
            <a:endParaRPr lang="id-ID" dirty="0" smtClean="0"/>
          </a:p>
          <a:p>
            <a:pPr>
              <a:buNone/>
            </a:pPr>
            <a:r>
              <a:rPr lang="id-ID" dirty="0" smtClean="0"/>
              <a:t> 			    NP		            VP</a:t>
            </a:r>
          </a:p>
          <a:p>
            <a:pPr>
              <a:buNone/>
            </a:pPr>
            <a:r>
              <a:rPr lang="id-ID" dirty="0" smtClean="0"/>
              <a:t> </a:t>
            </a:r>
          </a:p>
          <a:p>
            <a:pPr>
              <a:buNone/>
            </a:pPr>
            <a:r>
              <a:rPr lang="id-ID" dirty="0" smtClean="0"/>
              <a:t>              Det     Adj      N      V              NP</a:t>
            </a:r>
            <a:br>
              <a:rPr lang="id-ID" dirty="0" smtClean="0"/>
            </a:br>
            <a:r>
              <a:rPr lang="id-ID" dirty="0" smtClean="0"/>
              <a:t>		</a:t>
            </a:r>
          </a:p>
          <a:p>
            <a:pPr>
              <a:buNone/>
            </a:pPr>
            <a:r>
              <a:rPr lang="id-ID" dirty="0" smtClean="0"/>
              <a:t>		        			          Det  Adj     N</a:t>
            </a:r>
          </a:p>
          <a:p>
            <a:pPr>
              <a:buNone/>
            </a:pPr>
            <a:r>
              <a:rPr lang="id-ID" dirty="0" smtClean="0"/>
              <a:t>						</a:t>
            </a:r>
          </a:p>
          <a:p>
            <a:pPr>
              <a:buNone/>
            </a:pPr>
            <a:r>
              <a:rPr lang="id-ID" dirty="0" smtClean="0"/>
              <a:t>						</a:t>
            </a:r>
          </a:p>
          <a:p>
            <a:pPr>
              <a:buNone/>
            </a:pPr>
            <a:r>
              <a:rPr lang="id-ID" dirty="0" smtClean="0"/>
              <a:t>		</a:t>
            </a:r>
            <a:r>
              <a:rPr lang="id-ID" sz="2000" dirty="0" smtClean="0"/>
              <a:t>    a    beautiful    girl   sings     a    beautiful  song</a:t>
            </a:r>
          </a:p>
          <a:p>
            <a:pPr>
              <a:buNone/>
            </a:pPr>
            <a:endParaRPr lang="id-ID" b="1" dirty="0"/>
          </a:p>
        </p:txBody>
      </p:sp>
      <p:cxnSp>
        <p:nvCxnSpPr>
          <p:cNvPr id="5" name="Straight Connector 4"/>
          <p:cNvCxnSpPr/>
          <p:nvPr/>
        </p:nvCxnSpPr>
        <p:spPr>
          <a:xfrm rot="10800000" flipV="1">
            <a:off x="3286116" y="2000240"/>
            <a:ext cx="1071570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357686" y="2000240"/>
            <a:ext cx="1285884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 flipV="1">
            <a:off x="2285984" y="2786058"/>
            <a:ext cx="928694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3071802" y="2928934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214678" y="2786058"/>
            <a:ext cx="1143008" cy="285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rot="10800000" flipV="1">
            <a:off x="4929190" y="2714620"/>
            <a:ext cx="714380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643570" y="2724669"/>
            <a:ext cx="734198" cy="534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5649990" y="3522662"/>
            <a:ext cx="737895" cy="483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6387885" y="3527949"/>
            <a:ext cx="41556" cy="477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4072728" y="4286256"/>
            <a:ext cx="1570842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1429522" y="4214024"/>
            <a:ext cx="157163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2393935" y="4249743"/>
            <a:ext cx="164307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>
            <a:off x="3358348" y="4285462"/>
            <a:ext cx="157163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5245832" y="4660164"/>
            <a:ext cx="8572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>
            <a:off x="5948346" y="4660164"/>
            <a:ext cx="8572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470524" y="3522662"/>
            <a:ext cx="708805" cy="483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6737881" y="4683674"/>
            <a:ext cx="8572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heel spokes="8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42910" y="428604"/>
            <a:ext cx="8033546" cy="57864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d-ID" sz="2000" b="1" dirty="0" smtClean="0"/>
              <a:t>Stage four</a:t>
            </a:r>
          </a:p>
          <a:p>
            <a:pPr>
              <a:buNone/>
            </a:pPr>
            <a:r>
              <a:rPr lang="id-ID" sz="2000" b="1" dirty="0" smtClean="0"/>
              <a:t>The man writes a long letter in the class</a:t>
            </a:r>
          </a:p>
          <a:p>
            <a:pPr>
              <a:buNone/>
            </a:pPr>
            <a:r>
              <a:rPr lang="id-ID" dirty="0" smtClean="0"/>
              <a:t>			</a:t>
            </a:r>
          </a:p>
          <a:p>
            <a:pPr>
              <a:buNone/>
            </a:pPr>
            <a:r>
              <a:rPr lang="id-ID" dirty="0" smtClean="0"/>
              <a:t>			</a:t>
            </a:r>
            <a:r>
              <a:rPr lang="id-ID" sz="2000" dirty="0" smtClean="0"/>
              <a:t>Sentence</a:t>
            </a:r>
          </a:p>
          <a:p>
            <a:pPr>
              <a:buNone/>
            </a:pPr>
            <a:endParaRPr lang="id-ID" sz="2000" dirty="0" smtClean="0"/>
          </a:p>
          <a:p>
            <a:pPr>
              <a:buNone/>
            </a:pPr>
            <a:r>
              <a:rPr lang="id-ID" dirty="0" smtClean="0"/>
              <a:t>	       </a:t>
            </a:r>
            <a:r>
              <a:rPr lang="id-ID" sz="2000" dirty="0" smtClean="0"/>
              <a:t>NP                            VP</a:t>
            </a:r>
          </a:p>
          <a:p>
            <a:pPr>
              <a:buNone/>
            </a:pPr>
            <a:endParaRPr lang="id-ID" sz="2000" dirty="0" smtClean="0"/>
          </a:p>
          <a:p>
            <a:pPr>
              <a:buNone/>
            </a:pPr>
            <a:r>
              <a:rPr lang="id-ID" sz="2000" dirty="0" smtClean="0"/>
              <a:t>    Det            N         V           NP                                    PP</a:t>
            </a:r>
          </a:p>
          <a:p>
            <a:pPr>
              <a:buNone/>
            </a:pPr>
            <a:r>
              <a:rPr lang="id-ID" sz="2000" dirty="0" smtClean="0"/>
              <a:t>				   </a:t>
            </a:r>
          </a:p>
          <a:p>
            <a:pPr>
              <a:buNone/>
            </a:pPr>
            <a:r>
              <a:rPr lang="id-ID" sz="2000" dirty="0" smtClean="0"/>
              <a:t>				 Det  adj      N                  Prep            NP</a:t>
            </a:r>
          </a:p>
          <a:p>
            <a:pPr>
              <a:buNone/>
            </a:pPr>
            <a:r>
              <a:rPr lang="id-ID" sz="2000" dirty="0" smtClean="0"/>
              <a:t>   </a:t>
            </a:r>
            <a:endParaRPr lang="id-ID" sz="2000" dirty="0"/>
          </a:p>
          <a:p>
            <a:pPr>
              <a:buNone/>
            </a:pPr>
            <a:r>
              <a:rPr lang="id-ID" sz="2000" dirty="0" smtClean="0"/>
              <a:t>	 						                 Det      N</a:t>
            </a:r>
          </a:p>
          <a:p>
            <a:pPr>
              <a:buNone/>
            </a:pPr>
            <a:endParaRPr lang="id-ID" sz="2000" dirty="0" smtClean="0"/>
          </a:p>
          <a:p>
            <a:pPr>
              <a:buNone/>
            </a:pPr>
            <a:r>
              <a:rPr lang="id-ID" sz="2000" dirty="0" smtClean="0"/>
              <a:t>     The	      man   writes a    long   letter	    in	     the  class</a:t>
            </a:r>
            <a:endParaRPr lang="id-ID" sz="2000" dirty="0"/>
          </a:p>
        </p:txBody>
      </p:sp>
      <p:cxnSp>
        <p:nvCxnSpPr>
          <p:cNvPr id="5" name="Straight Connector 4"/>
          <p:cNvCxnSpPr/>
          <p:nvPr/>
        </p:nvCxnSpPr>
        <p:spPr>
          <a:xfrm rot="10800000" flipV="1">
            <a:off x="1785918" y="2071678"/>
            <a:ext cx="1214446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000364" y="2071678"/>
            <a:ext cx="1071570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10800000" flipV="1">
            <a:off x="1214414" y="2928934"/>
            <a:ext cx="500066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14480" y="2928934"/>
            <a:ext cx="571504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0800000" flipV="1">
            <a:off x="3214678" y="2928934"/>
            <a:ext cx="857256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114529" y="2928934"/>
            <a:ext cx="95515" cy="392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071934" y="2928934"/>
            <a:ext cx="3143272" cy="4651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214414" y="3643314"/>
            <a:ext cx="794" cy="1873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3786380" y="3643314"/>
            <a:ext cx="428034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255421" y="3643314"/>
            <a:ext cx="674563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10800000" flipV="1">
            <a:off x="6533118" y="3643314"/>
            <a:ext cx="57150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143371" y="3643314"/>
            <a:ext cx="731442" cy="357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3643305" y="4429926"/>
            <a:ext cx="795" cy="1087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4237560" y="3643314"/>
            <a:ext cx="11772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7509092" y="4412868"/>
            <a:ext cx="288196" cy="444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7830622" y="4428338"/>
            <a:ext cx="485794" cy="42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2357949" y="3714752"/>
            <a:ext cx="267" cy="1802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H="1">
            <a:off x="3192574" y="3643314"/>
            <a:ext cx="22898" cy="1873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237560" y="4436549"/>
            <a:ext cx="17861" cy="1080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946633" y="4412719"/>
            <a:ext cx="40072" cy="1121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8102896" y="5334949"/>
            <a:ext cx="42862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5400000">
            <a:off x="7414773" y="5320916"/>
            <a:ext cx="42862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584894" y="4409967"/>
            <a:ext cx="0" cy="1107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heel spokes="8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357166"/>
            <a:ext cx="7467600" cy="1500198"/>
          </a:xfrm>
        </p:spPr>
        <p:txBody>
          <a:bodyPr>
            <a:normAutofit/>
          </a:bodyPr>
          <a:lstStyle/>
          <a:p>
            <a:pPr algn="ctr"/>
            <a:r>
              <a:rPr lang="id-ID" b="1" dirty="0" smtClean="0">
                <a:latin typeface="Aharoni" pitchFamily="2" charset="-79"/>
                <a:cs typeface="Aharoni" pitchFamily="2" charset="-79"/>
              </a:rPr>
              <a:t>Teachers of English may also prepare the following exercises</a:t>
            </a:r>
            <a:br>
              <a:rPr lang="id-ID" b="1" dirty="0" smtClean="0">
                <a:latin typeface="Aharoni" pitchFamily="2" charset="-79"/>
                <a:cs typeface="Aharoni" pitchFamily="2" charset="-79"/>
              </a:rPr>
            </a:br>
            <a:endParaRPr lang="id-ID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28596" y="1643050"/>
            <a:ext cx="7929618" cy="4286280"/>
          </a:xfrm>
        </p:spPr>
        <p:txBody>
          <a:bodyPr>
            <a:normAutofit fontScale="85000" lnSpcReduction="2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Phrase structural rules can be considered kernel. In presenting of a foreign language sentences representing kernels ought to be taught first. Examples:</a:t>
            </a:r>
          </a:p>
          <a:p>
            <a:pPr marL="449263" lvl="0" indent="0"/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The girl laugh (Det N V)</a:t>
            </a:r>
          </a:p>
          <a:p>
            <a:pPr marL="449263" lvl="0" indent="0"/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The children swim in the beach </a:t>
            </a:r>
            <a:r>
              <a:rPr lang="id-ID" sz="2000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(Det N V Prep Det N)</a:t>
            </a:r>
          </a:p>
          <a:p>
            <a:pPr marL="449263" lvl="0" indent="0">
              <a:buNone/>
            </a:pPr>
            <a:endParaRPr lang="id-ID" sz="2000" dirty="0" smtClean="0">
              <a:solidFill>
                <a:schemeClr val="accent1">
                  <a:lumMod val="50000"/>
                </a:schemeClr>
              </a:solidFill>
              <a:latin typeface="Aharoni" pitchFamily="2" charset="-79"/>
              <a:cs typeface="Aharoni" pitchFamily="2" charset="-79"/>
            </a:endParaRPr>
          </a:p>
          <a:p>
            <a:pPr marL="449263" lvl="0" indent="-449263">
              <a:buNone/>
            </a:pPr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2.    Expansion of the verb section by applying auxiliary. Examples:</a:t>
            </a:r>
          </a:p>
          <a:p>
            <a:pPr marL="449263" indent="-273050">
              <a:buNone/>
            </a:pPr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  “The man laughed” is expanded as follows:</a:t>
            </a:r>
          </a:p>
          <a:p>
            <a:pPr marL="449263" lvl="0" indent="-96838"/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man could laugh.</a:t>
            </a:r>
          </a:p>
          <a:p>
            <a:pPr marL="449263" lvl="0" indent="-96838"/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man has laughed.</a:t>
            </a:r>
          </a:p>
          <a:p>
            <a:pPr marL="449263" lvl="0" indent="-96838"/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man is laughing.</a:t>
            </a:r>
          </a:p>
          <a:p>
            <a:pPr marL="449263" lvl="0" indent="-96838"/>
            <a:r>
              <a:rPr lang="id-ID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man could have laughed.</a:t>
            </a:r>
          </a:p>
          <a:p>
            <a:pPr lvl="0">
              <a:buNone/>
            </a:pPr>
            <a:endParaRPr lang="id-ID" dirty="0" smtClean="0"/>
          </a:p>
          <a:p>
            <a:endParaRPr lang="id-ID" dirty="0"/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428604"/>
            <a:ext cx="7467600" cy="5357850"/>
          </a:xfrm>
        </p:spPr>
        <p:txBody>
          <a:bodyPr>
            <a:normAutofit/>
          </a:bodyPr>
          <a:lstStyle/>
          <a:p>
            <a:pPr lvl="0">
              <a:spcBef>
                <a:spcPts val="0"/>
              </a:spcBef>
              <a:buNone/>
            </a:pPr>
            <a:r>
              <a:rPr lang="id-ID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3. Interrogative Transformation. Example:</a:t>
            </a:r>
          </a:p>
          <a:p>
            <a:pPr marL="273050" lvl="0" indent="0">
              <a:spcBef>
                <a:spcPts val="0"/>
              </a:spcBef>
            </a:pPr>
            <a:r>
              <a:rPr lang="id-ID" sz="2000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man is here		 = Is the man here?</a:t>
            </a:r>
          </a:p>
          <a:p>
            <a:pPr marL="273050" lvl="0" indent="0">
              <a:spcBef>
                <a:spcPts val="0"/>
              </a:spcBef>
            </a:pPr>
            <a:r>
              <a:rPr lang="id-ID" sz="2000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man hits the ball	= Does the man hit the  ball?</a:t>
            </a:r>
          </a:p>
          <a:p>
            <a:pPr marL="273050" lvl="0" indent="0">
              <a:spcBef>
                <a:spcPts val="0"/>
              </a:spcBef>
              <a:buNone/>
            </a:pPr>
            <a:endParaRPr lang="id-ID" sz="2000" dirty="0" smtClean="0">
              <a:solidFill>
                <a:schemeClr val="accent2">
                  <a:lumMod val="50000"/>
                </a:schemeClr>
              </a:solidFill>
              <a:latin typeface="Aharoni" pitchFamily="2" charset="-79"/>
              <a:cs typeface="Aharoni" pitchFamily="2" charset="-79"/>
            </a:endParaRPr>
          </a:p>
          <a:p>
            <a:pPr lvl="0">
              <a:spcBef>
                <a:spcPts val="0"/>
              </a:spcBef>
              <a:buNone/>
            </a:pPr>
            <a:r>
              <a:rPr lang="id-ID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4. Expansion of verb section by adding adverb. Example:</a:t>
            </a:r>
          </a:p>
          <a:p>
            <a:pPr marL="273050" indent="0">
              <a:spcBef>
                <a:spcPts val="0"/>
              </a:spcBef>
            </a:pPr>
            <a:r>
              <a:rPr lang="id-ID" sz="2000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man hits the ball  = The man hits the ball accurately</a:t>
            </a:r>
          </a:p>
          <a:p>
            <a:pPr>
              <a:spcBef>
                <a:spcPts val="0"/>
              </a:spcBef>
            </a:pPr>
            <a:endParaRPr lang="id-ID" sz="2000" dirty="0" smtClean="0">
              <a:solidFill>
                <a:schemeClr val="accent2">
                  <a:lumMod val="50000"/>
                </a:schemeClr>
              </a:solidFill>
              <a:latin typeface="Aharoni" pitchFamily="2" charset="-79"/>
              <a:cs typeface="Aharoni" pitchFamily="2" charset="-79"/>
            </a:endParaRPr>
          </a:p>
          <a:p>
            <a:pPr lvl="0">
              <a:spcBef>
                <a:spcPts val="0"/>
              </a:spcBef>
              <a:buNone/>
            </a:pPr>
            <a:r>
              <a:rPr lang="id-ID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5. Negative Transformation. Example:</a:t>
            </a:r>
          </a:p>
          <a:p>
            <a:pPr marL="273050" lvl="0" indent="0">
              <a:spcBef>
                <a:spcPts val="0"/>
              </a:spcBef>
            </a:pPr>
            <a:r>
              <a:rPr lang="id-ID" sz="2000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man can hit the ball	=  The man cannot hit the ball</a:t>
            </a:r>
          </a:p>
          <a:p>
            <a:pPr marL="273050" lvl="0" indent="0">
              <a:spcBef>
                <a:spcPts val="0"/>
              </a:spcBef>
            </a:pPr>
            <a:r>
              <a:rPr lang="id-ID" sz="2000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Ali speaks English		=  Ali does not speak English</a:t>
            </a:r>
          </a:p>
          <a:p>
            <a:pPr marL="273050" lvl="0" indent="0">
              <a:spcBef>
                <a:spcPts val="0"/>
              </a:spcBef>
              <a:buNone/>
            </a:pPr>
            <a:endParaRPr lang="id-ID" sz="2000" dirty="0" smtClean="0">
              <a:solidFill>
                <a:schemeClr val="accent2">
                  <a:lumMod val="50000"/>
                </a:schemeClr>
              </a:solidFill>
              <a:latin typeface="Aharoni" pitchFamily="2" charset="-79"/>
              <a:cs typeface="Aharoni" pitchFamily="2" charset="-79"/>
            </a:endParaRPr>
          </a:p>
          <a:p>
            <a:pPr lvl="0">
              <a:spcBef>
                <a:spcPts val="0"/>
              </a:spcBef>
              <a:buNone/>
            </a:pPr>
            <a:r>
              <a:rPr lang="id-ID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6. Passive Transformation. Example:</a:t>
            </a:r>
          </a:p>
          <a:p>
            <a:pPr marL="273050" indent="0"/>
            <a:r>
              <a:rPr lang="id-ID" sz="2000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The boy buys a bicycle	=  A bicycle is bought</a:t>
            </a:r>
            <a:r>
              <a:rPr lang="id-ID" dirty="0" smtClean="0">
                <a:solidFill>
                  <a:schemeClr val="accent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	</a:t>
            </a:r>
          </a:p>
          <a:p>
            <a:endParaRPr lang="id-ID" dirty="0"/>
          </a:p>
        </p:txBody>
      </p:sp>
    </p:spTree>
  </p:cSld>
  <p:clrMapOvr>
    <a:masterClrMapping/>
  </p:clrMapOvr>
  <p:transition spd="med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85786" y="1000108"/>
            <a:ext cx="7467600" cy="442915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d-ID" sz="3600" dirty="0" smtClean="0">
                <a:solidFill>
                  <a:schemeClr val="accent1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So, in language teaching and learning process, Generative Transformational Grammar is also the most important one for the students to know the rules how they produce sentences grammatically.</a:t>
            </a:r>
            <a:endParaRPr lang="id-ID" sz="3600" dirty="0">
              <a:solidFill>
                <a:schemeClr val="accent1">
                  <a:lumMod val="5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 spd="med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4348" y="2500306"/>
            <a:ext cx="7467600" cy="225742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d-ID" sz="6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ockwell Extra Bold" pitchFamily="18" charset="0"/>
                <a:cs typeface="Aharoni" pitchFamily="2" charset="-79"/>
              </a:rPr>
              <a:t>THANK  YOU</a:t>
            </a:r>
            <a:endParaRPr lang="id-ID" sz="6000" dirty="0">
              <a:solidFill>
                <a:schemeClr val="tx1">
                  <a:lumMod val="95000"/>
                  <a:lumOff val="5000"/>
                </a:schemeClr>
              </a:solidFill>
              <a:latin typeface="Rockwell Extra Bold" pitchFamily="18" charset="0"/>
              <a:cs typeface="Aharoni" pitchFamily="2" charset="-79"/>
            </a:endParaRPr>
          </a:p>
        </p:txBody>
      </p:sp>
    </p:spTree>
  </p:cSld>
  <p:clrMapOvr>
    <a:masterClrMapping/>
  </p:clrMapOvr>
  <p:transition spd="med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754</TotalTime>
  <Words>932</Words>
  <Application>Microsoft Office PowerPoint</Application>
  <PresentationFormat>On-screen Show (4:3)</PresentationFormat>
  <Paragraphs>171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Oriel</vt:lpstr>
      <vt:lpstr>GENERATIVE TRANSFORMATIONAL GRAMMAR</vt:lpstr>
      <vt:lpstr>The POWER of Generative-Transformational Grammar</vt:lpstr>
      <vt:lpstr>Critisizm of Generative-Transformational Grammar </vt:lpstr>
      <vt:lpstr>Slide 4</vt:lpstr>
      <vt:lpstr>Slide 5</vt:lpstr>
      <vt:lpstr>  The Implication of Generative-Transformational Grammar in ELT </vt:lpstr>
      <vt:lpstr>Slide 7</vt:lpstr>
      <vt:lpstr>Slide 8</vt:lpstr>
      <vt:lpstr>Slide 9</vt:lpstr>
      <vt:lpstr>WHAT IS  A SCIENTIFIC GRAMMAR?</vt:lpstr>
      <vt:lpstr>WHAT IS A PEDAGOGICAL GRAMMAR?</vt:lpstr>
      <vt:lpstr>Slide 12</vt:lpstr>
      <vt:lpstr>Slide 13</vt:lpstr>
      <vt:lpstr>Slide 14</vt:lpstr>
      <vt:lpstr>Slide 15</vt:lpstr>
      <vt:lpstr>Slide 16</vt:lpstr>
      <vt:lpstr>The simplest kind of english sentences is the intransitive sentenceS</vt:lpstr>
      <vt:lpstr>other matters must surely be considered </vt:lpstr>
      <vt:lpstr>Slide 19</vt:lpstr>
      <vt:lpstr>WHICH SENTENCE IS EASIER TO LEARN?</vt:lpstr>
      <vt:lpstr>Slide 21</vt:lpstr>
      <vt:lpstr>There are some rules for students to create (generate) utterences </vt:lpstr>
      <vt:lpstr>Slide 23</vt:lpstr>
      <vt:lpstr>Slide 24</vt:lpstr>
      <vt:lpstr>Slide 25</vt:lpstr>
      <vt:lpstr>Slide 26</vt:lpstr>
      <vt:lpstr>Teachers of English may also prepare the following exercises </vt:lpstr>
      <vt:lpstr>Slide 28</vt:lpstr>
      <vt:lpstr>Slide 29</vt:lpstr>
      <vt:lpstr>Slide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Critisizm of Generative-Transformational Grammar</dc:title>
  <dc:creator>Toshiba</dc:creator>
  <cp:lastModifiedBy>Toshiba</cp:lastModifiedBy>
  <cp:revision>79</cp:revision>
  <dcterms:created xsi:type="dcterms:W3CDTF">2013-12-25T23:34:45Z</dcterms:created>
  <dcterms:modified xsi:type="dcterms:W3CDTF">2014-03-28T05:35:35Z</dcterms:modified>
</cp:coreProperties>
</file>